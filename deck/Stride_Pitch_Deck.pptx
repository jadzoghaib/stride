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embeddedFontLst>
    <p:embeddedFont>
      <p:font typeface="Barlow" panose="00000500000000000000" pitchFamily="2" charset="0"/>
      <p:regular r:id="rId30"/>
    </p:embeddedFont>
    <p:embeddedFont>
      <p:font typeface="Barlow Condensed" panose="00000806000000000000" pitchFamily="2" charset="0"/>
      <p:bold r:id="rId3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AFAEAA7-0E11-9B9B-D6FC-D40C057405F9}">
          <p14:sldIdLst>
            <p14:sldId id="256"/>
          </p14:sldIdLst>
        </p14:section>
        <p14:section name="Problem" id="{894FFFA6-D47F-5ACD-3C72-7D97D7E16A05}">
          <p14:sldIdLst>
            <p14:sldId id="257"/>
            <p14:sldId id="258"/>
            <p14:sldId id="259"/>
            <p14:sldId id="260"/>
          </p14:sldIdLst>
        </p14:section>
        <p14:section name="Product" id="{2F2F7561-A02C-27EB-DEF5-B7CBC3D327EC}">
          <p14:sldIdLst>
            <p14:sldId id="261"/>
            <p14:sldId id="262"/>
            <p14:sldId id="263"/>
            <p14:sldId id="264"/>
            <p14:sldId id="265"/>
          </p14:sldIdLst>
        </p14:section>
        <p14:section name="Market" id="{A1734E31-234B-AEA6-8F25-9EE6FAEF1723}">
          <p14:sldIdLst>
            <p14:sldId id="266"/>
            <p14:sldId id="267"/>
            <p14:sldId id="268"/>
          </p14:sldIdLst>
        </p14:section>
        <p14:section name="Model" id="{2938542C-7FAE-62FB-FCA0-864DE7A6550C}">
          <p14:sldIdLst>
            <p14:sldId id="269"/>
            <p14:sldId id="270"/>
            <p14:sldId id="271"/>
          </p14:sldIdLst>
        </p14:section>
        <p14:section name="Money" id="{AC221B98-6402-EED2-9B4D-88E76BA1E3CD}">
          <p14:sldIdLst>
            <p14:sldId id="272"/>
            <p14:sldId id="273"/>
            <p14:sldId id="274"/>
          </p14:sldIdLst>
        </p14:section>
        <p14:section name="Backup" id="{0825EE85-7604-0F84-9CEA-4116B6ECA0CF}">
          <p14:sldIdLst>
            <p14:sldId id="275"/>
            <p14:sldId id="276"/>
            <p14:sldId id="277"/>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109E-4D39-82FF-4F1F6C86FB72}"/>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109E-4D39-82FF-4F1F6C86FB72}"/>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109E-4D39-82FF-4F1F6C86FB7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E479-4C9F-BC12-FBFE110C85FD}"/>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E479-4C9F-BC12-FBFE110C85F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4C8D-4F1F-82A7-5EFC757CAB1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062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One sentence for the whole plan: athletes are creators with a second payer. OnlyFans proved direct fan monetisation beats ad share. Nobody has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why I am the person telling you this.
I am capped by the Lebanese national rugby team. The athletes I interviewed are people I play with, so I am inside the segment this plan describes, not studying it from outside.
Four years of consulting gave me the modelling. The MSc and the build gave me the product. Everything in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asked five athletes in my own sports what they earn from their audience.
The answer was not 'a little'. It was zero. Nothing.
And read the quote carefully, because it is the finding that matters most: they do not build an audience, because there is no return on building one. That is not a complaint about pricing.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A niche athlete costs 16 euros to acquire against 40 for a popular one, and by year seven 48 per cent of them monetise against 30 per cent.
Cheaper, and more of them earn. And nobody is competing for them, because there is no agent there to compete with. What we learn in niche sports generalises upward into bigger ones.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Athletes are creators with a second payer</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Paid fan subscriptions on one side, measured sponsorship on the other, and each one produces what the other cannot buy. Built for the athletes no agent has ever called.</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 FROM ME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I am not researching this market from outside it</a:t>
            </a:r>
            <a:endParaRPr lang="en-US" sz="3600" dirty="0"/>
          </a:p>
        </p:txBody>
      </p:sp>
      <p:sp>
        <p:nvSpPr>
          <p:cNvPr id="4" name="Shape 2"/>
          <p:cNvSpPr/>
          <p:nvPr/>
        </p:nvSpPr>
        <p:spPr>
          <a:xfrm>
            <a:off x="713232" y="2029968"/>
            <a:ext cx="3405530" cy="2395728"/>
          </a:xfrm>
          <a:prstGeom prst="roundRect">
            <a:avLst>
              <a:gd name="adj" fmla="val 1527"/>
            </a:avLst>
          </a:prstGeom>
          <a:solidFill>
            <a:srgbClr val="171A20"/>
          </a:solidFill>
          <a:ln w="9525">
            <a:solidFill>
              <a:srgbClr val="262C35"/>
            </a:solidFill>
            <a:prstDash val="solid"/>
          </a:ln>
        </p:spPr>
      </p:sp>
      <p:sp>
        <p:nvSpPr>
          <p:cNvPr id="5" name="Text 3"/>
          <p:cNvSpPr txBox="1"/>
          <p:nvPr/>
        </p:nvSpPr>
        <p:spPr>
          <a:xfrm>
            <a:off x="98755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ATHLETE</a:t>
            </a:r>
            <a:endParaRPr lang="en-US" sz="1900" dirty="0"/>
          </a:p>
        </p:txBody>
      </p:sp>
      <p:sp>
        <p:nvSpPr>
          <p:cNvPr id="6" name="Text 4"/>
          <p:cNvSpPr txBox="1"/>
          <p:nvPr/>
        </p:nvSpPr>
        <p:spPr>
          <a:xfrm>
            <a:off x="98755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Capped by the Lebanese national rugby team, with international tournament experience. The athletes in my research are people I play with, which is why the conversations were candid rather than performative.</a:t>
            </a:r>
            <a:endParaRPr lang="en-US" sz="1350" dirty="0"/>
          </a:p>
        </p:txBody>
      </p:sp>
      <p:sp>
        <p:nvSpPr>
          <p:cNvPr id="7" name="Shape 5"/>
          <p:cNvSpPr/>
          <p:nvPr/>
        </p:nvSpPr>
        <p:spPr>
          <a:xfrm>
            <a:off x="4393082" y="2029968"/>
            <a:ext cx="3405530" cy="2395728"/>
          </a:xfrm>
          <a:prstGeom prst="roundRect">
            <a:avLst>
              <a:gd name="adj" fmla="val 1527"/>
            </a:avLst>
          </a:prstGeom>
          <a:solidFill>
            <a:srgbClr val="171A20"/>
          </a:solidFill>
          <a:ln w="9525">
            <a:solidFill>
              <a:srgbClr val="262C35"/>
            </a:solidFill>
            <a:prstDash val="solid"/>
          </a:ln>
        </p:spPr>
      </p:sp>
      <p:sp>
        <p:nvSpPr>
          <p:cNvPr id="8" name="Text 6"/>
          <p:cNvSpPr txBox="1"/>
          <p:nvPr/>
        </p:nvSpPr>
        <p:spPr>
          <a:xfrm>
            <a:off x="466740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OPERATOR</a:t>
            </a:r>
            <a:endParaRPr lang="en-US" sz="1900" dirty="0"/>
          </a:p>
        </p:txBody>
      </p:sp>
      <p:sp>
        <p:nvSpPr>
          <p:cNvPr id="9" name="Text 7"/>
          <p:cNvSpPr txBox="1"/>
          <p:nvPr/>
        </p:nvSpPr>
        <p:spPr>
          <a:xfrm>
            <a:off x="466740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Four years in management consulting across MENA. Feasibility studies at $5 to 15M, DCF modelling, and an OpEx reorganisation that delivered SAR 650M of capital optimisation.</a:t>
            </a:r>
            <a:endParaRPr lang="en-US" sz="1350" dirty="0"/>
          </a:p>
        </p:txBody>
      </p:sp>
      <p:sp>
        <p:nvSpPr>
          <p:cNvPr id="10" name="Shape 8"/>
          <p:cNvSpPr/>
          <p:nvPr/>
        </p:nvSpPr>
        <p:spPr>
          <a:xfrm>
            <a:off x="8072933" y="2029968"/>
            <a:ext cx="3405530" cy="2395728"/>
          </a:xfrm>
          <a:prstGeom prst="roundRect">
            <a:avLst>
              <a:gd name="adj" fmla="val 1527"/>
            </a:avLst>
          </a:prstGeom>
          <a:solidFill>
            <a:srgbClr val="171A20"/>
          </a:solidFill>
          <a:ln w="9525">
            <a:solidFill>
              <a:srgbClr val="262C35"/>
            </a:solidFill>
            <a:prstDash val="solid"/>
          </a:ln>
        </p:spPr>
      </p:sp>
      <p:sp>
        <p:nvSpPr>
          <p:cNvPr id="11" name="Text 9"/>
          <p:cNvSpPr txBox="1"/>
          <p:nvPr/>
        </p:nvSpPr>
        <p:spPr>
          <a:xfrm>
            <a:off x="8347253"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BUILDER</a:t>
            </a:r>
            <a:endParaRPr lang="en-US" sz="1900" dirty="0"/>
          </a:p>
        </p:txBody>
      </p:sp>
      <p:sp>
        <p:nvSpPr>
          <p:cNvPr id="12" name="Text 10"/>
          <p:cNvSpPr txBox="1"/>
          <p:nvPr/>
        </p:nvSpPr>
        <p:spPr>
          <a:xfrm>
            <a:off x="8347253"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MSc Business Analytics at ESADE. The deployed product, the analytics engine and the financial model behind this plan are all my own work.</a:t>
            </a:r>
            <a:endParaRPr lang="en-US" sz="1350" dirty="0"/>
          </a:p>
        </p:txBody>
      </p:sp>
      <p:sp>
        <p:nvSpPr>
          <p:cNvPr id="13" name="Text 11"/>
          <p:cNvSpPr txBox="1"/>
          <p:nvPr/>
        </p:nvSpPr>
        <p:spPr>
          <a:xfrm>
            <a:off x="713232" y="4681728"/>
            <a:ext cx="10765231" cy="36576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plan can make claims about the technology that are checkable rather than aspirational, because I wrote it.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143000"/>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4" name="Text 2"/>
          <p:cNvSpPr txBox="1"/>
          <p:nvPr/>
        </p:nvSpPr>
        <p:spPr>
          <a:xfrm>
            <a:off x="713232" y="3310128"/>
            <a:ext cx="493776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CURRENT INCOME FROM THEIR AUDIENCE</a:t>
            </a:r>
            <a:endParaRPr lang="en-US" sz="1300" dirty="0"/>
          </a:p>
        </p:txBody>
      </p:sp>
      <p:sp>
        <p:nvSpPr>
          <p:cNvPr id="5" name="Text 3"/>
          <p:cNvSpPr txBox="1"/>
          <p:nvPr/>
        </p:nvSpPr>
        <p:spPr>
          <a:xfrm>
            <a:off x="713232" y="3703320"/>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7" name="Text 5"/>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8" name="Text 6"/>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9" name="Shape 7"/>
          <p:cNvSpPr/>
          <p:nvPr/>
        </p:nvSpPr>
        <p:spPr>
          <a:xfrm>
            <a:off x="6675120" y="3566160"/>
            <a:ext cx="1005840" cy="18288"/>
          </a:xfrm>
          <a:prstGeom prst="rect">
            <a:avLst/>
          </a:prstGeom>
          <a:solidFill>
            <a:srgbClr val="FFB020"/>
          </a:solidFill>
          <a:ln w="12700">
            <a:solidFill>
              <a:srgbClr val="333333"/>
            </a:solidFill>
            <a:prstDash val="solid"/>
          </a:ln>
        </p:spPr>
      </p:sp>
      <p:sp>
        <p:nvSpPr>
          <p:cNvPr id="10" name="Text 8"/>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1" name="Shape 9"/>
          <p:cNvSpPr/>
          <p:nvPr/>
        </p:nvSpPr>
        <p:spPr>
          <a:xfrm>
            <a:off x="713232" y="5138928"/>
            <a:ext cx="3405530" cy="12802"/>
          </a:xfrm>
          <a:prstGeom prst="rect">
            <a:avLst/>
          </a:prstGeom>
          <a:solidFill>
            <a:srgbClr val="262C35"/>
          </a:solidFill>
          <a:ln w="12700">
            <a:solidFill>
              <a:srgbClr val="333333"/>
            </a:solidFill>
            <a:prstDash val="solid"/>
          </a:ln>
        </p:spPr>
      </p:sp>
      <p:sp>
        <p:nvSpPr>
          <p:cNvPr id="12" name="Text 10"/>
          <p:cNvSpPr txBox="1"/>
          <p:nvPr/>
        </p:nvSpPr>
        <p:spPr>
          <a:xfrm>
            <a:off x="71323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3" name="Text 11"/>
          <p:cNvSpPr txBox="1"/>
          <p:nvPr/>
        </p:nvSpPr>
        <p:spPr>
          <a:xfrm>
            <a:off x="71323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4" name="Shape 12"/>
          <p:cNvSpPr/>
          <p:nvPr/>
        </p:nvSpPr>
        <p:spPr>
          <a:xfrm>
            <a:off x="4393082" y="5138928"/>
            <a:ext cx="3405530" cy="12802"/>
          </a:xfrm>
          <a:prstGeom prst="rect">
            <a:avLst/>
          </a:prstGeom>
          <a:solidFill>
            <a:srgbClr val="262C35"/>
          </a:solidFill>
          <a:ln w="12700">
            <a:solidFill>
              <a:srgbClr val="333333"/>
            </a:solidFill>
            <a:prstDash val="solid"/>
          </a:ln>
        </p:spPr>
      </p:sp>
      <p:sp>
        <p:nvSpPr>
          <p:cNvPr id="15" name="Text 13"/>
          <p:cNvSpPr txBox="1"/>
          <p:nvPr/>
        </p:nvSpPr>
        <p:spPr>
          <a:xfrm>
            <a:off x="439308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SPONSORSHIP ARRIVES DESPITE THE SPORT</a:t>
            </a:r>
            <a:endParaRPr lang="en-US" sz="1200" dirty="0"/>
          </a:p>
        </p:txBody>
      </p:sp>
      <p:sp>
        <p:nvSpPr>
          <p:cNvPr id="16" name="Text 14"/>
          <p:cNvSpPr txBox="1"/>
          <p:nvPr/>
        </p:nvSpPr>
        <p:spPr>
          <a:xfrm>
            <a:off x="439308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one athlete who has a sponsor did not get it as a rugby league player</a:t>
            </a:r>
            <a:endParaRPr lang="en-US" sz="1150" dirty="0"/>
          </a:p>
        </p:txBody>
      </p:sp>
      <p:sp>
        <p:nvSpPr>
          <p:cNvPr id="17" name="Shape 15"/>
          <p:cNvSpPr/>
          <p:nvPr/>
        </p:nvSpPr>
        <p:spPr>
          <a:xfrm>
            <a:off x="8072933" y="5138928"/>
            <a:ext cx="3405530" cy="12802"/>
          </a:xfrm>
          <a:prstGeom prst="rect">
            <a:avLst/>
          </a:prstGeom>
          <a:solidFill>
            <a:srgbClr val="262C35"/>
          </a:solidFill>
          <a:ln w="12700">
            <a:solidFill>
              <a:srgbClr val="333333"/>
            </a:solidFill>
            <a:prstDash val="solid"/>
          </a:ln>
        </p:spPr>
      </p:sp>
      <p:sp>
        <p:nvSpPr>
          <p:cNvPr id="18" name="Text 16"/>
          <p:cNvSpPr txBox="1"/>
          <p:nvPr/>
        </p:nvSpPr>
        <p:spPr>
          <a:xfrm>
            <a:off x="8072933"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8072933"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73152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Nobody is fighting us for a trail runner with 25,000 followers and an inbox of unanswered brand DMs. What we learn there generalises upward. Football does not generalise downward.</a:t>
            </a:r>
            <a:endParaRPr lang="en-US" sz="1450" dirty="0"/>
          </a:p>
        </p:txBody>
      </p:sp>
      <p:sp>
        <p:nvSpPr>
          <p:cNvPr id="17"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Shape 34"/>
          <p:cNvSpPr/>
          <p:nvPr/>
        </p:nvSpPr>
        <p:spPr>
          <a:xfrm>
            <a:off x="713232" y="4462272"/>
            <a:ext cx="10765231" cy="1024128"/>
          </a:xfrm>
          <a:prstGeom prst="roundRect">
            <a:avLst>
              <a:gd name="adj" fmla="val 3571"/>
            </a:avLst>
          </a:prstGeom>
          <a:solidFill>
            <a:srgbClr val="1F242C"/>
          </a:solidFill>
          <a:ln w="9525">
            <a:solidFill>
              <a:srgbClr val="262C35"/>
            </a:solidFill>
            <a:prstDash val="solid"/>
          </a:ln>
        </p:spPr>
      </p:sp>
      <p:sp>
        <p:nvSpPr>
          <p:cNvPr id="37" name="Text 35"/>
          <p:cNvSpPr txBox="1"/>
          <p:nvPr/>
        </p:nvSpPr>
        <p:spPr>
          <a:xfrm>
            <a:off x="987552" y="464515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8" name="Text 36"/>
          <p:cNvSpPr txBox="1"/>
          <p:nvPr/>
        </p:nvSpPr>
        <p:spPr>
          <a:xfrm>
            <a:off x="3639312" y="460857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39" name="Text 37"/>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7863840" cy="36576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computed on eight weighted components,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receives a ranked shortlist in which every score decomposes: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6047</Words>
  <Application>Microsoft Office PowerPoint</Application>
  <PresentationFormat>Widescreen</PresentationFormat>
  <Paragraphs>492</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Barlow</vt:lpstr>
      <vt:lpstr>Arial</vt:lpstr>
      <vt:lpstr>Barlow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 athlete monetisation built on analytics</dc:title>
  <dc:subject>ESADE MSc Business Plan, final presentation</dc:subject>
  <dc:creator>Jad Zoghaib</dc:creator>
  <cp:lastModifiedBy>Zoghaib, Jad</cp:lastModifiedBy>
  <cp:revision>2</cp:revision>
  <dcterms:created xsi:type="dcterms:W3CDTF">2026-10-09T21:09:50Z</dcterms:created>
  <dcterms:modified xsi:type="dcterms:W3CDTF">2026-10-09T21:10:06Z</dcterms:modified>
</cp:coreProperties>
</file>