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charts/chart3.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embeddedFontLst>
    <p:embeddedFont>
      <p:font typeface="Barlow" panose="00000500000000000000" pitchFamily="2" charset="0"/>
      <p:regular r:id="rId31"/>
    </p:embeddedFont>
    <p:embeddedFont>
      <p:font typeface="Barlow Condensed" panose="00000806000000000000" pitchFamily="2" charset="0"/>
      <p:bold r:id="rId3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F983554B-14D7-D713-F8DE-01828A4CAD28}">
          <p14:sldIdLst>
            <p14:sldId id="256"/>
          </p14:sldIdLst>
        </p14:section>
        <p14:section name="Problem" id="{7E6A7A9A-58E7-23E2-2BE5-88D1FD59D967}">
          <p14:sldIdLst>
            <p14:sldId id="257"/>
            <p14:sldId id="258"/>
            <p14:sldId id="259"/>
            <p14:sldId id="260"/>
          </p14:sldIdLst>
        </p14:section>
        <p14:section name="Product" id="{6811445A-18E1-01DC-A763-C61A0D822916}">
          <p14:sldIdLst>
            <p14:sldId id="261"/>
            <p14:sldId id="262"/>
            <p14:sldId id="263"/>
            <p14:sldId id="264"/>
            <p14:sldId id="265"/>
          </p14:sldIdLst>
        </p14:section>
        <p14:section name="Market" id="{43CF304B-6CBE-8DC4-9F83-8553E006F26E}">
          <p14:sldIdLst>
            <p14:sldId id="266"/>
            <p14:sldId id="267"/>
            <p14:sldId id="268"/>
          </p14:sldIdLst>
        </p14:section>
        <p14:section name="Model" id="{FE3BAB5A-77CE-4FDE-5016-8E0B853E5967}">
          <p14:sldIdLst>
            <p14:sldId id="269"/>
            <p14:sldId id="270"/>
            <p14:sldId id="271"/>
          </p14:sldIdLst>
        </p14:section>
        <p14:section name="Money" id="{3F4C3298-2F95-D7E3-79E8-C70567DAD001}">
          <p14:sldIdLst>
            <p14:sldId id="272"/>
            <p14:sldId id="273"/>
            <p14:sldId id="274"/>
          </p14:sldIdLst>
        </p14:section>
        <p14:section name="Backup" id="{C93D6AE7-376A-5425-14D9-4019581D5FFD}">
          <p14:sldIdLst>
            <p14:sldId id="275"/>
            <p14:sldId id="276"/>
            <p14:sldId id="277"/>
            <p14:sldId id="278"/>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Fan subscriptions</c:v>
                </c:pt>
              </c:strCache>
            </c:strRef>
          </c:tx>
          <c:spPr>
            <a:solidFill>
              <a:srgbClr val="FFB020"/>
            </a:solidFill>
            <a:effectLst/>
          </c:spPr>
          <c:invertIfNegative val="0"/>
          <c:cat>
            <c:strRef>
              <c:f>Sheet1!$A$2:$A$8</c:f>
              <c:strCache>
                <c:ptCount val="7"/>
                <c:pt idx="0">
                  <c:v>Y1</c:v>
                </c:pt>
                <c:pt idx="1">
                  <c:v>Y2</c:v>
                </c:pt>
                <c:pt idx="2">
                  <c:v>Y3</c:v>
                </c:pt>
                <c:pt idx="3">
                  <c:v>Y4</c:v>
                </c:pt>
                <c:pt idx="4">
                  <c:v>Y5</c:v>
                </c:pt>
                <c:pt idx="5">
                  <c:v>Y6</c:v>
                </c:pt>
                <c:pt idx="6">
                  <c:v>Y7</c:v>
                </c:pt>
              </c:strCache>
            </c:strRef>
          </c:cat>
          <c:val>
            <c:numRef>
              <c:f>Sheet1!$B$2:$B$8</c:f>
              <c:numCache>
                <c:formatCode>General</c:formatCode>
                <c:ptCount val="7"/>
                <c:pt idx="0">
                  <c:v>0</c:v>
                </c:pt>
                <c:pt idx="1">
                  <c:v>5.0999999999999997E-2</c:v>
                </c:pt>
                <c:pt idx="2">
                  <c:v>0.184</c:v>
                </c:pt>
                <c:pt idx="3">
                  <c:v>0.39600000000000002</c:v>
                </c:pt>
                <c:pt idx="4">
                  <c:v>0.68400000000000005</c:v>
                </c:pt>
                <c:pt idx="5">
                  <c:v>1.034</c:v>
                </c:pt>
                <c:pt idx="6">
                  <c:v>1.4359999999999999</c:v>
                </c:pt>
              </c:numCache>
            </c:numRef>
          </c:val>
          <c:extLst>
            <c:ext xmlns:c16="http://schemas.microsoft.com/office/drawing/2014/chart" uri="{C3380CC4-5D6E-409C-BE32-E72D297353CC}">
              <c16:uniqueId val="{00000000-7372-4295-A273-9D0DD392BB3B}"/>
            </c:ext>
          </c:extLst>
        </c:ser>
        <c:ser>
          <c:idx val="1"/>
          <c:order val="1"/>
          <c:tx>
            <c:strRef>
              <c:f>Sheet1!$C$1</c:f>
              <c:strCache>
                <c:ptCount val="1"/>
                <c:pt idx="0">
                  <c:v>Sponsorship commission</c:v>
                </c:pt>
              </c:strCache>
            </c:strRef>
          </c:tx>
          <c:spPr>
            <a:solidFill>
              <a:srgbClr val="3B86E0"/>
            </a:solidFill>
            <a:effectLst/>
          </c:spPr>
          <c:invertIfNegative val="0"/>
          <c:cat>
            <c:strRef>
              <c:f>Sheet1!$A$2:$A$8</c:f>
              <c:strCache>
                <c:ptCount val="7"/>
                <c:pt idx="0">
                  <c:v>Y1</c:v>
                </c:pt>
                <c:pt idx="1">
                  <c:v>Y2</c:v>
                </c:pt>
                <c:pt idx="2">
                  <c:v>Y3</c:v>
                </c:pt>
                <c:pt idx="3">
                  <c:v>Y4</c:v>
                </c:pt>
                <c:pt idx="4">
                  <c:v>Y5</c:v>
                </c:pt>
                <c:pt idx="5">
                  <c:v>Y6</c:v>
                </c:pt>
                <c:pt idx="6">
                  <c:v>Y7</c:v>
                </c:pt>
              </c:strCache>
            </c:strRef>
          </c:cat>
          <c:val>
            <c:numRef>
              <c:f>Sheet1!$C$2:$C$8</c:f>
              <c:numCache>
                <c:formatCode>General</c:formatCode>
                <c:ptCount val="7"/>
                <c:pt idx="0">
                  <c:v>2E-3</c:v>
                </c:pt>
                <c:pt idx="1">
                  <c:v>8.9999999999999993E-3</c:v>
                </c:pt>
                <c:pt idx="2">
                  <c:v>4.5999999999999999E-2</c:v>
                </c:pt>
                <c:pt idx="3">
                  <c:v>0.14899999999999999</c:v>
                </c:pt>
                <c:pt idx="4">
                  <c:v>0.34599999999999997</c:v>
                </c:pt>
                <c:pt idx="5">
                  <c:v>0.64900000000000002</c:v>
                </c:pt>
                <c:pt idx="6">
                  <c:v>0.98199999999999998</c:v>
                </c:pt>
              </c:numCache>
            </c:numRef>
          </c:val>
          <c:extLst>
            <c:ext xmlns:c16="http://schemas.microsoft.com/office/drawing/2014/chart" uri="{C3380CC4-5D6E-409C-BE32-E72D297353CC}">
              <c16:uniqueId val="{00000001-7372-4295-A273-9D0DD392BB3B}"/>
            </c:ext>
          </c:extLst>
        </c:ser>
        <c:ser>
          <c:idx val="2"/>
          <c:order val="2"/>
          <c:tx>
            <c:strRef>
              <c:f>Sheet1!$D$1</c:f>
              <c:strCache>
                <c:ptCount val="1"/>
                <c:pt idx="0">
                  <c:v>Sponsor SaaS</c:v>
                </c:pt>
              </c:strCache>
            </c:strRef>
          </c:tx>
          <c:spPr>
            <a:solidFill>
              <a:srgbClr val="A884E8"/>
            </a:solidFill>
            <a:effectLst/>
          </c:spPr>
          <c:invertIfNegative val="0"/>
          <c:cat>
            <c:strRef>
              <c:f>Sheet1!$A$2:$A$8</c:f>
              <c:strCache>
                <c:ptCount val="7"/>
                <c:pt idx="0">
                  <c:v>Y1</c:v>
                </c:pt>
                <c:pt idx="1">
                  <c:v>Y2</c:v>
                </c:pt>
                <c:pt idx="2">
                  <c:v>Y3</c:v>
                </c:pt>
                <c:pt idx="3">
                  <c:v>Y4</c:v>
                </c:pt>
                <c:pt idx="4">
                  <c:v>Y5</c:v>
                </c:pt>
                <c:pt idx="5">
                  <c:v>Y6</c:v>
                </c:pt>
                <c:pt idx="6">
                  <c:v>Y7</c:v>
                </c:pt>
              </c:strCache>
            </c:strRef>
          </c:cat>
          <c:val>
            <c:numRef>
              <c:f>Sheet1!$D$2:$D$8</c:f>
              <c:numCache>
                <c:formatCode>General</c:formatCode>
                <c:ptCount val="7"/>
                <c:pt idx="0">
                  <c:v>1E-3</c:v>
                </c:pt>
                <c:pt idx="1">
                  <c:v>8.0000000000000002E-3</c:v>
                </c:pt>
                <c:pt idx="2">
                  <c:v>5.6000000000000001E-2</c:v>
                </c:pt>
                <c:pt idx="3">
                  <c:v>0.159</c:v>
                </c:pt>
                <c:pt idx="4">
                  <c:v>0.29199999999999998</c:v>
                </c:pt>
                <c:pt idx="5">
                  <c:v>0.441</c:v>
                </c:pt>
                <c:pt idx="6">
                  <c:v>0.59499999999999997</c:v>
                </c:pt>
              </c:numCache>
            </c:numRef>
          </c:val>
          <c:extLst>
            <c:ext xmlns:c16="http://schemas.microsoft.com/office/drawing/2014/chart" uri="{C3380CC4-5D6E-409C-BE32-E72D297353CC}">
              <c16:uniqueId val="{00000002-7372-4295-A273-9D0DD392BB3B}"/>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28C9A"/>
                </a:solidFill>
                <a:latin typeface="Barlow"/>
              </a:defRPr>
            </a:pPr>
            <a:endParaRPr lang="en-US"/>
          </a:p>
        </c:txPr>
        <c:crossAx val="2094734552"/>
        <c:crosses val="autoZero"/>
        <c:auto val="1"/>
        <c:lblAlgn val="ctr"/>
        <c:lblOffset val="100"/>
        <c:noMultiLvlLbl val="1"/>
      </c:catAx>
      <c:valAx>
        <c:axId val="2094734552"/>
        <c:scaling>
          <c:orientation val="minMax"/>
          <c:max val="3.2"/>
          <c:min val="0"/>
        </c:scaling>
        <c:delete val="0"/>
        <c:axPos val="l"/>
        <c:majorGridlines>
          <c:spPr>
            <a:ln w="9525" cap="flat">
              <a:solidFill>
                <a:srgbClr val="262C35"/>
              </a:solidFill>
              <a:prstDash val="solid"/>
              <a:round/>
            </a:ln>
          </c:spPr>
        </c:majorGridlines>
        <c:numFmt formatCode="&quot;€&quot;0.0&quot;M&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28C9A"/>
                </a:solidFill>
                <a:latin typeface="Barlow"/>
              </a:defRPr>
            </a:pPr>
            <a:endParaRPr lang="en-US"/>
          </a:p>
        </c:txPr>
        <c:crossAx val="2094734554"/>
        <c:crosses val="autoZero"/>
        <c:crossBetween val="between"/>
      </c:valAx>
      <c:spPr>
        <a:solidFill>
          <a:srgbClr val="101216"/>
        </a:solidFill>
        <a:ln w="12700" cap="flat">
          <a:solidFill>
            <a:srgbClr val="101216"/>
          </a:solidFill>
        </a:ln>
        <a:effectLst/>
      </c:spPr>
    </c:plotArea>
    <c:legend>
      <c:legendPos val="b"/>
      <c:overlay val="0"/>
      <c:txPr>
        <a:bodyPr/>
        <a:lstStyle/>
        <a:p>
          <a:pPr>
            <a:defRPr sz="1100">
              <a:solidFill>
                <a:srgbClr val="828C9A"/>
              </a:solidFill>
              <a:latin typeface="Barlow"/>
              <a:cs typeface="Barlow"/>
            </a:defRPr>
          </a:pPr>
          <a:endParaRPr lang="en-US"/>
        </a:p>
      </c:txPr>
    </c:legend>
    <c:plotVisOnly val="1"/>
    <c:dispBlanksAs val="span"/>
    <c:showDLblsOverMax val="1"/>
  </c:chart>
  <c:spPr>
    <a:solidFill>
      <a:srgbClr val="10121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Net revenue</c:v>
                </c:pt>
              </c:strCache>
            </c:strRef>
          </c:tx>
          <c:spPr>
            <a:solidFill>
              <a:srgbClr val="262C35"/>
            </a:solidFill>
            <a:effectLst/>
          </c:spPr>
          <c:invertIfNegative val="0"/>
          <c:cat>
            <c:strRef>
              <c:f>Sheet1!$A$2:$A$8</c:f>
              <c:strCache>
                <c:ptCount val="7"/>
                <c:pt idx="0">
                  <c:v>Y1</c:v>
                </c:pt>
                <c:pt idx="1">
                  <c:v>Y2</c:v>
                </c:pt>
                <c:pt idx="2">
                  <c:v>Y3</c:v>
                </c:pt>
                <c:pt idx="3">
                  <c:v>Y4</c:v>
                </c:pt>
                <c:pt idx="4">
                  <c:v>Y5</c:v>
                </c:pt>
                <c:pt idx="5">
                  <c:v>Y6</c:v>
                </c:pt>
                <c:pt idx="6">
                  <c:v>Y7</c:v>
                </c:pt>
              </c:strCache>
            </c:strRef>
          </c:cat>
          <c:val>
            <c:numRef>
              <c:f>Sheet1!$B$2:$B$8</c:f>
              <c:numCache>
                <c:formatCode>General</c:formatCode>
                <c:ptCount val="7"/>
                <c:pt idx="0">
                  <c:v>2E-3</c:v>
                </c:pt>
                <c:pt idx="1">
                  <c:v>6.8000000000000005E-2</c:v>
                </c:pt>
                <c:pt idx="2">
                  <c:v>0.28699999999999998</c:v>
                </c:pt>
                <c:pt idx="3">
                  <c:v>0.70399999999999996</c:v>
                </c:pt>
                <c:pt idx="4">
                  <c:v>1.321</c:v>
                </c:pt>
                <c:pt idx="5">
                  <c:v>2.1240000000000001</c:v>
                </c:pt>
                <c:pt idx="6">
                  <c:v>3.0129999999999999</c:v>
                </c:pt>
              </c:numCache>
            </c:numRef>
          </c:val>
          <c:extLst>
            <c:ext xmlns:c16="http://schemas.microsoft.com/office/drawing/2014/chart" uri="{C3380CC4-5D6E-409C-BE32-E72D297353CC}">
              <c16:uniqueId val="{00000000-C8B5-4CD5-983D-3A184105E894}"/>
            </c:ext>
          </c:extLst>
        </c:ser>
        <c:dLbls>
          <c:showLegendKey val="0"/>
          <c:showVal val="0"/>
          <c:showCatName val="0"/>
          <c:showSerName val="0"/>
          <c:showPercent val="0"/>
          <c:showBubbleSize val="0"/>
        </c:dLbls>
        <c:gapWidth val="55"/>
        <c:axId val="2094734554"/>
        <c:axId val="2094734552"/>
      </c:barChart>
      <c:lineChart>
        <c:grouping val="standard"/>
        <c:varyColors val="0"/>
        <c:ser>
          <c:idx val="1"/>
          <c:order val="1"/>
          <c:tx>
            <c:strRef>
              <c:f>Sheet1!$C$1</c:f>
              <c:strCache>
                <c:ptCount val="1"/>
                <c:pt idx="0">
                  <c:v>EBITDA</c:v>
                </c:pt>
              </c:strCache>
            </c:strRef>
          </c:tx>
          <c:spPr>
            <a:ln w="38100" cap="flat">
              <a:solidFill>
                <a:srgbClr val="FFB020"/>
              </a:solidFill>
              <a:prstDash val="solid"/>
              <a:round/>
            </a:ln>
            <a:effectLst/>
          </c:spPr>
          <c:marker>
            <c:symbol val="circle"/>
            <c:size val="7"/>
            <c:spPr>
              <a:solidFill>
                <a:srgbClr val="FFB020"/>
              </a:solidFill>
              <a:ln w="9525" cap="flat">
                <a:solidFill>
                  <a:srgbClr val="FFB020"/>
                </a:solidFill>
                <a:prstDash val="solid"/>
                <a:round/>
              </a:ln>
              <a:effectLst/>
            </c:spPr>
          </c:marker>
          <c:cat>
            <c:strRef>
              <c:f>Sheet1!$A$2:$A$8</c:f>
              <c:strCache>
                <c:ptCount val="7"/>
                <c:pt idx="0">
                  <c:v>Y1</c:v>
                </c:pt>
                <c:pt idx="1">
                  <c:v>Y2</c:v>
                </c:pt>
                <c:pt idx="2">
                  <c:v>Y3</c:v>
                </c:pt>
                <c:pt idx="3">
                  <c:v>Y4</c:v>
                </c:pt>
                <c:pt idx="4">
                  <c:v>Y5</c:v>
                </c:pt>
                <c:pt idx="5">
                  <c:v>Y6</c:v>
                </c:pt>
                <c:pt idx="6">
                  <c:v>Y7</c:v>
                </c:pt>
              </c:strCache>
            </c:strRef>
          </c:cat>
          <c:val>
            <c:numRef>
              <c:f>Sheet1!$C$2:$C$8</c:f>
              <c:numCache>
                <c:formatCode>General</c:formatCode>
                <c:ptCount val="7"/>
                <c:pt idx="0">
                  <c:v>-0.111</c:v>
                </c:pt>
                <c:pt idx="1">
                  <c:v>-0.14199999999999999</c:v>
                </c:pt>
                <c:pt idx="2">
                  <c:v>-7.1999999999999995E-2</c:v>
                </c:pt>
                <c:pt idx="3">
                  <c:v>0.04</c:v>
                </c:pt>
                <c:pt idx="4">
                  <c:v>0.17299999999999999</c:v>
                </c:pt>
                <c:pt idx="5">
                  <c:v>0.39300000000000002</c:v>
                </c:pt>
                <c:pt idx="6">
                  <c:v>0.74299999999999999</c:v>
                </c:pt>
              </c:numCache>
            </c:numRef>
          </c:val>
          <c:smooth val="0"/>
          <c:extLst>
            <c:ext xmlns:c16="http://schemas.microsoft.com/office/drawing/2014/chart" uri="{C3380CC4-5D6E-409C-BE32-E72D297353CC}">
              <c16:uniqueId val="{00000001-C8B5-4CD5-983D-3A184105E89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28C9A"/>
                </a:solidFill>
                <a:latin typeface="Barlow"/>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262C35"/>
              </a:solidFill>
              <a:prstDash val="solid"/>
              <a:round/>
            </a:ln>
          </c:spPr>
        </c:majorGridlines>
        <c:numFmt formatCode="&quot;€&quot;0.0&quot;M&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28C9A"/>
                </a:solidFill>
                <a:latin typeface="Barlow"/>
              </a:defRPr>
            </a:pPr>
            <a:endParaRPr lang="en-US"/>
          </a:p>
        </c:txPr>
        <c:crossAx val="2094734554"/>
        <c:crosses val="autoZero"/>
        <c:crossBetween val="between"/>
      </c:valAx>
      <c:spPr>
        <a:solidFill>
          <a:srgbClr val="101216"/>
        </a:solidFill>
        <a:ln w="12700" cap="flat">
          <a:solidFill>
            <a:srgbClr val="101216"/>
          </a:solidFill>
        </a:ln>
        <a:effectLst/>
      </c:spPr>
    </c:plotArea>
    <c:legend>
      <c:legendPos val="b"/>
      <c:overlay val="0"/>
      <c:txPr>
        <a:bodyPr/>
        <a:lstStyle/>
        <a:p>
          <a:pPr>
            <a:defRPr sz="1100">
              <a:solidFill>
                <a:srgbClr val="828C9A"/>
              </a:solidFill>
              <a:latin typeface="Barlow"/>
              <a:cs typeface="Barlow"/>
            </a:defRPr>
          </a:pPr>
          <a:endParaRPr lang="en-US"/>
        </a:p>
      </c:txPr>
    </c:legend>
    <c:plotVisOnly val="1"/>
    <c:dispBlanksAs val="span"/>
    <c:showDLblsOverMax val="1"/>
  </c:chart>
  <c:spPr>
    <a:solidFill>
      <a:srgbClr val="101216"/>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Cumulative cash before raises</c:v>
                </c:pt>
              </c:strCache>
            </c:strRef>
          </c:tx>
          <c:spPr>
            <a:ln w="38100" cap="flat">
              <a:solidFill>
                <a:srgbClr val="FFB020"/>
              </a:solidFill>
              <a:prstDash val="solid"/>
              <a:round/>
            </a:ln>
            <a:effectLst/>
          </c:spPr>
          <c:marker>
            <c:symbol val="circle"/>
            <c:size val="7"/>
            <c:spPr>
              <a:solidFill>
                <a:srgbClr val="FFB020"/>
              </a:solidFill>
              <a:ln w="9525" cap="flat">
                <a:solidFill>
                  <a:srgbClr val="FFB020"/>
                </a:solidFill>
                <a:prstDash val="solid"/>
                <a:round/>
              </a:ln>
              <a:effectLst/>
            </c:spPr>
          </c:marker>
          <c:cat>
            <c:strRef>
              <c:f>Sheet1!$A$2:$A$8</c:f>
              <c:strCache>
                <c:ptCount val="7"/>
                <c:pt idx="0">
                  <c:v>Y1</c:v>
                </c:pt>
                <c:pt idx="1">
                  <c:v>Y2</c:v>
                </c:pt>
                <c:pt idx="2">
                  <c:v>Y3</c:v>
                </c:pt>
                <c:pt idx="3">
                  <c:v>Y4</c:v>
                </c:pt>
                <c:pt idx="4">
                  <c:v>Y5</c:v>
                </c:pt>
                <c:pt idx="5">
                  <c:v>Y6</c:v>
                </c:pt>
                <c:pt idx="6">
                  <c:v>Y7</c:v>
                </c:pt>
              </c:strCache>
            </c:strRef>
          </c:cat>
          <c:val>
            <c:numRef>
              <c:f>Sheet1!$B$2:$B$8</c:f>
              <c:numCache>
                <c:formatCode>General</c:formatCode>
                <c:ptCount val="7"/>
                <c:pt idx="0">
                  <c:v>-0.113</c:v>
                </c:pt>
                <c:pt idx="1">
                  <c:v>-0.254</c:v>
                </c:pt>
                <c:pt idx="2">
                  <c:v>-0.29599999999999999</c:v>
                </c:pt>
                <c:pt idx="3">
                  <c:v>-0.186</c:v>
                </c:pt>
                <c:pt idx="4">
                  <c:v>0.08</c:v>
                </c:pt>
                <c:pt idx="5">
                  <c:v>0.55200000000000005</c:v>
                </c:pt>
                <c:pt idx="6">
                  <c:v>1.25</c:v>
                </c:pt>
              </c:numCache>
            </c:numRef>
          </c:val>
          <c:smooth val="0"/>
          <c:extLst>
            <c:ext xmlns:c16="http://schemas.microsoft.com/office/drawing/2014/chart" uri="{C3380CC4-5D6E-409C-BE32-E72D297353CC}">
              <c16:uniqueId val="{00000000-B442-43EF-AA5D-0EEDB7B0E61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28C9A"/>
                </a:solidFill>
                <a:latin typeface="Barlow"/>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262C35"/>
              </a:solidFill>
              <a:prstDash val="solid"/>
              <a:round/>
            </a:ln>
          </c:spPr>
        </c:majorGridlines>
        <c:numFmt formatCode="&quot;€&quot;0.0&quot;M&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28C9A"/>
                </a:solidFill>
                <a:latin typeface="Barlow"/>
              </a:defRPr>
            </a:pPr>
            <a:endParaRPr lang="en-US"/>
          </a:p>
        </c:txPr>
        <c:crossAx val="2094734554"/>
        <c:crosses val="autoZero"/>
        <c:crossBetween val="between"/>
      </c:valAx>
      <c:spPr>
        <a:solidFill>
          <a:srgbClr val="0A0C0F"/>
        </a:solidFill>
        <a:ln w="12700" cap="flat">
          <a:solidFill>
            <a:srgbClr val="0A0C0F"/>
          </a:solidFill>
        </a:ln>
        <a:effectLst/>
      </c:spPr>
    </c:plotArea>
    <c:plotVisOnly val="1"/>
    <c:dispBlanksAs val="span"/>
    <c:showDLblsOverMax val="1"/>
  </c:chart>
  <c:spPr>
    <a:solidFill>
      <a:srgbClr val="0A0C0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140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Jad Zoghaib and this is Stride.
Two sentences. Get the athlete paid, and show the brand what it bought. Those are the two halves of the company, and most of my fifteen minutes is about why they are one company rather than two.
Be clear about who I mean on both sides. The athletes are semi-professional and amateur, in niche sports, with a real following in a real place and no agent. A professional does not need me, they already have one, and they would not use this. The brands are the businesses near that athlete's club: the physiotherapy clinic, the gym, the car dealer.
And the thesis in one sentence: athletes are creators with a second payer. OnlyFans proved direct fan monetisation beats ad share. Nobody built it for athletes, who unlike lifestyle creators also have sponsors, clubs and a competitive record that makes their audience measurable.
Everything I show you is live at that URL, and I am happy to open it in the Q&amp;A.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on why I am the person telling you this.
I am capped by the Lebanese national rugby team. The athletes I interviewed are people I play with, so I am inside the segment this plan describes, not studying it from outside.
Four years of consulting gave me the modelling. The MSc and the build gave me the product. Everything in the demo is my own code.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asked five athletes in my own sports what they earn from their audience.
The answer was not 'a little'. It was zero. Nothing.
And read the quote carefully, because it is the finding that matters most: they do not build an audience, because there is no return on building one. That is not a complaint about pricing. It is a market with no infrastructure in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other side, and this is the half of the company I care most about.
The brand paying for this is not Nike. It is a physiotherapy clinic or a regional insurer near the athlete's club. They have a budget. What they do not have is any instrument at all: they cannot compare two athletes except on follower count, they have no benchmark to price against, and when the campaign ends they know nothing they did not know before.
I want to be straight about status. I have interviewed athletes, not sponsors. This is the biggest hole in my research, so it is the first thing I build and the first thing I test, and I have written down in advance which answer would kill it. If brands tell me they already know what they get, my differentiator is gone.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does this happen, on both sides at once? Because one layer is missing, and it used to do two jobs.
An agent introduces the athlete to the brand, and an agent vouches for what the brand is getting. In football that costs 10 to 20 per cent and it exists. In trail running or rugby league there is no agent at all, so the athlete has no route to income and the brand has no basis for a decision. One absence, two victims.
And it compounds: no route to income, so no reason to build an audience, so the market counts smaller than it really is. Every number I am about to show you is therefore the conservative reading.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Stride. Two engines, and I want to be precise that they are peers rather than a product and a feature.
Engine one is monetisation. The athlete gets their own page with paid fan tiers they price themselves, they keep 85 per cent, and they pay nothing to be there. That is 48 per cent of year seven revenue.
Engine two is analytics. A sponsor briefs a campaign, gets athletes matched on measured audience evidence with every score decomposed, and then gets delivery measured against what was projected. Ten per cent of the deal plus a subscription, and that is the other 52 per cent.
One deliberate choice: the flat take with no athlete fee. The athlete earning 200 euros a month pays the same rate as the one earning 5,000. A subscription would have been regressive against exactly the athlete we are built for.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would most like you to remember.
Follow the loop. Fans pay the athlete, so the athlete has a reason to build an audience. To take that money they connect their platforms, and those connectors are the same instrument that measures the audience. That measurement is what the sponsor is shown instead of a follower count. The deal raises the athlete's income, which brings the next athlete, who arrives with another audience to measure.
Now the part that matters commercially. A creator platform has no reason to measure an audience, so it never builds this. A sponsorship data company has no relationship with the athlete, so it cannot get the data at all. You need both sides, and almost nobody has both.
And the financing consequence: fan revenue pays for the years in which the data is accumulating. By the time the analytics are worth selling, somebody else has already funded building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most business plans cannot show you.
It is not a mockup and not a prototype. It is deployed, and the URL is on the slide. Fourteen demo accounts, registration open, you can sign in during the questions if you want to.
What you are looking at is an athlete's marketability score, 72, decomposed into the five dimensions that produced it, with the connected platforms and the live offers underneath. Every number on that screen traces back to a platform sync.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same proof for the second engine.
This is the screen a sponsor shows their own management. Delivered reach, engagements, cost per thousand reached, cost per engagement. Underneath, every athlete on the campaign with what they actually delivered against what was projected when the offer was priced.
I want to point at one number. The red one, minus 85.8 per cent. That is a deal that underdelivered, and the platform is telling the sponsor so. Every incentive in this industry runs the other way. That is the number that makes the rest of the screen believable.
And look at the dashes. A deal with nothing attached yet reads as unmeasured, never as zero. Zero would be a lie that flatters us.
One honesty note, and say it before anyone asks: the engagement figures in the demo are seeded, and the product labels them simulated on the screen. The arithmetic is real, the data is a fixture.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interviewed an expert with eleven years inside Olympic broadcasting.
I pitched him a product for the IOC, Olympic athletes only. He rejected it and told me to open registration to everyone but filter who gets in.
The admission gate you just saw exists because of that sentence. I want to be precise about this: the research changed the product, it did not decorate it. And it settled where we enter the market, because the IOC's athletes are already represented and already monetised.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bottom up, because top down does not work here.
European sport sponsorship is 24.8 billion euros and Spain is the fastest growing major market at plus 14 per cent. But none of that breaks below the professional tier, so I refuse to divide it by a number and call it my market.
Instead: 138,000 niche-sport athletes in Europe with over 5,000 followers. 55,000 in the six markets we would enter. We target 6,300 by year seven, which is 11 per cent of the serviceable market. That is deliberately modest.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niche sports first, and this is the strategic heart of the plan. There are two reasons and the second one is the better one.
The first is cost. A niche athlete costs 16 euros to acquire against 40 for a popular one, and by year seven 48 per cent of them monetise against 30 per cent. Cheaper, and more of them earn, because nobody is competing for them. A professional already has an agent and would not use this.
The second reason is the one I would argue for. A niche athlete's audience is concentrated in a place, around the club and the circuit they compete on. To a national advertiser that is close to worthless, which is why nobody bids for it. To the physiotherapy clinic two streets from the club it is the only thing worth buying, and there is currently no way to buy it. So the same decision that makes my supply cheap is what makes my demand side exist at all.
And what we learn here generalises upward into bigger sports. Starting in football and working down does not work, because in football we would be the fifth option.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straight with you about the comparables, because they are not flattering.
Four companies have built in this space. The two doing exactly what we do are small after more than a decade. Sponsoo has thirteen people after eleven years and its total equity is zero, which means accumulated losses have eaten everything shareholders put in. PitchBook models it at a 94 per cent probability of no exit.
But look at how the four split, because it is the slide about the flywheel again. Sponsoo and OpenSponsorship built the marketplace and no analytics worth the name. Hookit and SponsorUnited built the data and never had the athlete relationship, so they sell enterprise dashboards to brands that already spend. Two halves, four companies, nobody with both.
If you want the long answer on SponsorUnited I have a backup slide for it, but the short one is this. They sell what the market did. We measure what one brand's money did, and we can only do that because the projection is written onto the deal at the moment the offer is made. A company that was not in the transaction never saw the promise. I am not beating them, to be clear. I am serving a customer their cost structure will not let them near.
And none of the four has the fan. For us that is 48 per cent of year seven revenue: a second payer none of them has, and it is the whole thesis. If it works we are not Sponsoo. If it does not, we are.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revenue model in one picture. Three streams.
Fan subscriptions in amber lead and fund the early years. Sponsorship commission and the sponsor SaaS tier compound behind them.
The shape is the point: this starts as a subscription business and becomes a two-sided one. Three million euros of net revenue at year seven.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 one, concretely, because a plan that cannot say what happens first is not a plan.
250 athletes from 1,250 applications in two or three niche Spanish sports. Twenty sponsor conversations that are the first sales as much as they are research, closing about fifteen deals. One salary, mine, plus an anchor athlete on equity rather than cash. 113,000 euros.
And note the build order, because it is counter-intuitive. We build the sponsorship rail first and the fan product last, even though the fan product is the thesis. Commission earns inside year one. The fan tier cannot, because it needs moderation and safeguarding built first.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and people, briefly, because the exam asks for both.
Payments, compute and media are all subcontracted. The only human step in the whole chain is admission review, and it scales with applications, not with transactions. That is why sixteen people can run this at five million of revenue.
And I will name the weak point before you do: 301,000 euros of revenue per employee is above the top quartile for B2B SaaS. If that is wrong, headcount is what gives, and the consequence is slower growth, not insolvency.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financials. Revenue in grey, EBITDA the amber line.
We are loss-making for four years and the losses are small: the worst year is 142,000 euros. EBITDA turns positive in year four, cash in year five, and year seven is three million of revenue at a 24.7 per cent margin.
One honest note on margin. We climb to 70 per cent, not the 80 a SaaS business would claim, because we move real money and Stripe takes its cut. I would rather show you 70 that survives diligence.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150,000 euros at 1.8 million pre-money, and it is the first of two.
Look at the curve. The worst point is 296,000 euros in year three. Total requirement with a 40 per cent buffer is 414,000. But I do not need it now.
150 now, which also unlocks a 75,000 ENISA loan at no equity cost. Then 250 in year two, priced against three months of real subscription revenue instead of against the same promise I am making today. That staging costs me about two points of equity and it is worth it.
The important property: the pre-seed clears the trough on its own. Every round after it is a growth option, not a rescue.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finish where the plan is weakest, because you are going to ask anyway.
One assumption carries this: will fans of a semi-professional athlete actually pay? No interview I did answers that. No market sizing answers it. Only real subscription revenue does.
So the plan is arranged so that question costs 80,000 euros and one year to answer, instead of 2.6 million and four. If the answer is no, what is left is a smaller sponsorship marketplace: viable, but a less interesting company, and I would tell you that rather than find out quietly.
Everything else is already built. Thank you, and I am happy to open the demo.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Apply, score, match, deal.
I will not go through the arithmetic now, it is in appendix I and I am happy to take it in questions. The one thing worth your attention is the rule at the bottom.
Nothing self-verifies. Every other platform in this space lets supply assert its own numbers. Ours cannot. That is precisely what the sponsor is paying for, and it is why the admission gate is the product rather than a feature of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I would ask, so let me answer it directly. SponsorUnited has 355 people and has raised nearly 39 million euros. What is left for me.
They sell a database. It tells a large brand or an agency what the sponsorship market is doing: who sponsors whom, what the activations look like, what a property is worth. It is genuinely good, and it is bought on enterprise seats by organisations with a sponsorship department.
What it cannot tell you is whether your own deal delivered what was promised, and the reason is structural rather than technical. We write the projected reach onto the deal row at the moment the offer is made, before the athlete has even accepted. The variance you saw on slide nine is that projection against what actually landed. A company that was not in the transaction never saw the promise, so there is nothing for it to reconcile against. They can tell you what the market did. Only the platform that brokered the deal can tell you what your money did.
And their data is scraped from public posts. Ours comes through the connector the athlete linked in order to get paid by their fans, which is the flywheel slide again: consented, first party, and free to acquire because the athlete came for a different reason.
One honest point. I am not beating SponsorUnited. If a brand is big enough to buy them, we are not in that conversation. Their 355 people are the cost of an enterprise sales motion, and that motion cannot be run at a two thousand euro deal. Their size is the reason the bottom of this market is still empty.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A0C0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OARD">
    <p:bg>
      <p:bgPr>
        <a:solidFill>
          <a:srgbClr val="101216"/>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OARD_DEEP">
    <p:bg>
      <p:bgPr>
        <a:solidFill>
          <a:srgbClr val="0A0C0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13232" y="1759483"/>
            <a:ext cx="378823" cy="53035"/>
          </a:xfrm>
          <a:prstGeom prst="rect">
            <a:avLst/>
          </a:prstGeom>
          <a:solidFill>
            <a:srgbClr val="FFB020"/>
          </a:solidFill>
          <a:ln w="12700">
            <a:solidFill>
              <a:srgbClr val="333333"/>
            </a:solidFill>
            <a:prstDash val="solid"/>
          </a:ln>
        </p:spPr>
      </p:sp>
      <p:sp>
        <p:nvSpPr>
          <p:cNvPr id="3" name="Text 1"/>
          <p:cNvSpPr txBox="1"/>
          <p:nvPr/>
        </p:nvSpPr>
        <p:spPr>
          <a:xfrm>
            <a:off x="1296036" y="1417320"/>
            <a:ext cx="7576457" cy="1019908"/>
          </a:xfrm>
          <a:prstGeom prst="rect">
            <a:avLst/>
          </a:prstGeom>
          <a:noFill/>
          <a:ln/>
        </p:spPr>
        <p:txBody>
          <a:bodyPr wrap="square" lIns="0" tIns="0" rIns="0" bIns="0" rtlCol="0" anchor="t"/>
          <a:lstStyle/>
          <a:p>
            <a:pPr marL="0" indent="0">
              <a:buNone/>
            </a:pPr>
            <a:r>
              <a:rPr lang="en-US" sz="5800" kern="0" spc="414" dirty="0">
                <a:solidFill>
                  <a:srgbClr val="F2F4F7"/>
                </a:solidFill>
                <a:latin typeface="Barlow Condensed" pitchFamily="34" charset="0"/>
                <a:ea typeface="Barlow Condensed" pitchFamily="34" charset="-122"/>
                <a:cs typeface="Barlow Condensed" pitchFamily="34" charset="-120"/>
              </a:rPr>
              <a:t>STRIDE</a:t>
            </a:r>
            <a:endParaRPr lang="en-US" sz="5800" dirty="0"/>
          </a:p>
        </p:txBody>
      </p:sp>
      <p:sp>
        <p:nvSpPr>
          <p:cNvPr id="4" name="Text 2"/>
          <p:cNvSpPr txBox="1"/>
          <p:nvPr/>
        </p:nvSpPr>
        <p:spPr>
          <a:xfrm>
            <a:off x="713232" y="2487168"/>
            <a:ext cx="9509760" cy="1371600"/>
          </a:xfrm>
          <a:prstGeom prst="rect">
            <a:avLst/>
          </a:prstGeom>
          <a:noFill/>
          <a:ln/>
        </p:spPr>
        <p:txBody>
          <a:bodyPr wrap="square" lIns="0" tIns="0" rIns="0" bIns="0" rtlCol="0" anchor="t"/>
          <a:lstStyle/>
          <a:p>
            <a:pPr marL="0" indent="0">
              <a:lnSpc>
                <a:spcPts val="5000"/>
              </a:lnSpc>
              <a:buNone/>
            </a:pPr>
            <a:r>
              <a:rPr lang="en-US" sz="4600" dirty="0">
                <a:solidFill>
                  <a:srgbClr val="F2F4F7"/>
                </a:solidFill>
                <a:latin typeface="Barlow Condensed" pitchFamily="34" charset="0"/>
                <a:ea typeface="Barlow Condensed" pitchFamily="34" charset="-122"/>
                <a:cs typeface="Barlow Condensed" pitchFamily="34" charset="-120"/>
              </a:rPr>
              <a:t>Get the athlete paid.</a:t>
            </a:r>
            <a:endParaRPr lang="en-US" sz="4600" dirty="0"/>
          </a:p>
          <a:p>
            <a:pPr marL="0" indent="0">
              <a:lnSpc>
                <a:spcPts val="5000"/>
              </a:lnSpc>
              <a:buNone/>
            </a:pPr>
            <a:r>
              <a:rPr lang="en-US" sz="4600" dirty="0">
                <a:solidFill>
                  <a:srgbClr val="F2F4F7"/>
                </a:solidFill>
                <a:latin typeface="Barlow Condensed" pitchFamily="34" charset="0"/>
                <a:ea typeface="Barlow Condensed" pitchFamily="34" charset="-122"/>
                <a:cs typeface="Barlow Condensed" pitchFamily="34" charset="-120"/>
              </a:rPr>
              <a:t>Show the brand what it bought.</a:t>
            </a:r>
            <a:endParaRPr lang="en-US" sz="4600" dirty="0"/>
          </a:p>
        </p:txBody>
      </p:sp>
      <p:sp>
        <p:nvSpPr>
          <p:cNvPr id="5" name="Text 3"/>
          <p:cNvSpPr txBox="1"/>
          <p:nvPr/>
        </p:nvSpPr>
        <p:spPr>
          <a:xfrm>
            <a:off x="713232" y="3858768"/>
            <a:ext cx="7863840" cy="822960"/>
          </a:xfrm>
          <a:prstGeom prst="rect">
            <a:avLst/>
          </a:prstGeom>
          <a:noFill/>
          <a:ln/>
        </p:spPr>
        <p:txBody>
          <a:bodyPr wrap="square" lIns="0" tIns="0" rIns="0" bIns="0" rtlCol="0" anchor="t"/>
          <a:lstStyle/>
          <a:p>
            <a:pPr marL="0" indent="0">
              <a:lnSpc>
                <a:spcPts val="2300"/>
              </a:lnSpc>
              <a:buNone/>
            </a:pPr>
            <a:r>
              <a:rPr lang="en-US" sz="1550" dirty="0">
                <a:solidFill>
                  <a:srgbClr val="AEB6C2"/>
                </a:solidFill>
                <a:latin typeface="Barlow" pitchFamily="34" charset="0"/>
                <a:ea typeface="Barlow" pitchFamily="34" charset="-122"/>
                <a:cs typeface="Barlow" pitchFamily="34" charset="-120"/>
              </a:rPr>
              <a:t>For semi-professional athletes in niche sports, and the local businesses near their club. Neither side is served today.</a:t>
            </a:r>
            <a:endParaRPr lang="en-US" sz="1550" dirty="0"/>
          </a:p>
        </p:txBody>
      </p:sp>
      <p:sp>
        <p:nvSpPr>
          <p:cNvPr id="6" name="Shape 4"/>
          <p:cNvSpPr/>
          <p:nvPr/>
        </p:nvSpPr>
        <p:spPr>
          <a:xfrm>
            <a:off x="713232" y="5029200"/>
            <a:ext cx="10765231" cy="12802"/>
          </a:xfrm>
          <a:prstGeom prst="rect">
            <a:avLst/>
          </a:prstGeom>
          <a:solidFill>
            <a:srgbClr val="262C35"/>
          </a:solidFill>
          <a:ln w="12700">
            <a:solidFill>
              <a:srgbClr val="333333"/>
            </a:solidFill>
            <a:prstDash val="solid"/>
          </a:ln>
        </p:spPr>
      </p:sp>
      <p:sp>
        <p:nvSpPr>
          <p:cNvPr id="7" name="Text 5"/>
          <p:cNvSpPr txBox="1"/>
          <p:nvPr/>
        </p:nvSpPr>
        <p:spPr>
          <a:xfrm>
            <a:off x="713232" y="5230368"/>
            <a:ext cx="8412480" cy="329184"/>
          </a:xfrm>
          <a:prstGeom prst="rect">
            <a:avLst/>
          </a:prstGeom>
          <a:noFill/>
          <a:ln/>
        </p:spPr>
        <p:txBody>
          <a:bodyPr wrap="square" lIns="0" tIns="0" rIns="0" bIns="0" rtlCol="0" anchor="ctr"/>
          <a:lstStyle/>
          <a:p>
            <a:pPr marL="0" indent="0">
              <a:buNone/>
            </a:pPr>
            <a:r>
              <a:rPr lang="en-US" sz="1700" dirty="0">
                <a:solidFill>
                  <a:srgbClr val="F2F4F7"/>
                </a:solidFill>
                <a:latin typeface="Barlow Condensed" pitchFamily="34" charset="0"/>
                <a:ea typeface="Barlow Condensed" pitchFamily="34" charset="-122"/>
                <a:cs typeface="Barlow Condensed" pitchFamily="34" charset="-120"/>
              </a:rPr>
              <a:t>Jad Zoghaib</a:t>
            </a:r>
            <a:r>
              <a:rPr lang="en-US" sz="1250" dirty="0">
                <a:solidFill>
                  <a:srgbClr val="828C9A"/>
                </a:solidFill>
                <a:latin typeface="Barlow" pitchFamily="34" charset="0"/>
                <a:ea typeface="Barlow" pitchFamily="34" charset="-122"/>
                <a:cs typeface="Barlow" pitchFamily="34" charset="-120"/>
              </a:rPr>
              <a:t>   MSc Business Plan, ESADE   ·   Tutor: Ignacio Gallardo Albajar   ·   October 2026</a:t>
            </a:r>
            <a:endParaRPr lang="en-US" sz="1700" dirty="0"/>
          </a:p>
        </p:txBody>
      </p:sp>
      <p:sp>
        <p:nvSpPr>
          <p:cNvPr id="8" name="Text 6"/>
          <p:cNvSpPr txBox="1"/>
          <p:nvPr/>
        </p:nvSpPr>
        <p:spPr>
          <a:xfrm>
            <a:off x="8460943" y="5193792"/>
            <a:ext cx="3017520" cy="182880"/>
          </a:xfrm>
          <a:prstGeom prst="rect">
            <a:avLst/>
          </a:prstGeom>
          <a:noFill/>
          <a:ln/>
        </p:spPr>
        <p:txBody>
          <a:bodyPr wrap="square" lIns="0" tIns="0" rIns="0" bIns="0" rtlCol="0" anchor="t"/>
          <a:lstStyle/>
          <a:p>
            <a:pPr marL="0" indent="0" algn="r">
              <a:buNone/>
            </a:pPr>
            <a:r>
              <a:rPr lang="en-US" sz="1050" kern="0" spc="260" dirty="0">
                <a:solidFill>
                  <a:srgbClr val="828C9A"/>
                </a:solidFill>
                <a:latin typeface="Barlow Condensed" pitchFamily="34" charset="0"/>
                <a:ea typeface="Barlow Condensed" pitchFamily="34" charset="-122"/>
                <a:cs typeface="Barlow Condensed" pitchFamily="34" charset="-120"/>
              </a:rPr>
              <a:t>LIVE DEMO</a:t>
            </a:r>
            <a:endParaRPr lang="en-US" sz="1050" dirty="0"/>
          </a:p>
        </p:txBody>
      </p:sp>
      <p:sp>
        <p:nvSpPr>
          <p:cNvPr id="9" name="Text 7"/>
          <p:cNvSpPr txBox="1"/>
          <p:nvPr/>
        </p:nvSpPr>
        <p:spPr>
          <a:xfrm>
            <a:off x="8460943" y="5376672"/>
            <a:ext cx="3017520" cy="274320"/>
          </a:xfrm>
          <a:prstGeom prst="rect">
            <a:avLst/>
          </a:prstGeom>
          <a:noFill/>
          <a:ln/>
        </p:spPr>
        <p:txBody>
          <a:bodyPr wrap="square" lIns="0" tIns="0" rIns="0" bIns="0" rtlCol="0" anchor="t"/>
          <a:lstStyle/>
          <a:p>
            <a:pPr marL="0" indent="0" algn="r">
              <a:buNone/>
            </a:pPr>
            <a:r>
              <a:rPr lang="en-US" sz="1600" dirty="0">
                <a:solidFill>
                  <a:srgbClr val="FFB020"/>
                </a:solidFill>
                <a:latin typeface="Barlow Condensed" pitchFamily="34" charset="0"/>
                <a:ea typeface="Barlow Condensed" pitchFamily="34" charset="-122"/>
                <a:cs typeface="Barlow Condensed" pitchFamily="34" charset="-120"/>
              </a:rPr>
              <a:t>stride-demo.onrender.com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WHY THIS, FROM ME</a:t>
            </a:r>
            <a:endParaRPr lang="en-US" sz="1250" dirty="0"/>
          </a:p>
        </p:txBody>
      </p:sp>
      <p:sp>
        <p:nvSpPr>
          <p:cNvPr id="3" name="Text 1"/>
          <p:cNvSpPr txBox="1"/>
          <p:nvPr/>
        </p:nvSpPr>
        <p:spPr>
          <a:xfrm>
            <a:off x="713232" y="786384"/>
            <a:ext cx="10765231" cy="868680"/>
          </a:xfrm>
          <a:prstGeom prst="rect">
            <a:avLst/>
          </a:prstGeom>
          <a:noFill/>
          <a:ln/>
        </p:spPr>
        <p:txBody>
          <a:bodyPr wrap="square" lIns="0" tIns="0" rIns="0" bIns="0" rtlCol="0" anchor="t"/>
          <a:lstStyle/>
          <a:p>
            <a:pPr marL="0" indent="0">
              <a:lnSpc>
                <a:spcPts val="3800"/>
              </a:lnSpc>
              <a:buNone/>
            </a:pPr>
            <a:r>
              <a:rPr lang="en-US" sz="3600" dirty="0">
                <a:solidFill>
                  <a:srgbClr val="F2F4F7"/>
                </a:solidFill>
                <a:latin typeface="Barlow Condensed" pitchFamily="34" charset="0"/>
                <a:ea typeface="Barlow Condensed" pitchFamily="34" charset="-122"/>
                <a:cs typeface="Barlow Condensed" pitchFamily="34" charset="-120"/>
              </a:rPr>
              <a:t>I am not researching this market from outside it</a:t>
            </a:r>
            <a:endParaRPr lang="en-US" sz="3600" dirty="0"/>
          </a:p>
        </p:txBody>
      </p:sp>
      <p:sp>
        <p:nvSpPr>
          <p:cNvPr id="4" name="Shape 2"/>
          <p:cNvSpPr/>
          <p:nvPr/>
        </p:nvSpPr>
        <p:spPr>
          <a:xfrm>
            <a:off x="713232" y="2029968"/>
            <a:ext cx="3405530" cy="2395728"/>
          </a:xfrm>
          <a:prstGeom prst="roundRect">
            <a:avLst>
              <a:gd name="adj" fmla="val 1527"/>
            </a:avLst>
          </a:prstGeom>
          <a:solidFill>
            <a:srgbClr val="171A20"/>
          </a:solidFill>
          <a:ln w="9525">
            <a:solidFill>
              <a:srgbClr val="262C35"/>
            </a:solidFill>
            <a:prstDash val="solid"/>
          </a:ln>
        </p:spPr>
      </p:sp>
      <p:sp>
        <p:nvSpPr>
          <p:cNvPr id="5" name="Text 3"/>
          <p:cNvSpPr txBox="1"/>
          <p:nvPr/>
        </p:nvSpPr>
        <p:spPr>
          <a:xfrm>
            <a:off x="987552" y="2304288"/>
            <a:ext cx="2856890" cy="274320"/>
          </a:xfrm>
          <a:prstGeom prst="rect">
            <a:avLst/>
          </a:prstGeom>
          <a:noFill/>
          <a:ln/>
        </p:spPr>
        <p:txBody>
          <a:bodyPr wrap="square" lIns="0" tIns="0" rIns="0" bIns="0" rtlCol="0" anchor="t"/>
          <a:lstStyle/>
          <a:p>
            <a:pPr marL="0" indent="0">
              <a:buNone/>
            </a:pPr>
            <a:r>
              <a:rPr lang="en-US" sz="1900" kern="0" spc="180" dirty="0">
                <a:solidFill>
                  <a:srgbClr val="FFB020"/>
                </a:solidFill>
                <a:latin typeface="Barlow Condensed" pitchFamily="34" charset="0"/>
                <a:ea typeface="Barlow Condensed" pitchFamily="34" charset="-122"/>
                <a:cs typeface="Barlow Condensed" pitchFamily="34" charset="-120"/>
              </a:rPr>
              <a:t>ATHLETE</a:t>
            </a:r>
            <a:endParaRPr lang="en-US" sz="1900" dirty="0"/>
          </a:p>
        </p:txBody>
      </p:sp>
      <p:sp>
        <p:nvSpPr>
          <p:cNvPr id="6" name="Text 4"/>
          <p:cNvSpPr txBox="1"/>
          <p:nvPr/>
        </p:nvSpPr>
        <p:spPr>
          <a:xfrm>
            <a:off x="987552" y="2697480"/>
            <a:ext cx="2856890" cy="2103120"/>
          </a:xfrm>
          <a:prstGeom prst="rect">
            <a:avLst/>
          </a:prstGeom>
          <a:noFill/>
          <a:ln/>
        </p:spPr>
        <p:txBody>
          <a:bodyPr wrap="square" lIns="0" tIns="0" rIns="0" bIns="0" rtlCol="0" anchor="t"/>
          <a:lstStyle/>
          <a:p>
            <a:pPr marL="0" indent="0">
              <a:lnSpc>
                <a:spcPts val="1900"/>
              </a:lnSpc>
              <a:buNone/>
            </a:pPr>
            <a:r>
              <a:rPr lang="en-US" sz="1350" dirty="0">
                <a:solidFill>
                  <a:srgbClr val="AEB6C2"/>
                </a:solidFill>
                <a:latin typeface="Barlow" pitchFamily="34" charset="0"/>
                <a:ea typeface="Barlow" pitchFamily="34" charset="-122"/>
                <a:cs typeface="Barlow" pitchFamily="34" charset="-120"/>
              </a:rPr>
              <a:t>Capped by the Lebanese national rugby team, with international tournament experience. The athletes in my research are people I play with, which is why the conversations were candid rather than performative.</a:t>
            </a:r>
            <a:endParaRPr lang="en-US" sz="1350" dirty="0"/>
          </a:p>
        </p:txBody>
      </p:sp>
      <p:sp>
        <p:nvSpPr>
          <p:cNvPr id="7" name="Shape 5"/>
          <p:cNvSpPr/>
          <p:nvPr/>
        </p:nvSpPr>
        <p:spPr>
          <a:xfrm>
            <a:off x="4393082" y="2029968"/>
            <a:ext cx="3405530" cy="2395728"/>
          </a:xfrm>
          <a:prstGeom prst="roundRect">
            <a:avLst>
              <a:gd name="adj" fmla="val 1527"/>
            </a:avLst>
          </a:prstGeom>
          <a:solidFill>
            <a:srgbClr val="171A20"/>
          </a:solidFill>
          <a:ln w="9525">
            <a:solidFill>
              <a:srgbClr val="262C35"/>
            </a:solidFill>
            <a:prstDash val="solid"/>
          </a:ln>
        </p:spPr>
      </p:sp>
      <p:sp>
        <p:nvSpPr>
          <p:cNvPr id="8" name="Text 6"/>
          <p:cNvSpPr txBox="1"/>
          <p:nvPr/>
        </p:nvSpPr>
        <p:spPr>
          <a:xfrm>
            <a:off x="4667402" y="2304288"/>
            <a:ext cx="2856890" cy="274320"/>
          </a:xfrm>
          <a:prstGeom prst="rect">
            <a:avLst/>
          </a:prstGeom>
          <a:noFill/>
          <a:ln/>
        </p:spPr>
        <p:txBody>
          <a:bodyPr wrap="square" lIns="0" tIns="0" rIns="0" bIns="0" rtlCol="0" anchor="t"/>
          <a:lstStyle/>
          <a:p>
            <a:pPr marL="0" indent="0">
              <a:buNone/>
            </a:pPr>
            <a:r>
              <a:rPr lang="en-US" sz="1900" kern="0" spc="180" dirty="0">
                <a:solidFill>
                  <a:srgbClr val="FFB020"/>
                </a:solidFill>
                <a:latin typeface="Barlow Condensed" pitchFamily="34" charset="0"/>
                <a:ea typeface="Barlow Condensed" pitchFamily="34" charset="-122"/>
                <a:cs typeface="Barlow Condensed" pitchFamily="34" charset="-120"/>
              </a:rPr>
              <a:t>OPERATOR</a:t>
            </a:r>
            <a:endParaRPr lang="en-US" sz="1900" dirty="0"/>
          </a:p>
        </p:txBody>
      </p:sp>
      <p:sp>
        <p:nvSpPr>
          <p:cNvPr id="9" name="Text 7"/>
          <p:cNvSpPr txBox="1"/>
          <p:nvPr/>
        </p:nvSpPr>
        <p:spPr>
          <a:xfrm>
            <a:off x="4667402" y="2697480"/>
            <a:ext cx="2856890" cy="2103120"/>
          </a:xfrm>
          <a:prstGeom prst="rect">
            <a:avLst/>
          </a:prstGeom>
          <a:noFill/>
          <a:ln/>
        </p:spPr>
        <p:txBody>
          <a:bodyPr wrap="square" lIns="0" tIns="0" rIns="0" bIns="0" rtlCol="0" anchor="t"/>
          <a:lstStyle/>
          <a:p>
            <a:pPr marL="0" indent="0">
              <a:lnSpc>
                <a:spcPts val="1900"/>
              </a:lnSpc>
              <a:buNone/>
            </a:pPr>
            <a:r>
              <a:rPr lang="en-US" sz="1350" dirty="0">
                <a:solidFill>
                  <a:srgbClr val="AEB6C2"/>
                </a:solidFill>
                <a:latin typeface="Barlow" pitchFamily="34" charset="0"/>
                <a:ea typeface="Barlow" pitchFamily="34" charset="-122"/>
                <a:cs typeface="Barlow" pitchFamily="34" charset="-120"/>
              </a:rPr>
              <a:t>Four years in management consulting across MENA. Feasibility studies at $5 to 15M, DCF modelling, and an OpEx reorganisation that delivered SAR 650M of capital optimisation.</a:t>
            </a:r>
            <a:endParaRPr lang="en-US" sz="1350" dirty="0"/>
          </a:p>
        </p:txBody>
      </p:sp>
      <p:sp>
        <p:nvSpPr>
          <p:cNvPr id="10" name="Shape 8"/>
          <p:cNvSpPr/>
          <p:nvPr/>
        </p:nvSpPr>
        <p:spPr>
          <a:xfrm>
            <a:off x="8072933" y="2029968"/>
            <a:ext cx="3405530" cy="2395728"/>
          </a:xfrm>
          <a:prstGeom prst="roundRect">
            <a:avLst>
              <a:gd name="adj" fmla="val 1527"/>
            </a:avLst>
          </a:prstGeom>
          <a:solidFill>
            <a:srgbClr val="171A20"/>
          </a:solidFill>
          <a:ln w="9525">
            <a:solidFill>
              <a:srgbClr val="262C35"/>
            </a:solidFill>
            <a:prstDash val="solid"/>
          </a:ln>
        </p:spPr>
      </p:sp>
      <p:sp>
        <p:nvSpPr>
          <p:cNvPr id="11" name="Text 9"/>
          <p:cNvSpPr txBox="1"/>
          <p:nvPr/>
        </p:nvSpPr>
        <p:spPr>
          <a:xfrm>
            <a:off x="8347253" y="2304288"/>
            <a:ext cx="2856890" cy="274320"/>
          </a:xfrm>
          <a:prstGeom prst="rect">
            <a:avLst/>
          </a:prstGeom>
          <a:noFill/>
          <a:ln/>
        </p:spPr>
        <p:txBody>
          <a:bodyPr wrap="square" lIns="0" tIns="0" rIns="0" bIns="0" rtlCol="0" anchor="t"/>
          <a:lstStyle/>
          <a:p>
            <a:pPr marL="0" indent="0">
              <a:buNone/>
            </a:pPr>
            <a:r>
              <a:rPr lang="en-US" sz="1900" kern="0" spc="180" dirty="0">
                <a:solidFill>
                  <a:srgbClr val="FFB020"/>
                </a:solidFill>
                <a:latin typeface="Barlow Condensed" pitchFamily="34" charset="0"/>
                <a:ea typeface="Barlow Condensed" pitchFamily="34" charset="-122"/>
                <a:cs typeface="Barlow Condensed" pitchFamily="34" charset="-120"/>
              </a:rPr>
              <a:t>BUILDER</a:t>
            </a:r>
            <a:endParaRPr lang="en-US" sz="1900" dirty="0"/>
          </a:p>
        </p:txBody>
      </p:sp>
      <p:sp>
        <p:nvSpPr>
          <p:cNvPr id="12" name="Text 10"/>
          <p:cNvSpPr txBox="1"/>
          <p:nvPr/>
        </p:nvSpPr>
        <p:spPr>
          <a:xfrm>
            <a:off x="8347253" y="2697480"/>
            <a:ext cx="2856890" cy="2103120"/>
          </a:xfrm>
          <a:prstGeom prst="rect">
            <a:avLst/>
          </a:prstGeom>
          <a:noFill/>
          <a:ln/>
        </p:spPr>
        <p:txBody>
          <a:bodyPr wrap="square" lIns="0" tIns="0" rIns="0" bIns="0" rtlCol="0" anchor="t"/>
          <a:lstStyle/>
          <a:p>
            <a:pPr marL="0" indent="0">
              <a:lnSpc>
                <a:spcPts val="1900"/>
              </a:lnSpc>
              <a:buNone/>
            </a:pPr>
            <a:r>
              <a:rPr lang="en-US" sz="1350" dirty="0">
                <a:solidFill>
                  <a:srgbClr val="AEB6C2"/>
                </a:solidFill>
                <a:latin typeface="Barlow" pitchFamily="34" charset="0"/>
                <a:ea typeface="Barlow" pitchFamily="34" charset="-122"/>
                <a:cs typeface="Barlow" pitchFamily="34" charset="-120"/>
              </a:rPr>
              <a:t>MSc Business Analytics at ESADE. The deployed product, the analytics engine and the financial model behind this plan are all my own work.</a:t>
            </a:r>
            <a:endParaRPr lang="en-US" sz="1350" dirty="0"/>
          </a:p>
        </p:txBody>
      </p:sp>
      <p:sp>
        <p:nvSpPr>
          <p:cNvPr id="13" name="Text 11"/>
          <p:cNvSpPr txBox="1"/>
          <p:nvPr/>
        </p:nvSpPr>
        <p:spPr>
          <a:xfrm>
            <a:off x="713232" y="4681728"/>
            <a:ext cx="10765231" cy="365760"/>
          </a:xfrm>
          <a:prstGeom prst="rect">
            <a:avLst/>
          </a:prstGeom>
          <a:noFill/>
          <a:ln/>
        </p:spPr>
        <p:txBody>
          <a:bodyPr wrap="square" lIns="0" tIns="0" rIns="0" bIns="0" rtlCol="0" anchor="t"/>
          <a:lstStyle/>
          <a:p>
            <a:pPr marL="0" indent="0">
              <a:lnSpc>
                <a:spcPts val="2200"/>
              </a:lnSpc>
              <a:buNone/>
            </a:pPr>
            <a:r>
              <a:rPr lang="en-US" sz="1400" dirty="0">
                <a:solidFill>
                  <a:srgbClr val="828C9A"/>
                </a:solidFill>
                <a:latin typeface="Barlow" pitchFamily="34" charset="0"/>
                <a:ea typeface="Barlow" pitchFamily="34" charset="-122"/>
                <a:cs typeface="Barlow" pitchFamily="34" charset="-120"/>
              </a:rPr>
              <a:t>The plan can make claims about the technology that are checkable rather than aspirational, because I wrote it.</a:t>
            </a:r>
            <a:endParaRPr lang="en-US" sz="140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WHAT FIVE ATHLETES TOLD ME</a:t>
            </a:r>
            <a:endParaRPr lang="en-US" sz="1250" dirty="0"/>
          </a:p>
        </p:txBody>
      </p:sp>
      <p:sp>
        <p:nvSpPr>
          <p:cNvPr id="3" name="Text 1"/>
          <p:cNvSpPr txBox="1"/>
          <p:nvPr/>
        </p:nvSpPr>
        <p:spPr>
          <a:xfrm>
            <a:off x="713232" y="1143000"/>
            <a:ext cx="4754880" cy="2286000"/>
          </a:xfrm>
          <a:prstGeom prst="rect">
            <a:avLst/>
          </a:prstGeom>
          <a:noFill/>
          <a:ln/>
        </p:spPr>
        <p:txBody>
          <a:bodyPr wrap="square" lIns="0" tIns="0" rIns="0" bIns="0" rtlCol="0" anchor="t"/>
          <a:lstStyle/>
          <a:p>
            <a:pPr marL="0" indent="0">
              <a:lnSpc>
                <a:spcPts val="16000"/>
              </a:lnSpc>
              <a:buNone/>
            </a:pPr>
            <a:r>
              <a:rPr lang="en-US" sz="16800" dirty="0">
                <a:solidFill>
                  <a:srgbClr val="F2F4F7"/>
                </a:solidFill>
                <a:latin typeface="Barlow Condensed" pitchFamily="34" charset="0"/>
                <a:ea typeface="Barlow Condensed" pitchFamily="34" charset="-122"/>
                <a:cs typeface="Barlow Condensed" pitchFamily="34" charset="-120"/>
              </a:rPr>
              <a:t>€0</a:t>
            </a:r>
            <a:endParaRPr lang="en-US" sz="16800" dirty="0"/>
          </a:p>
        </p:txBody>
      </p:sp>
      <p:sp>
        <p:nvSpPr>
          <p:cNvPr id="4" name="Text 2"/>
          <p:cNvSpPr txBox="1"/>
          <p:nvPr/>
        </p:nvSpPr>
        <p:spPr>
          <a:xfrm>
            <a:off x="713232" y="3310128"/>
            <a:ext cx="4937760" cy="274320"/>
          </a:xfrm>
          <a:prstGeom prst="rect">
            <a:avLst/>
          </a:prstGeom>
          <a:noFill/>
          <a:ln/>
        </p:spPr>
        <p:txBody>
          <a:bodyPr wrap="square" lIns="0" tIns="0" rIns="0" bIns="0" rtlCol="0" anchor="t"/>
          <a:lstStyle/>
          <a:p>
            <a:pPr marL="0" indent="0">
              <a:buNone/>
            </a:pPr>
            <a:r>
              <a:rPr lang="en-US" sz="1300" kern="0" spc="260" dirty="0">
                <a:solidFill>
                  <a:srgbClr val="828C9A"/>
                </a:solidFill>
                <a:latin typeface="Barlow Condensed" pitchFamily="34" charset="0"/>
                <a:ea typeface="Barlow Condensed" pitchFamily="34" charset="-122"/>
                <a:cs typeface="Barlow Condensed" pitchFamily="34" charset="-120"/>
              </a:rPr>
              <a:t>CURRENT INCOME FROM THEIR AUDIENCE</a:t>
            </a:r>
            <a:endParaRPr lang="en-US" sz="1300" dirty="0"/>
          </a:p>
        </p:txBody>
      </p:sp>
      <p:sp>
        <p:nvSpPr>
          <p:cNvPr id="5" name="Text 3"/>
          <p:cNvSpPr txBox="1"/>
          <p:nvPr/>
        </p:nvSpPr>
        <p:spPr>
          <a:xfrm>
            <a:off x="713232" y="3703320"/>
            <a:ext cx="5120640" cy="822960"/>
          </a:xfrm>
          <a:prstGeom prst="rect">
            <a:avLst/>
          </a:prstGeom>
          <a:noFill/>
          <a:ln/>
        </p:spPr>
        <p:txBody>
          <a:bodyPr wrap="square" lIns="0" tIns="0" rIns="0" bIns="0" rtlCol="0" anchor="t"/>
          <a:lstStyle/>
          <a:p>
            <a:pPr marL="0" indent="0">
              <a:lnSpc>
                <a:spcPts val="3400"/>
              </a:lnSpc>
              <a:buNone/>
            </a:pPr>
            <a:r>
              <a:rPr lang="en-US" sz="3000" dirty="0">
                <a:solidFill>
                  <a:srgbClr val="FFB020"/>
                </a:solidFill>
                <a:latin typeface="Barlow Condensed" pitchFamily="34" charset="0"/>
                <a:ea typeface="Barlow Condensed" pitchFamily="34" charset="-122"/>
                <a:cs typeface="Barlow Condensed" pitchFamily="34" charset="-120"/>
              </a:rPr>
              <a:t>Not low. Not inconsistent. Nothing</a:t>
            </a:r>
            <a:endParaRPr lang="en-US" sz="3000" dirty="0"/>
          </a:p>
        </p:txBody>
      </p:sp>
      <p:sp>
        <p:nvSpPr>
          <p:cNvPr id="6" name="Shape 4"/>
          <p:cNvSpPr/>
          <p:nvPr/>
        </p:nvSpPr>
        <p:spPr>
          <a:xfrm>
            <a:off x="6309360" y="1234440"/>
            <a:ext cx="5169103" cy="3611880"/>
          </a:xfrm>
          <a:prstGeom prst="roundRect">
            <a:avLst>
              <a:gd name="adj" fmla="val 1013"/>
            </a:avLst>
          </a:prstGeom>
          <a:solidFill>
            <a:srgbClr val="171A20"/>
          </a:solidFill>
          <a:ln w="9525">
            <a:solidFill>
              <a:srgbClr val="262C35"/>
            </a:solidFill>
            <a:prstDash val="solid"/>
          </a:ln>
        </p:spPr>
      </p:sp>
      <p:sp>
        <p:nvSpPr>
          <p:cNvPr id="7" name="Text 5"/>
          <p:cNvSpPr txBox="1"/>
          <p:nvPr/>
        </p:nvSpPr>
        <p:spPr>
          <a:xfrm>
            <a:off x="6583680" y="1298448"/>
            <a:ext cx="914400" cy="914400"/>
          </a:xfrm>
          <a:prstGeom prst="rect">
            <a:avLst/>
          </a:prstGeom>
          <a:noFill/>
          <a:ln/>
        </p:spPr>
        <p:txBody>
          <a:bodyPr wrap="square" lIns="0" tIns="0" rIns="0" bIns="0" rtlCol="0" anchor="t"/>
          <a:lstStyle/>
          <a:p>
            <a:pPr marL="0" indent="0">
              <a:buNone/>
            </a:pPr>
            <a:r>
              <a:rPr lang="en-US" sz="8000" dirty="0">
                <a:solidFill>
                  <a:srgbClr val="262C35"/>
                </a:solidFill>
                <a:latin typeface="Barlow Condensed" pitchFamily="34" charset="0"/>
                <a:ea typeface="Barlow Condensed" pitchFamily="34" charset="-122"/>
                <a:cs typeface="Barlow Condensed" pitchFamily="34" charset="-120"/>
              </a:rPr>
              <a:t>“</a:t>
            </a:r>
            <a:endParaRPr lang="en-US" sz="8000" dirty="0"/>
          </a:p>
        </p:txBody>
      </p:sp>
      <p:sp>
        <p:nvSpPr>
          <p:cNvPr id="8" name="Text 6"/>
          <p:cNvSpPr txBox="1"/>
          <p:nvPr/>
        </p:nvSpPr>
        <p:spPr>
          <a:xfrm>
            <a:off x="6675120" y="2057400"/>
            <a:ext cx="4364431" cy="1371600"/>
          </a:xfrm>
          <a:prstGeom prst="rect">
            <a:avLst/>
          </a:prstGeom>
          <a:noFill/>
          <a:ln/>
        </p:spPr>
        <p:txBody>
          <a:bodyPr wrap="square" lIns="0" tIns="0" rIns="0" bIns="0" rtlCol="0" anchor="t"/>
          <a:lstStyle/>
          <a:p>
            <a:pPr marL="0" indent="0">
              <a:lnSpc>
                <a:spcPts val="2700"/>
              </a:lnSpc>
              <a:buNone/>
            </a:pPr>
            <a:r>
              <a:rPr lang="en-US" sz="1900" dirty="0">
                <a:solidFill>
                  <a:srgbClr val="F2F4F7"/>
                </a:solidFill>
                <a:latin typeface="Barlow" pitchFamily="34" charset="0"/>
                <a:ea typeface="Barlow" pitchFamily="34" charset="-122"/>
                <a:cs typeface="Barlow" pitchFamily="34" charset="-120"/>
              </a:rPr>
              <a:t>People are not going to spend time setting up social media and building followers purely around their sport if nothing comes back.</a:t>
            </a:r>
            <a:endParaRPr lang="en-US" sz="1900" dirty="0"/>
          </a:p>
        </p:txBody>
      </p:sp>
      <p:sp>
        <p:nvSpPr>
          <p:cNvPr id="9" name="Shape 7"/>
          <p:cNvSpPr/>
          <p:nvPr/>
        </p:nvSpPr>
        <p:spPr>
          <a:xfrm>
            <a:off x="6675120" y="3566160"/>
            <a:ext cx="1005840" cy="18288"/>
          </a:xfrm>
          <a:prstGeom prst="rect">
            <a:avLst/>
          </a:prstGeom>
          <a:solidFill>
            <a:srgbClr val="FFB020"/>
          </a:solidFill>
          <a:ln w="12700">
            <a:solidFill>
              <a:srgbClr val="333333"/>
            </a:solidFill>
            <a:prstDash val="solid"/>
          </a:ln>
        </p:spPr>
      </p:sp>
      <p:sp>
        <p:nvSpPr>
          <p:cNvPr id="10" name="Text 8"/>
          <p:cNvSpPr txBox="1"/>
          <p:nvPr/>
        </p:nvSpPr>
        <p:spPr>
          <a:xfrm>
            <a:off x="6675120" y="3730752"/>
            <a:ext cx="4364431" cy="1005840"/>
          </a:xfrm>
          <a:prstGeom prst="rect">
            <a:avLst/>
          </a:prstGeom>
          <a:noFill/>
          <a:ln/>
        </p:spPr>
        <p:txBody>
          <a:bodyPr wrap="square" lIns="0" tIns="0" rIns="0" bIns="0" rtlCol="0" anchor="t"/>
          <a:lstStyle/>
          <a:p>
            <a:pPr marL="0" indent="0">
              <a:lnSpc>
                <a:spcPts val="1700"/>
              </a:lnSpc>
              <a:buNone/>
            </a:pPr>
            <a:r>
              <a:rPr lang="en-US" sz="1250" dirty="0">
                <a:solidFill>
                  <a:srgbClr val="828C9A"/>
                </a:solidFill>
                <a:latin typeface="Barlow" pitchFamily="34" charset="0"/>
                <a:ea typeface="Barlow" pitchFamily="34" charset="-122"/>
                <a:cs typeface="Barlow" pitchFamily="34" charset="-120"/>
              </a:rPr>
              <a:t>Rugby league players competing in Spain and Lebanon, and top-ranked Lebanese CrossFit athletes. The founder is capped by the Lebanese national rugby team, which is how this access exists.</a:t>
            </a:r>
            <a:endParaRPr lang="en-US" sz="1250" dirty="0"/>
          </a:p>
        </p:txBody>
      </p:sp>
      <p:sp>
        <p:nvSpPr>
          <p:cNvPr id="11" name="Shape 9"/>
          <p:cNvSpPr/>
          <p:nvPr/>
        </p:nvSpPr>
        <p:spPr>
          <a:xfrm>
            <a:off x="713232" y="5138928"/>
            <a:ext cx="3405530" cy="12802"/>
          </a:xfrm>
          <a:prstGeom prst="rect">
            <a:avLst/>
          </a:prstGeom>
          <a:solidFill>
            <a:srgbClr val="262C35"/>
          </a:solidFill>
          <a:ln w="12700">
            <a:solidFill>
              <a:srgbClr val="333333"/>
            </a:solidFill>
            <a:prstDash val="solid"/>
          </a:ln>
        </p:spPr>
      </p:sp>
      <p:sp>
        <p:nvSpPr>
          <p:cNvPr id="12" name="Text 10"/>
          <p:cNvSpPr txBox="1"/>
          <p:nvPr/>
        </p:nvSpPr>
        <p:spPr>
          <a:xfrm>
            <a:off x="713232" y="5266944"/>
            <a:ext cx="3405530" cy="219456"/>
          </a:xfrm>
          <a:prstGeom prst="rect">
            <a:avLst/>
          </a:prstGeom>
          <a:noFill/>
          <a:ln/>
        </p:spPr>
        <p:txBody>
          <a:bodyPr wrap="square" lIns="0" tIns="0" rIns="0" bIns="0" rtlCol="0" anchor="t"/>
          <a:lstStyle/>
          <a:p>
            <a:pPr marL="0" indent="0">
              <a:buNone/>
            </a:pPr>
            <a:r>
              <a:rPr lang="en-US" sz="1200" kern="0" spc="180" dirty="0">
                <a:solidFill>
                  <a:srgbClr val="F2F4F7"/>
                </a:solidFill>
                <a:latin typeface="Barlow Condensed" pitchFamily="34" charset="0"/>
                <a:ea typeface="Barlow Condensed" pitchFamily="34" charset="-122"/>
                <a:cs typeface="Barlow Condensed" pitchFamily="34" charset="-120"/>
              </a:rPr>
              <a:t>THE INEQUITY IS FELT</a:t>
            </a:r>
            <a:endParaRPr lang="en-US" sz="1200" dirty="0"/>
          </a:p>
        </p:txBody>
      </p:sp>
      <p:sp>
        <p:nvSpPr>
          <p:cNvPr id="13" name="Text 11"/>
          <p:cNvSpPr txBox="1"/>
          <p:nvPr/>
        </p:nvSpPr>
        <p:spPr>
          <a:xfrm>
            <a:off x="713232" y="5504688"/>
            <a:ext cx="3405530" cy="548640"/>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Influencers producing far less demanding content earn more than competing athletes do</a:t>
            </a:r>
            <a:endParaRPr lang="en-US" sz="1150" dirty="0"/>
          </a:p>
        </p:txBody>
      </p:sp>
      <p:sp>
        <p:nvSpPr>
          <p:cNvPr id="14" name="Shape 12"/>
          <p:cNvSpPr/>
          <p:nvPr/>
        </p:nvSpPr>
        <p:spPr>
          <a:xfrm>
            <a:off x="4393082" y="5138928"/>
            <a:ext cx="3405530" cy="12802"/>
          </a:xfrm>
          <a:prstGeom prst="rect">
            <a:avLst/>
          </a:prstGeom>
          <a:solidFill>
            <a:srgbClr val="262C35"/>
          </a:solidFill>
          <a:ln w="12700">
            <a:solidFill>
              <a:srgbClr val="333333"/>
            </a:solidFill>
            <a:prstDash val="solid"/>
          </a:ln>
        </p:spPr>
      </p:sp>
      <p:sp>
        <p:nvSpPr>
          <p:cNvPr id="15" name="Text 13"/>
          <p:cNvSpPr txBox="1"/>
          <p:nvPr/>
        </p:nvSpPr>
        <p:spPr>
          <a:xfrm>
            <a:off x="4393082" y="5266944"/>
            <a:ext cx="3405530" cy="219456"/>
          </a:xfrm>
          <a:prstGeom prst="rect">
            <a:avLst/>
          </a:prstGeom>
          <a:noFill/>
          <a:ln/>
        </p:spPr>
        <p:txBody>
          <a:bodyPr wrap="square" lIns="0" tIns="0" rIns="0" bIns="0" rtlCol="0" anchor="t"/>
          <a:lstStyle/>
          <a:p>
            <a:pPr marL="0" indent="0">
              <a:buNone/>
            </a:pPr>
            <a:r>
              <a:rPr lang="en-US" sz="1200" kern="0" spc="180" dirty="0">
                <a:solidFill>
                  <a:srgbClr val="F2F4F7"/>
                </a:solidFill>
                <a:latin typeface="Barlow Condensed" pitchFamily="34" charset="0"/>
                <a:ea typeface="Barlow Condensed" pitchFamily="34" charset="-122"/>
                <a:cs typeface="Barlow Condensed" pitchFamily="34" charset="-120"/>
              </a:rPr>
              <a:t>SPONSORSHIP ARRIVES DESPITE THE SPORT</a:t>
            </a:r>
            <a:endParaRPr lang="en-US" sz="1200" dirty="0"/>
          </a:p>
        </p:txBody>
      </p:sp>
      <p:sp>
        <p:nvSpPr>
          <p:cNvPr id="16" name="Text 14"/>
          <p:cNvSpPr txBox="1"/>
          <p:nvPr/>
        </p:nvSpPr>
        <p:spPr>
          <a:xfrm>
            <a:off x="4393082" y="5504688"/>
            <a:ext cx="3405530" cy="548640"/>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The one athlete who has a sponsor did not get it as a rugby league player</a:t>
            </a:r>
            <a:endParaRPr lang="en-US" sz="1150" dirty="0"/>
          </a:p>
        </p:txBody>
      </p:sp>
      <p:sp>
        <p:nvSpPr>
          <p:cNvPr id="17" name="Shape 15"/>
          <p:cNvSpPr/>
          <p:nvPr/>
        </p:nvSpPr>
        <p:spPr>
          <a:xfrm>
            <a:off x="8072933" y="5138928"/>
            <a:ext cx="3405530" cy="12802"/>
          </a:xfrm>
          <a:prstGeom prst="rect">
            <a:avLst/>
          </a:prstGeom>
          <a:solidFill>
            <a:srgbClr val="262C35"/>
          </a:solidFill>
          <a:ln w="12700">
            <a:solidFill>
              <a:srgbClr val="333333"/>
            </a:solidFill>
            <a:prstDash val="solid"/>
          </a:ln>
        </p:spPr>
      </p:sp>
      <p:sp>
        <p:nvSpPr>
          <p:cNvPr id="18" name="Text 16"/>
          <p:cNvSpPr txBox="1"/>
          <p:nvPr/>
        </p:nvSpPr>
        <p:spPr>
          <a:xfrm>
            <a:off x="8072933" y="5266944"/>
            <a:ext cx="3405530" cy="219456"/>
          </a:xfrm>
          <a:prstGeom prst="rect">
            <a:avLst/>
          </a:prstGeom>
          <a:noFill/>
          <a:ln/>
        </p:spPr>
        <p:txBody>
          <a:bodyPr wrap="square" lIns="0" tIns="0" rIns="0" bIns="0" rtlCol="0" anchor="t"/>
          <a:lstStyle/>
          <a:p>
            <a:pPr marL="0" indent="0">
              <a:buNone/>
            </a:pPr>
            <a:r>
              <a:rPr lang="en-US" sz="1200" kern="0" spc="180" dirty="0">
                <a:solidFill>
                  <a:srgbClr val="F2F4F7"/>
                </a:solidFill>
                <a:latin typeface="Barlow Condensed" pitchFamily="34" charset="0"/>
                <a:ea typeface="Barlow Condensed" pitchFamily="34" charset="-122"/>
                <a:cs typeface="Barlow Condensed" pitchFamily="34" charset="-120"/>
              </a:rPr>
              <a:t>SO THEY STOP BUILDING AN AUDIENCE</a:t>
            </a:r>
            <a:endParaRPr lang="en-US" sz="1200" dirty="0"/>
          </a:p>
        </p:txBody>
      </p:sp>
      <p:sp>
        <p:nvSpPr>
          <p:cNvPr id="19" name="Text 17"/>
          <p:cNvSpPr txBox="1"/>
          <p:nvPr/>
        </p:nvSpPr>
        <p:spPr>
          <a:xfrm>
            <a:off x="8072933" y="5504688"/>
            <a:ext cx="3405530" cy="548640"/>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Which suppresses the very supply the market is measured on</a:t>
            </a:r>
            <a:endParaRPr lang="en-US" sz="1150" dirty="0"/>
          </a:p>
        </p:txBody>
      </p:sp>
      <p:sp>
        <p:nvSpPr>
          <p:cNvPr id="20" name="Text 18"/>
          <p:cNvSpPr txBox="1"/>
          <p:nvPr/>
        </p:nvSpPr>
        <p:spPr>
          <a:xfrm>
            <a:off x="713232" y="6382512"/>
            <a:ext cx="9667951" cy="274320"/>
          </a:xfrm>
          <a:prstGeom prst="rect">
            <a:avLst/>
          </a:prstGeom>
          <a:noFill/>
          <a:ln/>
        </p:spPr>
        <p:txBody>
          <a:bodyPr wrap="square" lIns="0" tIns="0" rIns="0" bIns="0" rtlCol="0" anchor="t"/>
          <a:lstStyle/>
          <a:p>
            <a:pPr marL="0" indent="0">
              <a:buNone/>
            </a:pPr>
            <a:r>
              <a:rPr lang="en-US" sz="950" dirty="0">
                <a:solidFill>
                  <a:srgbClr val="828C9A"/>
                </a:solidFill>
                <a:latin typeface="Barlow" pitchFamily="34" charset="0"/>
                <a:ea typeface="Barlow" pitchFamily="34" charset="-122"/>
                <a:cs typeface="Barlow" pitchFamily="34" charset="-120"/>
              </a:rPr>
              <a:t>Primary research, five semi-structured interviews, 2026. Convenience sample, reported as one.</a:t>
            </a:r>
            <a:endParaRPr lang="en-US" sz="95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THE BUYER'S HALF</a:t>
            </a:r>
            <a:endParaRPr lang="en-US" sz="1250" dirty="0"/>
          </a:p>
        </p:txBody>
      </p:sp>
      <p:sp>
        <p:nvSpPr>
          <p:cNvPr id="3" name="Text 1"/>
          <p:cNvSpPr txBox="1"/>
          <p:nvPr/>
        </p:nvSpPr>
        <p:spPr>
          <a:xfrm>
            <a:off x="713232" y="786384"/>
            <a:ext cx="10765231" cy="868680"/>
          </a:xfrm>
          <a:prstGeom prst="rect">
            <a:avLst/>
          </a:prstGeom>
          <a:noFill/>
          <a:ln/>
        </p:spPr>
        <p:txBody>
          <a:bodyPr wrap="square" lIns="0" tIns="0" rIns="0" bIns="0" rtlCol="0" anchor="t"/>
          <a:lstStyle/>
          <a:p>
            <a:pPr marL="0" indent="0">
              <a:lnSpc>
                <a:spcPts val="3800"/>
              </a:lnSpc>
              <a:buNone/>
            </a:pPr>
            <a:r>
              <a:rPr lang="en-US" sz="3600" dirty="0">
                <a:solidFill>
                  <a:srgbClr val="F2F4F7"/>
                </a:solidFill>
                <a:latin typeface="Barlow Condensed" pitchFamily="34" charset="0"/>
                <a:ea typeface="Barlow Condensed" pitchFamily="34" charset="-122"/>
                <a:cs typeface="Barlow Condensed" pitchFamily="34" charset="-120"/>
              </a:rPr>
              <a:t>A local brand spends on instinct, and never finds out</a:t>
            </a:r>
            <a:endParaRPr lang="en-US" sz="3600" dirty="0"/>
          </a:p>
        </p:txBody>
      </p:sp>
      <p:sp>
        <p:nvSpPr>
          <p:cNvPr id="4" name="Text 2"/>
          <p:cNvSpPr txBox="1"/>
          <p:nvPr/>
        </p:nvSpPr>
        <p:spPr>
          <a:xfrm>
            <a:off x="713232" y="1883664"/>
            <a:ext cx="5852160" cy="1097280"/>
          </a:xfrm>
          <a:prstGeom prst="rect">
            <a:avLst/>
          </a:prstGeom>
          <a:noFill/>
          <a:ln/>
        </p:spPr>
        <p:txBody>
          <a:bodyPr wrap="square" lIns="0" tIns="0" rIns="0" bIns="0" rtlCol="0" anchor="t"/>
          <a:lstStyle/>
          <a:p>
            <a:pPr marL="0" indent="0">
              <a:lnSpc>
                <a:spcPts val="3800"/>
              </a:lnSpc>
              <a:buNone/>
            </a:pPr>
            <a:r>
              <a:rPr lang="en-US" sz="3400" dirty="0">
                <a:solidFill>
                  <a:srgbClr val="F2F4F7"/>
                </a:solidFill>
                <a:latin typeface="Barlow Condensed" pitchFamily="34" charset="0"/>
                <a:ea typeface="Barlow Condensed" pitchFamily="34" charset="-122"/>
                <a:cs typeface="Barlow Condensed" pitchFamily="34" charset="-120"/>
              </a:rPr>
              <a:t>“What did you get back,</a:t>
            </a:r>
            <a:endParaRPr lang="en-US" sz="3400" dirty="0"/>
          </a:p>
          <a:p>
            <a:pPr marL="0" indent="0">
              <a:lnSpc>
                <a:spcPts val="3800"/>
              </a:lnSpc>
              <a:buNone/>
            </a:pPr>
            <a:r>
              <a:rPr lang="en-US" sz="3400" dirty="0">
                <a:solidFill>
                  <a:srgbClr val="F2F4F7"/>
                </a:solidFill>
                <a:latin typeface="Barlow Condensed" pitchFamily="34" charset="0"/>
                <a:ea typeface="Barlow Condensed" pitchFamily="34" charset="-122"/>
                <a:cs typeface="Barlow Condensed" pitchFamily="34" charset="-120"/>
              </a:rPr>
              <a:t>and how did you know?”</a:t>
            </a:r>
            <a:endParaRPr lang="en-US" sz="3400" dirty="0"/>
          </a:p>
        </p:txBody>
      </p:sp>
      <p:sp>
        <p:nvSpPr>
          <p:cNvPr id="5" name="Shape 3"/>
          <p:cNvSpPr/>
          <p:nvPr/>
        </p:nvSpPr>
        <p:spPr>
          <a:xfrm>
            <a:off x="713232" y="3054096"/>
            <a:ext cx="1005840" cy="18288"/>
          </a:xfrm>
          <a:prstGeom prst="rect">
            <a:avLst/>
          </a:prstGeom>
          <a:solidFill>
            <a:srgbClr val="FFB020"/>
          </a:solidFill>
          <a:ln w="12700">
            <a:solidFill>
              <a:srgbClr val="333333"/>
            </a:solidFill>
            <a:prstDash val="solid"/>
          </a:ln>
        </p:spPr>
      </p:sp>
      <p:sp>
        <p:nvSpPr>
          <p:cNvPr id="6" name="Text 4"/>
          <p:cNvSpPr txBox="1"/>
          <p:nvPr/>
        </p:nvSpPr>
        <p:spPr>
          <a:xfrm>
            <a:off x="713232" y="3218688"/>
            <a:ext cx="5760720" cy="822960"/>
          </a:xfrm>
          <a:prstGeom prst="rect">
            <a:avLst/>
          </a:prstGeom>
          <a:noFill/>
          <a:ln/>
        </p:spPr>
        <p:txBody>
          <a:bodyPr wrap="square" lIns="0" tIns="0" rIns="0" bIns="0" rtlCol="0" anchor="t"/>
          <a:lstStyle/>
          <a:p>
            <a:pPr marL="0" indent="0">
              <a:lnSpc>
                <a:spcPts val="1800"/>
              </a:lnSpc>
              <a:buNone/>
            </a:pPr>
            <a:r>
              <a:rPr lang="en-US" sz="1350" dirty="0">
                <a:solidFill>
                  <a:srgbClr val="AEB6C2"/>
                </a:solidFill>
                <a:latin typeface="Barlow" pitchFamily="34" charset="0"/>
                <a:ea typeface="Barlow" pitchFamily="34" charset="-122"/>
                <a:cs typeface="Barlow" pitchFamily="34" charset="-120"/>
              </a:rPr>
              <a:t>The question the sponsor discovery programme is built around. It is the one the whole analytics engine exists to answer, and today nobody below the professional tier owns an instrument that can.</a:t>
            </a:r>
            <a:endParaRPr lang="en-US" sz="1350" dirty="0"/>
          </a:p>
        </p:txBody>
      </p:sp>
      <p:sp>
        <p:nvSpPr>
          <p:cNvPr id="7" name="Shape 5"/>
          <p:cNvSpPr/>
          <p:nvPr/>
        </p:nvSpPr>
        <p:spPr>
          <a:xfrm>
            <a:off x="6812280" y="1883664"/>
            <a:ext cx="4666183" cy="1737360"/>
          </a:xfrm>
          <a:prstGeom prst="roundRect">
            <a:avLst>
              <a:gd name="adj" fmla="val 2105"/>
            </a:avLst>
          </a:prstGeom>
          <a:solidFill>
            <a:srgbClr val="171A20"/>
          </a:solidFill>
          <a:ln w="9525">
            <a:solidFill>
              <a:srgbClr val="262C35"/>
            </a:solidFill>
            <a:prstDash val="solid"/>
          </a:ln>
        </p:spPr>
      </p:sp>
      <p:sp>
        <p:nvSpPr>
          <p:cNvPr id="8" name="Text 6"/>
          <p:cNvSpPr txBox="1"/>
          <p:nvPr/>
        </p:nvSpPr>
        <p:spPr>
          <a:xfrm>
            <a:off x="7068312" y="2084832"/>
            <a:ext cx="4154119" cy="237744"/>
          </a:xfrm>
          <a:prstGeom prst="rect">
            <a:avLst/>
          </a:prstGeom>
          <a:noFill/>
          <a:ln/>
        </p:spPr>
        <p:txBody>
          <a:bodyPr wrap="square" lIns="0" tIns="0" rIns="0" bIns="0" rtlCol="0" anchor="t"/>
          <a:lstStyle/>
          <a:p>
            <a:pPr marL="0" indent="0">
              <a:buNone/>
            </a:pPr>
            <a:r>
              <a:rPr lang="en-US" sz="1200" kern="0" spc="260" dirty="0">
                <a:solidFill>
                  <a:srgbClr val="828C9A"/>
                </a:solidFill>
                <a:latin typeface="Barlow Condensed" pitchFamily="34" charset="0"/>
                <a:ea typeface="Barlow Condensed" pitchFamily="34" charset="-122"/>
                <a:cs typeface="Barlow Condensed" pitchFamily="34" charset="-120"/>
              </a:rPr>
              <a:t>WHO THE BUYER IS</a:t>
            </a:r>
            <a:endParaRPr lang="en-US" sz="1200" dirty="0"/>
          </a:p>
        </p:txBody>
      </p:sp>
      <p:sp>
        <p:nvSpPr>
          <p:cNvPr id="9" name="Text 7"/>
          <p:cNvSpPr txBox="1"/>
          <p:nvPr/>
        </p:nvSpPr>
        <p:spPr>
          <a:xfrm>
            <a:off x="7068312" y="2395728"/>
            <a:ext cx="4154119" cy="1097280"/>
          </a:xfrm>
          <a:prstGeom prst="rect">
            <a:avLst/>
          </a:prstGeom>
          <a:noFill/>
          <a:ln/>
        </p:spPr>
        <p:txBody>
          <a:bodyPr wrap="square" lIns="0" tIns="0" rIns="0" bIns="0" rtlCol="0" anchor="t"/>
          <a:lstStyle/>
          <a:p>
            <a:pPr marL="0" indent="0">
              <a:lnSpc>
                <a:spcPts val="1800"/>
              </a:lnSpc>
              <a:buNone/>
            </a:pPr>
            <a:r>
              <a:rPr lang="en-US" sz="1300" dirty="0">
                <a:solidFill>
                  <a:srgbClr val="AEB6C2"/>
                </a:solidFill>
                <a:latin typeface="Barlow" pitchFamily="34" charset="0"/>
                <a:ea typeface="Barlow" pitchFamily="34" charset="-122"/>
                <a:cs typeface="Barlow" pitchFamily="34" charset="-120"/>
              </a:rPr>
              <a:t>Physiotherapy clinics, gyms, car dealers, restaurants and regional insurers within reach of an anchor athlete's club. The segment the agencies will not serve, and the one this model is built on.</a:t>
            </a:r>
            <a:endParaRPr lang="en-US" sz="1300" dirty="0"/>
          </a:p>
        </p:txBody>
      </p:sp>
      <p:sp>
        <p:nvSpPr>
          <p:cNvPr id="10" name="Shape 8"/>
          <p:cNvSpPr/>
          <p:nvPr/>
        </p:nvSpPr>
        <p:spPr>
          <a:xfrm>
            <a:off x="713232" y="3913632"/>
            <a:ext cx="3405530" cy="1188720"/>
          </a:xfrm>
          <a:prstGeom prst="roundRect">
            <a:avLst>
              <a:gd name="adj" fmla="val 3077"/>
            </a:avLst>
          </a:prstGeom>
          <a:solidFill>
            <a:srgbClr val="171A20"/>
          </a:solidFill>
          <a:ln w="9525">
            <a:solidFill>
              <a:srgbClr val="262C35"/>
            </a:solidFill>
            <a:prstDash val="solid"/>
          </a:ln>
        </p:spPr>
      </p:sp>
      <p:sp>
        <p:nvSpPr>
          <p:cNvPr id="11" name="Text 9"/>
          <p:cNvSpPr txBox="1"/>
          <p:nvPr/>
        </p:nvSpPr>
        <p:spPr>
          <a:xfrm>
            <a:off x="950976" y="4096512"/>
            <a:ext cx="2930042" cy="256032"/>
          </a:xfrm>
          <a:prstGeom prst="rect">
            <a:avLst/>
          </a:prstGeom>
          <a:noFill/>
          <a:ln/>
        </p:spPr>
        <p:txBody>
          <a:bodyPr wrap="square" lIns="0" tIns="0" rIns="0" bIns="0" rtlCol="0" anchor="t"/>
          <a:lstStyle/>
          <a:p>
            <a:pPr marL="0" indent="0">
              <a:buNone/>
            </a:pPr>
            <a:r>
              <a:rPr lang="en-US" sz="1600" kern="0" spc="220" dirty="0">
                <a:solidFill>
                  <a:srgbClr val="FFB020"/>
                </a:solidFill>
                <a:latin typeface="Barlow Condensed" pitchFamily="34" charset="0"/>
                <a:ea typeface="Barlow Condensed" pitchFamily="34" charset="-122"/>
                <a:cs typeface="Barlow Condensed" pitchFamily="34" charset="-120"/>
              </a:rPr>
              <a:t>CHOOSE</a:t>
            </a:r>
            <a:endParaRPr lang="en-US" sz="1600" dirty="0"/>
          </a:p>
        </p:txBody>
      </p:sp>
      <p:sp>
        <p:nvSpPr>
          <p:cNvPr id="12" name="Text 10"/>
          <p:cNvSpPr txBox="1"/>
          <p:nvPr/>
        </p:nvSpPr>
        <p:spPr>
          <a:xfrm>
            <a:off x="950976" y="4407408"/>
            <a:ext cx="2930042" cy="713232"/>
          </a:xfrm>
          <a:prstGeom prst="rect">
            <a:avLst/>
          </a:prstGeom>
          <a:noFill/>
          <a:ln/>
        </p:spPr>
        <p:txBody>
          <a:bodyPr wrap="square" lIns="0" tIns="0" rIns="0" bIns="0" rtlCol="0" anchor="t"/>
          <a:lstStyle/>
          <a:p>
            <a:pPr marL="0" indent="0">
              <a:lnSpc>
                <a:spcPts val="1700"/>
              </a:lnSpc>
              <a:buNone/>
            </a:pPr>
            <a:r>
              <a:rPr lang="en-US" sz="1250" dirty="0">
                <a:solidFill>
                  <a:srgbClr val="AEB6C2"/>
                </a:solidFill>
                <a:latin typeface="Barlow" pitchFamily="34" charset="0"/>
                <a:ea typeface="Barlow" pitchFamily="34" charset="-122"/>
                <a:cs typeface="Barlow" pitchFamily="34" charset="-120"/>
              </a:rPr>
              <a:t>Two athletes, and nothing to compare them on but follower count, which is the one number that can be bought.</a:t>
            </a:r>
            <a:endParaRPr lang="en-US" sz="1250" dirty="0"/>
          </a:p>
        </p:txBody>
      </p:sp>
      <p:sp>
        <p:nvSpPr>
          <p:cNvPr id="13" name="Shape 11"/>
          <p:cNvSpPr/>
          <p:nvPr/>
        </p:nvSpPr>
        <p:spPr>
          <a:xfrm>
            <a:off x="4393082" y="3913632"/>
            <a:ext cx="3405530" cy="1188720"/>
          </a:xfrm>
          <a:prstGeom prst="roundRect">
            <a:avLst>
              <a:gd name="adj" fmla="val 3077"/>
            </a:avLst>
          </a:prstGeom>
          <a:solidFill>
            <a:srgbClr val="171A20"/>
          </a:solidFill>
          <a:ln w="9525">
            <a:solidFill>
              <a:srgbClr val="262C35"/>
            </a:solidFill>
            <a:prstDash val="solid"/>
          </a:ln>
        </p:spPr>
      </p:sp>
      <p:sp>
        <p:nvSpPr>
          <p:cNvPr id="14" name="Text 12"/>
          <p:cNvSpPr txBox="1"/>
          <p:nvPr/>
        </p:nvSpPr>
        <p:spPr>
          <a:xfrm>
            <a:off x="4630826" y="4096512"/>
            <a:ext cx="2930042" cy="256032"/>
          </a:xfrm>
          <a:prstGeom prst="rect">
            <a:avLst/>
          </a:prstGeom>
          <a:noFill/>
          <a:ln/>
        </p:spPr>
        <p:txBody>
          <a:bodyPr wrap="square" lIns="0" tIns="0" rIns="0" bIns="0" rtlCol="0" anchor="t"/>
          <a:lstStyle/>
          <a:p>
            <a:pPr marL="0" indent="0">
              <a:buNone/>
            </a:pPr>
            <a:r>
              <a:rPr lang="en-US" sz="1600" kern="0" spc="220" dirty="0">
                <a:solidFill>
                  <a:srgbClr val="FFB020"/>
                </a:solidFill>
                <a:latin typeface="Barlow Condensed" pitchFamily="34" charset="0"/>
                <a:ea typeface="Barlow Condensed" pitchFamily="34" charset="-122"/>
                <a:cs typeface="Barlow Condensed" pitchFamily="34" charset="-120"/>
              </a:rPr>
              <a:t>PRICE</a:t>
            </a:r>
            <a:endParaRPr lang="en-US" sz="1600" dirty="0"/>
          </a:p>
        </p:txBody>
      </p:sp>
      <p:sp>
        <p:nvSpPr>
          <p:cNvPr id="15" name="Text 13"/>
          <p:cNvSpPr txBox="1"/>
          <p:nvPr/>
        </p:nvSpPr>
        <p:spPr>
          <a:xfrm>
            <a:off x="4630826" y="4407408"/>
            <a:ext cx="2930042" cy="713232"/>
          </a:xfrm>
          <a:prstGeom prst="rect">
            <a:avLst/>
          </a:prstGeom>
          <a:noFill/>
          <a:ln/>
        </p:spPr>
        <p:txBody>
          <a:bodyPr wrap="square" lIns="0" tIns="0" rIns="0" bIns="0" rtlCol="0" anchor="t"/>
          <a:lstStyle/>
          <a:p>
            <a:pPr marL="0" indent="0">
              <a:lnSpc>
                <a:spcPts val="1700"/>
              </a:lnSpc>
              <a:buNone/>
            </a:pPr>
            <a:r>
              <a:rPr lang="en-US" sz="1250" dirty="0">
                <a:solidFill>
                  <a:srgbClr val="AEB6C2"/>
                </a:solidFill>
                <a:latin typeface="Barlow" pitchFamily="34" charset="0"/>
                <a:ea typeface="Barlow" pitchFamily="34" charset="-122"/>
                <a:cs typeface="Barlow" pitchFamily="34" charset="-120"/>
              </a:rPr>
              <a:t>No rate card and no benchmark anywhere in the segment. The fee is whatever was asked for.</a:t>
            </a:r>
            <a:endParaRPr lang="en-US" sz="1250" dirty="0"/>
          </a:p>
        </p:txBody>
      </p:sp>
      <p:sp>
        <p:nvSpPr>
          <p:cNvPr id="16" name="Shape 14"/>
          <p:cNvSpPr/>
          <p:nvPr/>
        </p:nvSpPr>
        <p:spPr>
          <a:xfrm>
            <a:off x="8072933" y="3913632"/>
            <a:ext cx="3405530" cy="1188720"/>
          </a:xfrm>
          <a:prstGeom prst="roundRect">
            <a:avLst>
              <a:gd name="adj" fmla="val 3077"/>
            </a:avLst>
          </a:prstGeom>
          <a:solidFill>
            <a:srgbClr val="171A20"/>
          </a:solidFill>
          <a:ln w="9525">
            <a:solidFill>
              <a:srgbClr val="262C35"/>
            </a:solidFill>
            <a:prstDash val="solid"/>
          </a:ln>
        </p:spPr>
      </p:sp>
      <p:sp>
        <p:nvSpPr>
          <p:cNvPr id="17" name="Text 15"/>
          <p:cNvSpPr txBox="1"/>
          <p:nvPr/>
        </p:nvSpPr>
        <p:spPr>
          <a:xfrm>
            <a:off x="8310677" y="4096512"/>
            <a:ext cx="2930042" cy="256032"/>
          </a:xfrm>
          <a:prstGeom prst="rect">
            <a:avLst/>
          </a:prstGeom>
          <a:noFill/>
          <a:ln/>
        </p:spPr>
        <p:txBody>
          <a:bodyPr wrap="square" lIns="0" tIns="0" rIns="0" bIns="0" rtlCol="0" anchor="t"/>
          <a:lstStyle/>
          <a:p>
            <a:pPr marL="0" indent="0">
              <a:buNone/>
            </a:pPr>
            <a:r>
              <a:rPr lang="en-US" sz="1600" kern="0" spc="220" dirty="0">
                <a:solidFill>
                  <a:srgbClr val="FFB020"/>
                </a:solidFill>
                <a:latin typeface="Barlow Condensed" pitchFamily="34" charset="0"/>
                <a:ea typeface="Barlow Condensed" pitchFamily="34" charset="-122"/>
                <a:cs typeface="Barlow Condensed" pitchFamily="34" charset="-120"/>
              </a:rPr>
              <a:t>VERIFY</a:t>
            </a:r>
            <a:endParaRPr lang="en-US" sz="1600" dirty="0"/>
          </a:p>
        </p:txBody>
      </p:sp>
      <p:sp>
        <p:nvSpPr>
          <p:cNvPr id="18" name="Text 16"/>
          <p:cNvSpPr txBox="1"/>
          <p:nvPr/>
        </p:nvSpPr>
        <p:spPr>
          <a:xfrm>
            <a:off x="8310677" y="4407408"/>
            <a:ext cx="2930042" cy="713232"/>
          </a:xfrm>
          <a:prstGeom prst="rect">
            <a:avLst/>
          </a:prstGeom>
          <a:noFill/>
          <a:ln/>
        </p:spPr>
        <p:txBody>
          <a:bodyPr wrap="square" lIns="0" tIns="0" rIns="0" bIns="0" rtlCol="0" anchor="t"/>
          <a:lstStyle/>
          <a:p>
            <a:pPr marL="0" indent="0">
              <a:lnSpc>
                <a:spcPts val="1700"/>
              </a:lnSpc>
              <a:buNone/>
            </a:pPr>
            <a:r>
              <a:rPr lang="en-US" sz="1250" dirty="0">
                <a:solidFill>
                  <a:srgbClr val="AEB6C2"/>
                </a:solidFill>
                <a:latin typeface="Barlow" pitchFamily="34" charset="0"/>
                <a:ea typeface="Barlow" pitchFamily="34" charset="-122"/>
                <a:cs typeface="Barlow" pitchFamily="34" charset="-120"/>
              </a:rPr>
              <a:t>The campaign ends, and nothing is known that was not known before it started.</a:t>
            </a:r>
            <a:endParaRPr lang="en-US" sz="1250" dirty="0"/>
          </a:p>
        </p:txBody>
      </p:sp>
      <p:sp>
        <p:nvSpPr>
          <p:cNvPr id="19" name="Shape 17"/>
          <p:cNvSpPr/>
          <p:nvPr/>
        </p:nvSpPr>
        <p:spPr>
          <a:xfrm>
            <a:off x="713232" y="5266944"/>
            <a:ext cx="10765231" cy="804672"/>
          </a:xfrm>
          <a:prstGeom prst="roundRect">
            <a:avLst>
              <a:gd name="adj" fmla="val 4545"/>
            </a:avLst>
          </a:prstGeom>
          <a:solidFill>
            <a:srgbClr val="1F242C"/>
          </a:solidFill>
          <a:ln w="9525">
            <a:solidFill>
              <a:srgbClr val="262C35"/>
            </a:solidFill>
            <a:prstDash val="solid"/>
          </a:ln>
        </p:spPr>
      </p:sp>
      <p:sp>
        <p:nvSpPr>
          <p:cNvPr id="20" name="Text 18"/>
          <p:cNvSpPr txBox="1"/>
          <p:nvPr/>
        </p:nvSpPr>
        <p:spPr>
          <a:xfrm>
            <a:off x="987552" y="5449824"/>
            <a:ext cx="2926080" cy="237744"/>
          </a:xfrm>
          <a:prstGeom prst="rect">
            <a:avLst/>
          </a:prstGeom>
          <a:noFill/>
          <a:ln/>
        </p:spPr>
        <p:txBody>
          <a:bodyPr wrap="square" lIns="0" tIns="0" rIns="0" bIns="0" rtlCol="0" anchor="t"/>
          <a:lstStyle/>
          <a:p>
            <a:pPr marL="0" indent="0">
              <a:buNone/>
            </a:pPr>
            <a:r>
              <a:rPr lang="en-US" sz="1350" kern="0" spc="220" dirty="0">
                <a:solidFill>
                  <a:srgbClr val="FFB020"/>
                </a:solidFill>
                <a:latin typeface="Barlow Condensed" pitchFamily="34" charset="0"/>
                <a:ea typeface="Barlow Condensed" pitchFamily="34" charset="-122"/>
                <a:cs typeface="Barlow Condensed" pitchFamily="34" charset="-120"/>
              </a:rPr>
              <a:t>THE ASSUMPTION I TEST FIRST</a:t>
            </a:r>
            <a:endParaRPr lang="en-US" sz="1350" dirty="0"/>
          </a:p>
        </p:txBody>
      </p:sp>
      <p:sp>
        <p:nvSpPr>
          <p:cNvPr id="21" name="Text 19"/>
          <p:cNvSpPr txBox="1"/>
          <p:nvPr/>
        </p:nvSpPr>
        <p:spPr>
          <a:xfrm>
            <a:off x="4187952" y="5413248"/>
            <a:ext cx="7016191" cy="566928"/>
          </a:xfrm>
          <a:prstGeom prst="rect">
            <a:avLst/>
          </a:prstGeom>
          <a:noFill/>
          <a:ln/>
        </p:spPr>
        <p:txBody>
          <a:bodyPr wrap="square" lIns="0" tIns="0" rIns="0" bIns="0" rtlCol="0" anchor="t"/>
          <a:lstStyle/>
          <a:p>
            <a:pPr marL="0" indent="0">
              <a:lnSpc>
                <a:spcPts val="1700"/>
              </a:lnSpc>
              <a:buNone/>
            </a:pPr>
            <a:r>
              <a:rPr lang="en-US" sz="1300" dirty="0">
                <a:solidFill>
                  <a:srgbClr val="AEB6C2"/>
                </a:solidFill>
                <a:latin typeface="Barlow" pitchFamily="34" charset="0"/>
                <a:ea typeface="Barlow" pitchFamily="34" charset="-122"/>
                <a:cs typeface="Barlow" pitchFamily="34" charset="-120"/>
              </a:rPr>
              <a:t>Twenty sponsor conversations before the pre-seed gate, and the answer that kills it is written down in advance: if brands say they already know what they get, the analytics engine is not a differentiator.</a:t>
            </a:r>
            <a:endParaRPr lang="en-US" sz="1300" dirty="0"/>
          </a:p>
        </p:txBody>
      </p:sp>
      <p:sp>
        <p:nvSpPr>
          <p:cNvPr id="22" name="Text 20"/>
          <p:cNvSpPr txBox="1"/>
          <p:nvPr/>
        </p:nvSpPr>
        <p:spPr>
          <a:xfrm>
            <a:off x="713232" y="6382512"/>
            <a:ext cx="9667951" cy="274320"/>
          </a:xfrm>
          <a:prstGeom prst="rect">
            <a:avLst/>
          </a:prstGeom>
          <a:noFill/>
          <a:ln/>
        </p:spPr>
        <p:txBody>
          <a:bodyPr wrap="square" lIns="0" tIns="0" rIns="0" bIns="0" rtlCol="0" anchor="t"/>
          <a:lstStyle/>
          <a:p>
            <a:pPr marL="0" indent="0">
              <a:buNone/>
            </a:pPr>
            <a:r>
              <a:rPr lang="en-US" sz="950" dirty="0">
                <a:solidFill>
                  <a:srgbClr val="828C9A"/>
                </a:solidFill>
                <a:latin typeface="Barlow" pitchFamily="34" charset="0"/>
                <a:ea typeface="Barlow" pitchFamily="34" charset="-122"/>
                <a:cs typeface="Barlow" pitchFamily="34" charset="-120"/>
              </a:rPr>
              <a:t>Sponsor discovery programme, section 4.6: four buyer groups, seven questions, each one aimed at an assumption the model depends on.</a:t>
            </a:r>
            <a:endParaRPr lang="en-US" sz="95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THE MECHANISM</a:t>
            </a:r>
            <a:endParaRPr lang="en-US" sz="1250" dirty="0"/>
          </a:p>
        </p:txBody>
      </p:sp>
      <p:sp>
        <p:nvSpPr>
          <p:cNvPr id="3" name="Text 1"/>
          <p:cNvSpPr txBox="1"/>
          <p:nvPr/>
        </p:nvSpPr>
        <p:spPr>
          <a:xfrm>
            <a:off x="713232" y="786384"/>
            <a:ext cx="10765231" cy="868680"/>
          </a:xfrm>
          <a:prstGeom prst="rect">
            <a:avLst/>
          </a:prstGeom>
          <a:noFill/>
          <a:ln/>
        </p:spPr>
        <p:txBody>
          <a:bodyPr wrap="square" lIns="0" tIns="0" rIns="0" bIns="0" rtlCol="0" anchor="t"/>
          <a:lstStyle/>
          <a:p>
            <a:pPr marL="0" indent="0">
              <a:lnSpc>
                <a:spcPts val="3800"/>
              </a:lnSpc>
              <a:buNone/>
            </a:pPr>
            <a:r>
              <a:rPr lang="en-US" sz="3600" dirty="0">
                <a:solidFill>
                  <a:srgbClr val="F2F4F7"/>
                </a:solidFill>
                <a:latin typeface="Barlow Condensed" pitchFamily="34" charset="0"/>
                <a:ea typeface="Barlow Condensed" pitchFamily="34" charset="-122"/>
                <a:cs typeface="Barlow Condensed" pitchFamily="34" charset="-120"/>
              </a:rPr>
              <a:t>One missing layer explains both halves</a:t>
            </a:r>
            <a:endParaRPr lang="en-US" sz="3600" dirty="0"/>
          </a:p>
        </p:txBody>
      </p:sp>
      <p:sp>
        <p:nvSpPr>
          <p:cNvPr id="4" name="Shape 2"/>
          <p:cNvSpPr/>
          <p:nvPr/>
        </p:nvSpPr>
        <p:spPr>
          <a:xfrm>
            <a:off x="713232" y="1920240"/>
            <a:ext cx="5245456" cy="1481328"/>
          </a:xfrm>
          <a:prstGeom prst="roundRect">
            <a:avLst>
              <a:gd name="adj" fmla="val 2469"/>
            </a:avLst>
          </a:prstGeom>
          <a:solidFill>
            <a:srgbClr val="171A20"/>
          </a:solidFill>
          <a:ln w="9525">
            <a:solidFill>
              <a:srgbClr val="262C35"/>
            </a:solidFill>
            <a:prstDash val="solid"/>
          </a:ln>
        </p:spPr>
      </p:sp>
      <p:sp>
        <p:nvSpPr>
          <p:cNvPr id="5" name="Text 3"/>
          <p:cNvSpPr txBox="1"/>
          <p:nvPr/>
        </p:nvSpPr>
        <p:spPr>
          <a:xfrm>
            <a:off x="969264" y="2121408"/>
            <a:ext cx="4733392" cy="237744"/>
          </a:xfrm>
          <a:prstGeom prst="rect">
            <a:avLst/>
          </a:prstGeom>
          <a:noFill/>
          <a:ln/>
        </p:spPr>
        <p:txBody>
          <a:bodyPr wrap="square" lIns="0" tIns="0" rIns="0" bIns="0" rtlCol="0" anchor="t"/>
          <a:lstStyle/>
          <a:p>
            <a:pPr marL="0" indent="0">
              <a:buNone/>
            </a:pPr>
            <a:r>
              <a:rPr lang="en-US" sz="1250" kern="0" spc="260" dirty="0">
                <a:solidFill>
                  <a:srgbClr val="828C9A"/>
                </a:solidFill>
                <a:latin typeface="Barlow Condensed" pitchFamily="34" charset="0"/>
                <a:ea typeface="Barlow Condensed" pitchFamily="34" charset="-122"/>
                <a:cs typeface="Barlow Condensed" pitchFamily="34" charset="-120"/>
              </a:rPr>
              <a:t>IN A POPULAR SPORT</a:t>
            </a:r>
            <a:endParaRPr lang="en-US" sz="1250" dirty="0"/>
          </a:p>
        </p:txBody>
      </p:sp>
      <p:sp>
        <p:nvSpPr>
          <p:cNvPr id="6" name="Text 4"/>
          <p:cNvSpPr txBox="1"/>
          <p:nvPr/>
        </p:nvSpPr>
        <p:spPr>
          <a:xfrm>
            <a:off x="969264" y="2395728"/>
            <a:ext cx="4733392" cy="914400"/>
          </a:xfrm>
          <a:prstGeom prst="rect">
            <a:avLst/>
          </a:prstGeom>
          <a:noFill/>
          <a:ln/>
        </p:spPr>
        <p:txBody>
          <a:bodyPr wrap="square" lIns="0" tIns="0" rIns="0" bIns="0" rtlCol="0" anchor="t"/>
          <a:lstStyle/>
          <a:p>
            <a:pPr marL="0" indent="0">
              <a:lnSpc>
                <a:spcPts val="2300"/>
              </a:lnSpc>
              <a:buNone/>
            </a:pPr>
            <a:r>
              <a:rPr lang="en-US" sz="1600" dirty="0">
                <a:solidFill>
                  <a:srgbClr val="AEB6C2"/>
                </a:solidFill>
                <a:latin typeface="Barlow" pitchFamily="34" charset="0"/>
                <a:ea typeface="Barlow" pitchFamily="34" charset="-122"/>
                <a:cs typeface="Barlow" pitchFamily="34" charset="-120"/>
              </a:rPr>
              <a:t>An agent introduces the athlete and vouches for the audience. Ten to twenty per cent, and the brand gets a number it can defend.</a:t>
            </a:r>
            <a:endParaRPr lang="en-US" sz="1600" dirty="0"/>
          </a:p>
        </p:txBody>
      </p:sp>
      <p:sp>
        <p:nvSpPr>
          <p:cNvPr id="7" name="Shape 5"/>
          <p:cNvSpPr/>
          <p:nvPr/>
        </p:nvSpPr>
        <p:spPr>
          <a:xfrm>
            <a:off x="6233008" y="1920240"/>
            <a:ext cx="5245456" cy="1481328"/>
          </a:xfrm>
          <a:prstGeom prst="roundRect">
            <a:avLst>
              <a:gd name="adj" fmla="val 2469"/>
            </a:avLst>
          </a:prstGeom>
          <a:solidFill>
            <a:srgbClr val="1F242C"/>
          </a:solidFill>
          <a:ln w="9525">
            <a:solidFill>
              <a:srgbClr val="262C35"/>
            </a:solidFill>
            <a:prstDash val="solid"/>
          </a:ln>
        </p:spPr>
      </p:sp>
      <p:sp>
        <p:nvSpPr>
          <p:cNvPr id="8" name="Text 6"/>
          <p:cNvSpPr txBox="1"/>
          <p:nvPr/>
        </p:nvSpPr>
        <p:spPr>
          <a:xfrm>
            <a:off x="6489040" y="2121408"/>
            <a:ext cx="4733392" cy="237744"/>
          </a:xfrm>
          <a:prstGeom prst="rect">
            <a:avLst/>
          </a:prstGeom>
          <a:noFill/>
          <a:ln/>
        </p:spPr>
        <p:txBody>
          <a:bodyPr wrap="square" lIns="0" tIns="0" rIns="0" bIns="0" rtlCol="0" anchor="t"/>
          <a:lstStyle/>
          <a:p>
            <a:pPr marL="0" indent="0">
              <a:buNone/>
            </a:pPr>
            <a:r>
              <a:rPr lang="en-US" sz="1250" kern="0" spc="260" dirty="0">
                <a:solidFill>
                  <a:srgbClr val="828C9A"/>
                </a:solidFill>
                <a:latin typeface="Barlow Condensed" pitchFamily="34" charset="0"/>
                <a:ea typeface="Barlow Condensed" pitchFamily="34" charset="-122"/>
                <a:cs typeface="Barlow Condensed" pitchFamily="34" charset="-120"/>
              </a:rPr>
              <a:t>IN A NICHE SPORT</a:t>
            </a:r>
            <a:endParaRPr lang="en-US" sz="1250" dirty="0"/>
          </a:p>
        </p:txBody>
      </p:sp>
      <p:sp>
        <p:nvSpPr>
          <p:cNvPr id="9" name="Text 7"/>
          <p:cNvSpPr txBox="1"/>
          <p:nvPr/>
        </p:nvSpPr>
        <p:spPr>
          <a:xfrm>
            <a:off x="6489040" y="2395728"/>
            <a:ext cx="4733392" cy="914400"/>
          </a:xfrm>
          <a:prstGeom prst="rect">
            <a:avLst/>
          </a:prstGeom>
          <a:noFill/>
          <a:ln/>
        </p:spPr>
        <p:txBody>
          <a:bodyPr wrap="square" lIns="0" tIns="0" rIns="0" bIns="0" rtlCol="0" anchor="t"/>
          <a:lstStyle/>
          <a:p>
            <a:pPr marL="0" indent="0">
              <a:lnSpc>
                <a:spcPts val="2300"/>
              </a:lnSpc>
              <a:buNone/>
            </a:pPr>
            <a:r>
              <a:rPr lang="en-US" sz="1600" dirty="0">
                <a:solidFill>
                  <a:srgbClr val="FFB020"/>
                </a:solidFill>
                <a:latin typeface="Barlow" pitchFamily="34" charset="0"/>
                <a:ea typeface="Barlow" pitchFamily="34" charset="-122"/>
                <a:cs typeface="Barlow" pitchFamily="34" charset="-120"/>
              </a:rPr>
              <a:t>There is no agent. The athlete's alternative is not a worse deal, it is no deal. The brand's alternative is a guess.</a:t>
            </a:r>
            <a:endParaRPr lang="en-US" sz="1600" dirty="0"/>
          </a:p>
        </p:txBody>
      </p:sp>
      <p:sp>
        <p:nvSpPr>
          <p:cNvPr id="10" name="Text 8"/>
          <p:cNvSpPr txBox="1"/>
          <p:nvPr/>
        </p:nvSpPr>
        <p:spPr>
          <a:xfrm>
            <a:off x="713232" y="3657600"/>
            <a:ext cx="10765231" cy="237744"/>
          </a:xfrm>
          <a:prstGeom prst="rect">
            <a:avLst/>
          </a:prstGeom>
          <a:noFill/>
          <a:ln/>
        </p:spPr>
        <p:txBody>
          <a:bodyPr wrap="square" lIns="0" tIns="0" rIns="0" bIns="0" rtlCol="0" anchor="t"/>
          <a:lstStyle/>
          <a:p>
            <a:pPr marL="0" indent="0">
              <a:buNone/>
            </a:pPr>
            <a:r>
              <a:rPr lang="en-US" sz="1200" kern="0" spc="280" dirty="0">
                <a:solidFill>
                  <a:srgbClr val="828C9A"/>
                </a:solidFill>
                <a:latin typeface="Barlow Condensed" pitchFamily="34" charset="0"/>
                <a:ea typeface="Barlow Condensed" pitchFamily="34" charset="-122"/>
                <a:cs typeface="Barlow Condensed" pitchFamily="34" charset="-120"/>
              </a:rPr>
              <a:t>AND THAT ABSENCE FEEDS ITSELF</a:t>
            </a:r>
            <a:endParaRPr lang="en-US" sz="1200" dirty="0"/>
          </a:p>
        </p:txBody>
      </p:sp>
      <p:sp>
        <p:nvSpPr>
          <p:cNvPr id="11" name="Shape 9"/>
          <p:cNvSpPr/>
          <p:nvPr/>
        </p:nvSpPr>
        <p:spPr>
          <a:xfrm>
            <a:off x="713232" y="3968496"/>
            <a:ext cx="3192170" cy="841248"/>
          </a:xfrm>
          <a:prstGeom prst="roundRect">
            <a:avLst>
              <a:gd name="adj" fmla="val 4348"/>
            </a:avLst>
          </a:prstGeom>
          <a:solidFill>
            <a:srgbClr val="171A20"/>
          </a:solidFill>
          <a:ln w="9525">
            <a:solidFill>
              <a:srgbClr val="262C35"/>
            </a:solidFill>
            <a:prstDash val="solid"/>
          </a:ln>
        </p:spPr>
      </p:sp>
      <p:sp>
        <p:nvSpPr>
          <p:cNvPr id="12" name="Text 10"/>
          <p:cNvSpPr txBox="1"/>
          <p:nvPr/>
        </p:nvSpPr>
        <p:spPr>
          <a:xfrm>
            <a:off x="932688" y="4114800"/>
            <a:ext cx="457200" cy="274320"/>
          </a:xfrm>
          <a:prstGeom prst="rect">
            <a:avLst/>
          </a:prstGeom>
          <a:noFill/>
          <a:ln/>
        </p:spPr>
        <p:txBody>
          <a:bodyPr wrap="square" lIns="0" tIns="0" rIns="0" bIns="0" rtlCol="0" anchor="t"/>
          <a:lstStyle/>
          <a:p>
            <a:pPr marL="0" indent="0">
              <a:buNone/>
            </a:pPr>
            <a:r>
              <a:rPr lang="en-US" sz="1500" dirty="0">
                <a:solidFill>
                  <a:srgbClr val="FFB020"/>
                </a:solidFill>
                <a:latin typeface="Barlow Condensed" pitchFamily="34" charset="0"/>
                <a:ea typeface="Barlow Condensed" pitchFamily="34" charset="-122"/>
                <a:cs typeface="Barlow Condensed" pitchFamily="34" charset="-120"/>
              </a:rPr>
              <a:t>01</a:t>
            </a:r>
            <a:endParaRPr lang="en-US" sz="1500" dirty="0"/>
          </a:p>
        </p:txBody>
      </p:sp>
      <p:sp>
        <p:nvSpPr>
          <p:cNvPr id="13" name="Text 11"/>
          <p:cNvSpPr txBox="1"/>
          <p:nvPr/>
        </p:nvSpPr>
        <p:spPr>
          <a:xfrm>
            <a:off x="1389888" y="4114800"/>
            <a:ext cx="2277770" cy="566928"/>
          </a:xfrm>
          <a:prstGeom prst="rect">
            <a:avLst/>
          </a:prstGeom>
          <a:noFill/>
          <a:ln/>
        </p:spPr>
        <p:txBody>
          <a:bodyPr wrap="square" lIns="0" tIns="0" rIns="0" bIns="0" rtlCol="0" anchor="t"/>
          <a:lstStyle/>
          <a:p>
            <a:pPr marL="0" indent="0">
              <a:lnSpc>
                <a:spcPts val="1700"/>
              </a:lnSpc>
              <a:buNone/>
            </a:pPr>
            <a:r>
              <a:rPr lang="en-US" sz="1300" dirty="0">
                <a:solidFill>
                  <a:srgbClr val="F2F4F7"/>
                </a:solidFill>
                <a:latin typeface="Barlow" pitchFamily="34" charset="0"/>
                <a:ea typeface="Barlow" pitchFamily="34" charset="-122"/>
                <a:cs typeface="Barlow" pitchFamily="34" charset="-120"/>
              </a:rPr>
              <a:t>No route from audience to income</a:t>
            </a:r>
            <a:endParaRPr lang="en-US" sz="1300" dirty="0"/>
          </a:p>
        </p:txBody>
      </p:sp>
      <p:sp>
        <p:nvSpPr>
          <p:cNvPr id="14" name="Text 12"/>
          <p:cNvSpPr txBox="1"/>
          <p:nvPr/>
        </p:nvSpPr>
        <p:spPr>
          <a:xfrm>
            <a:off x="4015130" y="4169664"/>
            <a:ext cx="384048" cy="457200"/>
          </a:xfrm>
          <a:prstGeom prst="rect">
            <a:avLst/>
          </a:prstGeom>
          <a:noFill/>
          <a:ln/>
        </p:spPr>
        <p:txBody>
          <a:bodyPr wrap="square" lIns="0" tIns="0" rIns="0" bIns="0" rtlCol="0" anchor="t"/>
          <a:lstStyle/>
          <a:p>
            <a:pPr marL="0" indent="0" algn="ctr">
              <a:buNone/>
            </a:pPr>
            <a:r>
              <a:rPr lang="en-US" sz="2600" dirty="0">
                <a:solidFill>
                  <a:srgbClr val="828C9A"/>
                </a:solidFill>
                <a:latin typeface="Barlow Condensed" pitchFamily="34" charset="0"/>
                <a:ea typeface="Barlow Condensed" pitchFamily="34" charset="-122"/>
                <a:cs typeface="Barlow Condensed" pitchFamily="34" charset="-120"/>
              </a:rPr>
              <a:t>›</a:t>
            </a:r>
            <a:endParaRPr lang="en-US" sz="2600" dirty="0"/>
          </a:p>
        </p:txBody>
      </p:sp>
      <p:sp>
        <p:nvSpPr>
          <p:cNvPr id="15" name="Shape 13"/>
          <p:cNvSpPr/>
          <p:nvPr/>
        </p:nvSpPr>
        <p:spPr>
          <a:xfrm>
            <a:off x="4499762" y="3968496"/>
            <a:ext cx="3192170" cy="841248"/>
          </a:xfrm>
          <a:prstGeom prst="roundRect">
            <a:avLst>
              <a:gd name="adj" fmla="val 4348"/>
            </a:avLst>
          </a:prstGeom>
          <a:solidFill>
            <a:srgbClr val="171A20"/>
          </a:solidFill>
          <a:ln w="9525">
            <a:solidFill>
              <a:srgbClr val="262C35"/>
            </a:solidFill>
            <a:prstDash val="solid"/>
          </a:ln>
        </p:spPr>
      </p:sp>
      <p:sp>
        <p:nvSpPr>
          <p:cNvPr id="16" name="Text 14"/>
          <p:cNvSpPr txBox="1"/>
          <p:nvPr/>
        </p:nvSpPr>
        <p:spPr>
          <a:xfrm>
            <a:off x="4719218" y="4114800"/>
            <a:ext cx="457200" cy="274320"/>
          </a:xfrm>
          <a:prstGeom prst="rect">
            <a:avLst/>
          </a:prstGeom>
          <a:noFill/>
          <a:ln/>
        </p:spPr>
        <p:txBody>
          <a:bodyPr wrap="square" lIns="0" tIns="0" rIns="0" bIns="0" rtlCol="0" anchor="t"/>
          <a:lstStyle/>
          <a:p>
            <a:pPr marL="0" indent="0">
              <a:buNone/>
            </a:pPr>
            <a:r>
              <a:rPr lang="en-US" sz="1500" dirty="0">
                <a:solidFill>
                  <a:srgbClr val="FFB020"/>
                </a:solidFill>
                <a:latin typeface="Barlow Condensed" pitchFamily="34" charset="0"/>
                <a:ea typeface="Barlow Condensed" pitchFamily="34" charset="-122"/>
                <a:cs typeface="Barlow Condensed" pitchFamily="34" charset="-120"/>
              </a:rPr>
              <a:t>02</a:t>
            </a:r>
            <a:endParaRPr lang="en-US" sz="1500" dirty="0"/>
          </a:p>
        </p:txBody>
      </p:sp>
      <p:sp>
        <p:nvSpPr>
          <p:cNvPr id="17" name="Text 15"/>
          <p:cNvSpPr txBox="1"/>
          <p:nvPr/>
        </p:nvSpPr>
        <p:spPr>
          <a:xfrm>
            <a:off x="5176418" y="4114800"/>
            <a:ext cx="2277770" cy="566928"/>
          </a:xfrm>
          <a:prstGeom prst="rect">
            <a:avLst/>
          </a:prstGeom>
          <a:noFill/>
          <a:ln/>
        </p:spPr>
        <p:txBody>
          <a:bodyPr wrap="square" lIns="0" tIns="0" rIns="0" bIns="0" rtlCol="0" anchor="t"/>
          <a:lstStyle/>
          <a:p>
            <a:pPr marL="0" indent="0">
              <a:lnSpc>
                <a:spcPts val="1700"/>
              </a:lnSpc>
              <a:buNone/>
            </a:pPr>
            <a:r>
              <a:rPr lang="en-US" sz="1300" dirty="0">
                <a:solidFill>
                  <a:srgbClr val="F2F4F7"/>
                </a:solidFill>
                <a:latin typeface="Barlow" pitchFamily="34" charset="0"/>
                <a:ea typeface="Barlow" pitchFamily="34" charset="-122"/>
                <a:cs typeface="Barlow" pitchFamily="34" charset="-120"/>
              </a:rPr>
              <a:t>So no reason to build an audience</a:t>
            </a:r>
            <a:endParaRPr lang="en-US" sz="1300" dirty="0"/>
          </a:p>
        </p:txBody>
      </p:sp>
      <p:sp>
        <p:nvSpPr>
          <p:cNvPr id="18" name="Text 16"/>
          <p:cNvSpPr txBox="1"/>
          <p:nvPr/>
        </p:nvSpPr>
        <p:spPr>
          <a:xfrm>
            <a:off x="7801661" y="4169664"/>
            <a:ext cx="384048" cy="457200"/>
          </a:xfrm>
          <a:prstGeom prst="rect">
            <a:avLst/>
          </a:prstGeom>
          <a:noFill/>
          <a:ln/>
        </p:spPr>
        <p:txBody>
          <a:bodyPr wrap="square" lIns="0" tIns="0" rIns="0" bIns="0" rtlCol="0" anchor="t"/>
          <a:lstStyle/>
          <a:p>
            <a:pPr marL="0" indent="0" algn="ctr">
              <a:buNone/>
            </a:pPr>
            <a:r>
              <a:rPr lang="en-US" sz="2600" dirty="0">
                <a:solidFill>
                  <a:srgbClr val="828C9A"/>
                </a:solidFill>
                <a:latin typeface="Barlow Condensed" pitchFamily="34" charset="0"/>
                <a:ea typeface="Barlow Condensed" pitchFamily="34" charset="-122"/>
                <a:cs typeface="Barlow Condensed" pitchFamily="34" charset="-120"/>
              </a:rPr>
              <a:t>›</a:t>
            </a:r>
            <a:endParaRPr lang="en-US" sz="2600" dirty="0"/>
          </a:p>
        </p:txBody>
      </p:sp>
      <p:sp>
        <p:nvSpPr>
          <p:cNvPr id="19" name="Shape 17"/>
          <p:cNvSpPr/>
          <p:nvPr/>
        </p:nvSpPr>
        <p:spPr>
          <a:xfrm>
            <a:off x="8286293" y="3968496"/>
            <a:ext cx="3192170" cy="841248"/>
          </a:xfrm>
          <a:prstGeom prst="roundRect">
            <a:avLst>
              <a:gd name="adj" fmla="val 4348"/>
            </a:avLst>
          </a:prstGeom>
          <a:solidFill>
            <a:srgbClr val="171A20"/>
          </a:solidFill>
          <a:ln w="9525">
            <a:solidFill>
              <a:srgbClr val="262C35"/>
            </a:solidFill>
            <a:prstDash val="solid"/>
          </a:ln>
        </p:spPr>
      </p:sp>
      <p:sp>
        <p:nvSpPr>
          <p:cNvPr id="20" name="Text 18"/>
          <p:cNvSpPr txBox="1"/>
          <p:nvPr/>
        </p:nvSpPr>
        <p:spPr>
          <a:xfrm>
            <a:off x="8505749" y="4114800"/>
            <a:ext cx="457200" cy="274320"/>
          </a:xfrm>
          <a:prstGeom prst="rect">
            <a:avLst/>
          </a:prstGeom>
          <a:noFill/>
          <a:ln/>
        </p:spPr>
        <p:txBody>
          <a:bodyPr wrap="square" lIns="0" tIns="0" rIns="0" bIns="0" rtlCol="0" anchor="t"/>
          <a:lstStyle/>
          <a:p>
            <a:pPr marL="0" indent="0">
              <a:buNone/>
            </a:pPr>
            <a:r>
              <a:rPr lang="en-US" sz="1500" dirty="0">
                <a:solidFill>
                  <a:srgbClr val="FFB020"/>
                </a:solidFill>
                <a:latin typeface="Barlow Condensed" pitchFamily="34" charset="0"/>
                <a:ea typeface="Barlow Condensed" pitchFamily="34" charset="-122"/>
                <a:cs typeface="Barlow Condensed" pitchFamily="34" charset="-120"/>
              </a:rPr>
              <a:t>03</a:t>
            </a:r>
            <a:endParaRPr lang="en-US" sz="1500" dirty="0"/>
          </a:p>
        </p:txBody>
      </p:sp>
      <p:sp>
        <p:nvSpPr>
          <p:cNvPr id="21" name="Text 19"/>
          <p:cNvSpPr txBox="1"/>
          <p:nvPr/>
        </p:nvSpPr>
        <p:spPr>
          <a:xfrm>
            <a:off x="8962949" y="4114800"/>
            <a:ext cx="2277770" cy="566928"/>
          </a:xfrm>
          <a:prstGeom prst="rect">
            <a:avLst/>
          </a:prstGeom>
          <a:noFill/>
          <a:ln/>
        </p:spPr>
        <p:txBody>
          <a:bodyPr wrap="square" lIns="0" tIns="0" rIns="0" bIns="0" rtlCol="0" anchor="t"/>
          <a:lstStyle/>
          <a:p>
            <a:pPr marL="0" indent="0">
              <a:lnSpc>
                <a:spcPts val="1700"/>
              </a:lnSpc>
              <a:buNone/>
            </a:pPr>
            <a:r>
              <a:rPr lang="en-US" sz="1300" dirty="0">
                <a:solidFill>
                  <a:srgbClr val="F2F4F7"/>
                </a:solidFill>
                <a:latin typeface="Barlow" pitchFamily="34" charset="0"/>
                <a:ea typeface="Barlow" pitchFamily="34" charset="-122"/>
                <a:cs typeface="Barlow" pitchFamily="34" charset="-120"/>
              </a:rPr>
              <a:t>So the market measures smaller than it is</a:t>
            </a:r>
            <a:endParaRPr lang="en-US" sz="1300" dirty="0"/>
          </a:p>
        </p:txBody>
      </p:sp>
      <p:sp>
        <p:nvSpPr>
          <p:cNvPr id="22" name="Text 20"/>
          <p:cNvSpPr txBox="1"/>
          <p:nvPr/>
        </p:nvSpPr>
        <p:spPr>
          <a:xfrm>
            <a:off x="713232" y="4956048"/>
            <a:ext cx="10765231" cy="768096"/>
          </a:xfrm>
          <a:prstGeom prst="rect">
            <a:avLst/>
          </a:prstGeom>
          <a:noFill/>
          <a:ln/>
        </p:spPr>
        <p:txBody>
          <a:bodyPr wrap="square" lIns="0" tIns="0" rIns="0" bIns="0" rtlCol="0" anchor="t"/>
          <a:lstStyle/>
          <a:p>
            <a:pPr marL="0" indent="0">
              <a:lnSpc>
                <a:spcPts val="1900"/>
              </a:lnSpc>
              <a:buNone/>
            </a:pPr>
            <a:r>
              <a:rPr lang="en-US" sz="1400" dirty="0">
                <a:solidFill>
                  <a:srgbClr val="AEB6C2"/>
                </a:solidFill>
                <a:latin typeface="Barlow" pitchFamily="34" charset="0"/>
                <a:ea typeface="Barlow" pitchFamily="34" charset="-122"/>
                <a:cs typeface="Barlow" pitchFamily="34" charset="-120"/>
              </a:rPr>
              <a:t>An agent introduces, and an agent vouches. Below the professional tier neither function exists: no route to income on one side, no basis for a decision on the other. So the market is sized under the incentives that suppress it, and the honest error direction is understatement.</a:t>
            </a:r>
            <a:endParaRPr lang="en-US" sz="140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THE PRODUCT</a:t>
            </a:r>
            <a:endParaRPr lang="en-US" sz="1250" dirty="0"/>
          </a:p>
        </p:txBody>
      </p:sp>
      <p:sp>
        <p:nvSpPr>
          <p:cNvPr id="3" name="Text 1"/>
          <p:cNvSpPr txBox="1"/>
          <p:nvPr/>
        </p:nvSpPr>
        <p:spPr>
          <a:xfrm>
            <a:off x="713232" y="786384"/>
            <a:ext cx="10765231" cy="868680"/>
          </a:xfrm>
          <a:prstGeom prst="rect">
            <a:avLst/>
          </a:prstGeom>
          <a:noFill/>
          <a:ln/>
        </p:spPr>
        <p:txBody>
          <a:bodyPr wrap="square" lIns="0" tIns="0" rIns="0" bIns="0" rtlCol="0" anchor="t"/>
          <a:lstStyle/>
          <a:p>
            <a:pPr marL="0" indent="0">
              <a:lnSpc>
                <a:spcPts val="3800"/>
              </a:lnSpc>
              <a:buNone/>
            </a:pPr>
            <a:r>
              <a:rPr lang="en-US" sz="3600" dirty="0">
                <a:solidFill>
                  <a:srgbClr val="F2F4F7"/>
                </a:solidFill>
                <a:latin typeface="Barlow Condensed" pitchFamily="34" charset="0"/>
                <a:ea typeface="Barlow Condensed" pitchFamily="34" charset="-122"/>
                <a:cs typeface="Barlow Condensed" pitchFamily="34" charset="-120"/>
              </a:rPr>
              <a:t>Two engines, and each one is the other's reason to exist</a:t>
            </a:r>
            <a:endParaRPr lang="en-US" sz="3600" dirty="0"/>
          </a:p>
        </p:txBody>
      </p:sp>
      <p:sp>
        <p:nvSpPr>
          <p:cNvPr id="4" name="Shape 2"/>
          <p:cNvSpPr/>
          <p:nvPr/>
        </p:nvSpPr>
        <p:spPr>
          <a:xfrm>
            <a:off x="713232" y="1920240"/>
            <a:ext cx="5199736" cy="2743200"/>
          </a:xfrm>
          <a:prstGeom prst="roundRect">
            <a:avLst>
              <a:gd name="adj" fmla="val 1333"/>
            </a:avLst>
          </a:prstGeom>
          <a:solidFill>
            <a:srgbClr val="171A20"/>
          </a:solidFill>
          <a:ln w="9525">
            <a:solidFill>
              <a:srgbClr val="262C35"/>
            </a:solidFill>
            <a:prstDash val="solid"/>
          </a:ln>
        </p:spPr>
      </p:sp>
      <p:sp>
        <p:nvSpPr>
          <p:cNvPr id="5" name="Text 3"/>
          <p:cNvSpPr txBox="1"/>
          <p:nvPr/>
        </p:nvSpPr>
        <p:spPr>
          <a:xfrm>
            <a:off x="1005840" y="2121408"/>
            <a:ext cx="4614520" cy="219456"/>
          </a:xfrm>
          <a:prstGeom prst="rect">
            <a:avLst/>
          </a:prstGeom>
          <a:noFill/>
          <a:ln/>
        </p:spPr>
        <p:txBody>
          <a:bodyPr wrap="square" lIns="0" tIns="0" rIns="0" bIns="0" rtlCol="0" anchor="t"/>
          <a:lstStyle/>
          <a:p>
            <a:pPr marL="0" indent="0">
              <a:buNone/>
            </a:pPr>
            <a:r>
              <a:rPr lang="en-US" sz="1100" kern="0" spc="280" dirty="0">
                <a:solidFill>
                  <a:srgbClr val="828C9A"/>
                </a:solidFill>
                <a:latin typeface="Barlow Condensed" pitchFamily="34" charset="0"/>
                <a:ea typeface="Barlow Condensed" pitchFamily="34" charset="-122"/>
                <a:cs typeface="Barlow Condensed" pitchFamily="34" charset="-120"/>
              </a:rPr>
              <a:t>ENGINE ONE</a:t>
            </a:r>
            <a:endParaRPr lang="en-US" sz="1100" dirty="0"/>
          </a:p>
        </p:txBody>
      </p:sp>
      <p:sp>
        <p:nvSpPr>
          <p:cNvPr id="6" name="Text 4"/>
          <p:cNvSpPr txBox="1"/>
          <p:nvPr/>
        </p:nvSpPr>
        <p:spPr>
          <a:xfrm>
            <a:off x="1005840" y="2377440"/>
            <a:ext cx="4614520" cy="512064"/>
          </a:xfrm>
          <a:prstGeom prst="rect">
            <a:avLst/>
          </a:prstGeom>
          <a:noFill/>
          <a:ln/>
        </p:spPr>
        <p:txBody>
          <a:bodyPr wrap="square" lIns="0" tIns="0" rIns="0" bIns="0" rtlCol="0" anchor="t"/>
          <a:lstStyle/>
          <a:p>
            <a:pPr marL="0" indent="0">
              <a:lnSpc>
                <a:spcPts val="3200"/>
              </a:lnSpc>
              <a:buNone/>
            </a:pPr>
            <a:r>
              <a:rPr lang="en-US" sz="3000" dirty="0">
                <a:solidFill>
                  <a:srgbClr val="1FBD85"/>
                </a:solidFill>
                <a:latin typeface="Barlow Condensed" pitchFamily="34" charset="0"/>
                <a:ea typeface="Barlow Condensed" pitchFamily="34" charset="-122"/>
                <a:cs typeface="Barlow Condensed" pitchFamily="34" charset="-120"/>
              </a:rPr>
              <a:t>Monetisation</a:t>
            </a:r>
            <a:endParaRPr lang="en-US" sz="3000" dirty="0"/>
          </a:p>
        </p:txBody>
      </p:sp>
      <p:sp>
        <p:nvSpPr>
          <p:cNvPr id="7" name="Text 5"/>
          <p:cNvSpPr txBox="1"/>
          <p:nvPr/>
        </p:nvSpPr>
        <p:spPr>
          <a:xfrm>
            <a:off x="1005840" y="2852928"/>
            <a:ext cx="4614520" cy="219456"/>
          </a:xfrm>
          <a:prstGeom prst="rect">
            <a:avLst/>
          </a:prstGeom>
          <a:noFill/>
          <a:ln/>
        </p:spPr>
        <p:txBody>
          <a:bodyPr wrap="square" lIns="0" tIns="0" rIns="0" bIns="0" rtlCol="0" anchor="t"/>
          <a:lstStyle/>
          <a:p>
            <a:pPr marL="0" indent="0">
              <a:buNone/>
            </a:pPr>
            <a:r>
              <a:rPr lang="en-US" sz="1150" kern="0" spc="220" dirty="0">
                <a:solidFill>
                  <a:srgbClr val="828C9A"/>
                </a:solidFill>
                <a:latin typeface="Barlow Condensed" pitchFamily="34" charset="0"/>
                <a:ea typeface="Barlow Condensed" pitchFamily="34" charset="-122"/>
                <a:cs typeface="Barlow Condensed" pitchFamily="34" charset="-120"/>
              </a:rPr>
              <a:t>ATHLETE AND FAN</a:t>
            </a:r>
            <a:endParaRPr lang="en-US" sz="1150" dirty="0"/>
          </a:p>
        </p:txBody>
      </p:sp>
      <p:sp>
        <p:nvSpPr>
          <p:cNvPr id="8" name="Text 6"/>
          <p:cNvSpPr txBox="1"/>
          <p:nvPr/>
        </p:nvSpPr>
        <p:spPr>
          <a:xfrm>
            <a:off x="1005840" y="3163824"/>
            <a:ext cx="4614520" cy="868680"/>
          </a:xfrm>
          <a:prstGeom prst="rect">
            <a:avLst/>
          </a:prstGeom>
          <a:noFill/>
          <a:ln/>
        </p:spPr>
        <p:txBody>
          <a:bodyPr wrap="square" lIns="0" tIns="0" rIns="0" bIns="0" rtlCol="0" anchor="t"/>
          <a:lstStyle/>
          <a:p>
            <a:pPr marL="0" indent="0">
              <a:lnSpc>
                <a:spcPts val="1900"/>
              </a:lnSpc>
              <a:buNone/>
            </a:pPr>
            <a:r>
              <a:rPr lang="en-US" sz="1350" dirty="0">
                <a:solidFill>
                  <a:srgbClr val="AEB6C2"/>
                </a:solidFill>
                <a:latin typeface="Barlow" pitchFamily="34" charset="0"/>
                <a:ea typeface="Barlow" pitchFamily="34" charset="-122"/>
                <a:cs typeface="Barlow" pitchFamily="34" charset="-120"/>
              </a:rPr>
              <a:t>The athlete's own page, with paid fan tiers they price themselves. They keep 85% and pay nothing to be there. Self serve, with no sales touch per subscriber.</a:t>
            </a:r>
            <a:endParaRPr lang="en-US" sz="1350" dirty="0"/>
          </a:p>
        </p:txBody>
      </p:sp>
      <p:sp>
        <p:nvSpPr>
          <p:cNvPr id="9" name="Shape 7"/>
          <p:cNvSpPr/>
          <p:nvPr/>
        </p:nvSpPr>
        <p:spPr>
          <a:xfrm>
            <a:off x="1005840" y="4114800"/>
            <a:ext cx="4614520" cy="12802"/>
          </a:xfrm>
          <a:prstGeom prst="rect">
            <a:avLst/>
          </a:prstGeom>
          <a:solidFill>
            <a:srgbClr val="262C35"/>
          </a:solidFill>
          <a:ln w="12700">
            <a:solidFill>
              <a:srgbClr val="333333"/>
            </a:solidFill>
            <a:prstDash val="solid"/>
          </a:ln>
        </p:spPr>
      </p:sp>
      <p:sp>
        <p:nvSpPr>
          <p:cNvPr id="10" name="Text 8"/>
          <p:cNvSpPr txBox="1"/>
          <p:nvPr/>
        </p:nvSpPr>
        <p:spPr>
          <a:xfrm>
            <a:off x="1005840" y="4242816"/>
            <a:ext cx="4614520" cy="310896"/>
          </a:xfrm>
          <a:prstGeom prst="rect">
            <a:avLst/>
          </a:prstGeom>
          <a:noFill/>
          <a:ln/>
        </p:spPr>
        <p:txBody>
          <a:bodyPr wrap="square" lIns="0" tIns="0" rIns="0" bIns="0" rtlCol="0" anchor="t"/>
          <a:lstStyle/>
          <a:p>
            <a:pPr marL="0" indent="0">
              <a:buNone/>
            </a:pPr>
            <a:r>
              <a:rPr lang="en-US" sz="1600" dirty="0">
                <a:solidFill>
                  <a:srgbClr val="F2F4F7"/>
                </a:solidFill>
                <a:latin typeface="Barlow Condensed" pitchFamily="34" charset="0"/>
                <a:ea typeface="Barlow Condensed" pitchFamily="34" charset="-122"/>
                <a:cs typeface="Barlow Condensed" pitchFamily="34" charset="-120"/>
              </a:rPr>
              <a:t>15% of fan revenue</a:t>
            </a:r>
            <a:r>
              <a:rPr lang="en-US" sz="1200" dirty="0">
                <a:solidFill>
                  <a:srgbClr val="828C9A"/>
                </a:solidFill>
                <a:latin typeface="Barlow" pitchFamily="34" charset="0"/>
                <a:ea typeface="Barlow" pitchFamily="34" charset="-122"/>
                <a:cs typeface="Barlow" pitchFamily="34" charset="-120"/>
              </a:rPr>
              <a:t>   ·   48% of Y7</a:t>
            </a:r>
            <a:endParaRPr lang="en-US" sz="1600" dirty="0"/>
          </a:p>
        </p:txBody>
      </p:sp>
      <p:sp>
        <p:nvSpPr>
          <p:cNvPr id="11" name="Shape 9"/>
          <p:cNvSpPr/>
          <p:nvPr/>
        </p:nvSpPr>
        <p:spPr>
          <a:xfrm>
            <a:off x="6278728" y="1920240"/>
            <a:ext cx="5199736" cy="2743200"/>
          </a:xfrm>
          <a:prstGeom prst="roundRect">
            <a:avLst>
              <a:gd name="adj" fmla="val 1333"/>
            </a:avLst>
          </a:prstGeom>
          <a:solidFill>
            <a:srgbClr val="171A20"/>
          </a:solidFill>
          <a:ln w="9525">
            <a:solidFill>
              <a:srgbClr val="262C35"/>
            </a:solidFill>
            <a:prstDash val="solid"/>
          </a:ln>
        </p:spPr>
      </p:sp>
      <p:sp>
        <p:nvSpPr>
          <p:cNvPr id="12" name="Text 10"/>
          <p:cNvSpPr txBox="1"/>
          <p:nvPr/>
        </p:nvSpPr>
        <p:spPr>
          <a:xfrm>
            <a:off x="6571336" y="2121408"/>
            <a:ext cx="4614520" cy="219456"/>
          </a:xfrm>
          <a:prstGeom prst="rect">
            <a:avLst/>
          </a:prstGeom>
          <a:noFill/>
          <a:ln/>
        </p:spPr>
        <p:txBody>
          <a:bodyPr wrap="square" lIns="0" tIns="0" rIns="0" bIns="0" rtlCol="0" anchor="t"/>
          <a:lstStyle/>
          <a:p>
            <a:pPr marL="0" indent="0">
              <a:buNone/>
            </a:pPr>
            <a:r>
              <a:rPr lang="en-US" sz="1100" kern="0" spc="280" dirty="0">
                <a:solidFill>
                  <a:srgbClr val="828C9A"/>
                </a:solidFill>
                <a:latin typeface="Barlow Condensed" pitchFamily="34" charset="0"/>
                <a:ea typeface="Barlow Condensed" pitchFamily="34" charset="-122"/>
                <a:cs typeface="Barlow Condensed" pitchFamily="34" charset="-120"/>
              </a:rPr>
              <a:t>ENGINE TWO</a:t>
            </a:r>
            <a:endParaRPr lang="en-US" sz="1100" dirty="0"/>
          </a:p>
        </p:txBody>
      </p:sp>
      <p:sp>
        <p:nvSpPr>
          <p:cNvPr id="13" name="Text 11"/>
          <p:cNvSpPr txBox="1"/>
          <p:nvPr/>
        </p:nvSpPr>
        <p:spPr>
          <a:xfrm>
            <a:off x="6571336" y="2377440"/>
            <a:ext cx="4614520" cy="512064"/>
          </a:xfrm>
          <a:prstGeom prst="rect">
            <a:avLst/>
          </a:prstGeom>
          <a:noFill/>
          <a:ln/>
        </p:spPr>
        <p:txBody>
          <a:bodyPr wrap="square" lIns="0" tIns="0" rIns="0" bIns="0" rtlCol="0" anchor="t"/>
          <a:lstStyle/>
          <a:p>
            <a:pPr marL="0" indent="0">
              <a:lnSpc>
                <a:spcPts val="3200"/>
              </a:lnSpc>
              <a:buNone/>
            </a:pPr>
            <a:r>
              <a:rPr lang="en-US" sz="3000" dirty="0">
                <a:solidFill>
                  <a:srgbClr val="3B86E0"/>
                </a:solidFill>
                <a:latin typeface="Barlow Condensed" pitchFamily="34" charset="0"/>
                <a:ea typeface="Barlow Condensed" pitchFamily="34" charset="-122"/>
                <a:cs typeface="Barlow Condensed" pitchFamily="34" charset="-120"/>
              </a:rPr>
              <a:t>Analytics</a:t>
            </a:r>
            <a:endParaRPr lang="en-US" sz="3000" dirty="0"/>
          </a:p>
        </p:txBody>
      </p:sp>
      <p:sp>
        <p:nvSpPr>
          <p:cNvPr id="14" name="Text 12"/>
          <p:cNvSpPr txBox="1"/>
          <p:nvPr/>
        </p:nvSpPr>
        <p:spPr>
          <a:xfrm>
            <a:off x="6571336" y="2852928"/>
            <a:ext cx="4614520" cy="219456"/>
          </a:xfrm>
          <a:prstGeom prst="rect">
            <a:avLst/>
          </a:prstGeom>
          <a:noFill/>
          <a:ln/>
        </p:spPr>
        <p:txBody>
          <a:bodyPr wrap="square" lIns="0" tIns="0" rIns="0" bIns="0" rtlCol="0" anchor="t"/>
          <a:lstStyle/>
          <a:p>
            <a:pPr marL="0" indent="0">
              <a:buNone/>
            </a:pPr>
            <a:r>
              <a:rPr lang="en-US" sz="1150" kern="0" spc="220" dirty="0">
                <a:solidFill>
                  <a:srgbClr val="828C9A"/>
                </a:solidFill>
                <a:latin typeface="Barlow Condensed" pitchFamily="34" charset="0"/>
                <a:ea typeface="Barlow Condensed" pitchFamily="34" charset="-122"/>
                <a:cs typeface="Barlow Condensed" pitchFamily="34" charset="-120"/>
              </a:rPr>
              <a:t>SPONSOR</a:t>
            </a:r>
            <a:endParaRPr lang="en-US" sz="1150" dirty="0"/>
          </a:p>
        </p:txBody>
      </p:sp>
      <p:sp>
        <p:nvSpPr>
          <p:cNvPr id="15" name="Text 13"/>
          <p:cNvSpPr txBox="1"/>
          <p:nvPr/>
        </p:nvSpPr>
        <p:spPr>
          <a:xfrm>
            <a:off x="6571336" y="3163824"/>
            <a:ext cx="4614520" cy="868680"/>
          </a:xfrm>
          <a:prstGeom prst="rect">
            <a:avLst/>
          </a:prstGeom>
          <a:noFill/>
          <a:ln/>
        </p:spPr>
        <p:txBody>
          <a:bodyPr wrap="square" lIns="0" tIns="0" rIns="0" bIns="0" rtlCol="0" anchor="t"/>
          <a:lstStyle/>
          <a:p>
            <a:pPr marL="0" indent="0">
              <a:lnSpc>
                <a:spcPts val="1900"/>
              </a:lnSpc>
              <a:buNone/>
            </a:pPr>
            <a:r>
              <a:rPr lang="en-US" sz="1350" dirty="0">
                <a:solidFill>
                  <a:srgbClr val="AEB6C2"/>
                </a:solidFill>
                <a:latin typeface="Barlow" pitchFamily="34" charset="0"/>
                <a:ea typeface="Barlow" pitchFamily="34" charset="-122"/>
                <a:cs typeface="Barlow" pitchFamily="34" charset="-120"/>
              </a:rPr>
              <a:t>A campaign brief matched to athletes on measured audience evidence, every score decomposed into the arithmetic behind it, and delivery measured against what was projected.</a:t>
            </a:r>
            <a:endParaRPr lang="en-US" sz="1350" dirty="0"/>
          </a:p>
        </p:txBody>
      </p:sp>
      <p:sp>
        <p:nvSpPr>
          <p:cNvPr id="16" name="Shape 14"/>
          <p:cNvSpPr/>
          <p:nvPr/>
        </p:nvSpPr>
        <p:spPr>
          <a:xfrm>
            <a:off x="6571336" y="4114800"/>
            <a:ext cx="4614520" cy="12802"/>
          </a:xfrm>
          <a:prstGeom prst="rect">
            <a:avLst/>
          </a:prstGeom>
          <a:solidFill>
            <a:srgbClr val="262C35"/>
          </a:solidFill>
          <a:ln w="12700">
            <a:solidFill>
              <a:srgbClr val="333333"/>
            </a:solidFill>
            <a:prstDash val="solid"/>
          </a:ln>
        </p:spPr>
      </p:sp>
      <p:sp>
        <p:nvSpPr>
          <p:cNvPr id="17" name="Text 15"/>
          <p:cNvSpPr txBox="1"/>
          <p:nvPr/>
        </p:nvSpPr>
        <p:spPr>
          <a:xfrm>
            <a:off x="6571336" y="4242816"/>
            <a:ext cx="4614520" cy="310896"/>
          </a:xfrm>
          <a:prstGeom prst="rect">
            <a:avLst/>
          </a:prstGeom>
          <a:noFill/>
          <a:ln/>
        </p:spPr>
        <p:txBody>
          <a:bodyPr wrap="square" lIns="0" tIns="0" rIns="0" bIns="0" rtlCol="0" anchor="t"/>
          <a:lstStyle/>
          <a:p>
            <a:pPr marL="0" indent="0">
              <a:buNone/>
            </a:pPr>
            <a:r>
              <a:rPr lang="en-US" sz="1600" dirty="0">
                <a:solidFill>
                  <a:srgbClr val="F2F4F7"/>
                </a:solidFill>
                <a:latin typeface="Barlow Condensed" pitchFamily="34" charset="0"/>
                <a:ea typeface="Barlow Condensed" pitchFamily="34" charset="-122"/>
                <a:cs typeface="Barlow Condensed" pitchFamily="34" charset="-120"/>
              </a:rPr>
              <a:t>10% of deal value, plus €99 to €999 a month</a:t>
            </a:r>
            <a:r>
              <a:rPr lang="en-US" sz="1200" dirty="0">
                <a:solidFill>
                  <a:srgbClr val="828C9A"/>
                </a:solidFill>
                <a:latin typeface="Barlow" pitchFamily="34" charset="0"/>
                <a:ea typeface="Barlow" pitchFamily="34" charset="-122"/>
                <a:cs typeface="Barlow" pitchFamily="34" charset="-120"/>
              </a:rPr>
              <a:t>   ·   52% of Y7</a:t>
            </a:r>
            <a:endParaRPr lang="en-US" sz="1600" dirty="0"/>
          </a:p>
        </p:txBody>
      </p:sp>
      <p:sp>
        <p:nvSpPr>
          <p:cNvPr id="18" name="Shape 16"/>
          <p:cNvSpPr/>
          <p:nvPr/>
        </p:nvSpPr>
        <p:spPr>
          <a:xfrm>
            <a:off x="713232" y="4892040"/>
            <a:ext cx="10765231" cy="822960"/>
          </a:xfrm>
          <a:prstGeom prst="roundRect">
            <a:avLst>
              <a:gd name="adj" fmla="val 4444"/>
            </a:avLst>
          </a:prstGeom>
          <a:solidFill>
            <a:srgbClr val="1F242C"/>
          </a:solidFill>
          <a:ln w="9525">
            <a:solidFill>
              <a:srgbClr val="262C35"/>
            </a:solidFill>
            <a:prstDash val="solid"/>
          </a:ln>
        </p:spPr>
      </p:sp>
      <p:sp>
        <p:nvSpPr>
          <p:cNvPr id="19" name="Text 17"/>
          <p:cNvSpPr txBox="1"/>
          <p:nvPr/>
        </p:nvSpPr>
        <p:spPr>
          <a:xfrm>
            <a:off x="987552" y="5074920"/>
            <a:ext cx="2743200" cy="237744"/>
          </a:xfrm>
          <a:prstGeom prst="rect">
            <a:avLst/>
          </a:prstGeom>
          <a:noFill/>
          <a:ln/>
        </p:spPr>
        <p:txBody>
          <a:bodyPr wrap="square" lIns="0" tIns="0" rIns="0" bIns="0" rtlCol="0" anchor="t"/>
          <a:lstStyle/>
          <a:p>
            <a:pPr marL="0" indent="0">
              <a:buNone/>
            </a:pPr>
            <a:r>
              <a:rPr lang="en-US" sz="1350" kern="0" spc="220" dirty="0">
                <a:solidFill>
                  <a:srgbClr val="FFB020"/>
                </a:solidFill>
                <a:latin typeface="Barlow Condensed" pitchFamily="34" charset="0"/>
                <a:ea typeface="Barlow Condensed" pitchFamily="34" charset="-122"/>
                <a:cs typeface="Barlow Condensed" pitchFamily="34" charset="-120"/>
              </a:rPr>
              <a:t>THE ATHLETE PAYS NOTHING</a:t>
            </a:r>
            <a:endParaRPr lang="en-US" sz="1350" dirty="0"/>
          </a:p>
        </p:txBody>
      </p:sp>
      <p:sp>
        <p:nvSpPr>
          <p:cNvPr id="20" name="Text 18"/>
          <p:cNvSpPr txBox="1"/>
          <p:nvPr/>
        </p:nvSpPr>
        <p:spPr>
          <a:xfrm>
            <a:off x="4005072" y="5047488"/>
            <a:ext cx="7199071" cy="548640"/>
          </a:xfrm>
          <a:prstGeom prst="rect">
            <a:avLst/>
          </a:prstGeom>
          <a:noFill/>
          <a:ln/>
        </p:spPr>
        <p:txBody>
          <a:bodyPr wrap="square" lIns="0" tIns="0" rIns="0" bIns="0" rtlCol="0" anchor="t"/>
          <a:lstStyle/>
          <a:p>
            <a:pPr marL="0" indent="0">
              <a:lnSpc>
                <a:spcPts val="1700"/>
              </a:lnSpc>
              <a:buNone/>
            </a:pPr>
            <a:r>
              <a:rPr lang="en-US" sz="1300" dirty="0">
                <a:solidFill>
                  <a:srgbClr val="AEB6C2"/>
                </a:solidFill>
                <a:latin typeface="Barlow" pitchFamily="34" charset="0"/>
                <a:ea typeface="Barlow" pitchFamily="34" charset="-122"/>
                <a:cs typeface="Barlow" pitchFamily="34" charset="-120"/>
              </a:rPr>
              <a:t>No monthly fee, ever, on either engine. The athlete earning €200 a month pays the same rate as the one earning €5,000, which a subscription would not have done. They are the supply, and supply is the constraint.</a:t>
            </a:r>
            <a:endParaRPr lang="en-US" sz="1300" dirty="0"/>
          </a:p>
        </p:txBody>
      </p:sp>
      <p:sp>
        <p:nvSpPr>
          <p:cNvPr id="21" name="Text 19"/>
          <p:cNvSpPr txBox="1"/>
          <p:nvPr/>
        </p:nvSpPr>
        <p:spPr>
          <a:xfrm>
            <a:off x="713232" y="6382512"/>
            <a:ext cx="9667951" cy="274320"/>
          </a:xfrm>
          <a:prstGeom prst="rect">
            <a:avLst/>
          </a:prstGeom>
          <a:noFill/>
          <a:ln/>
        </p:spPr>
        <p:txBody>
          <a:bodyPr wrap="square" lIns="0" tIns="0" rIns="0" bIns="0" rtlCol="0" anchor="t"/>
          <a:lstStyle/>
          <a:p>
            <a:pPr marL="0" indent="0">
              <a:buNone/>
            </a:pPr>
            <a:r>
              <a:rPr lang="en-US" sz="950" dirty="0">
                <a:solidFill>
                  <a:srgbClr val="828C9A"/>
                </a:solidFill>
                <a:latin typeface="Barlow" pitchFamily="34" charset="0"/>
                <a:ea typeface="Barlow" pitchFamily="34" charset="-122"/>
                <a:cs typeface="Barlow" pitchFamily="34" charset="-120"/>
              </a:rPr>
              <a:t>Stride financial model: Y7 net revenue of €3.01M, 48% from fans and 52% from the two sponsor streams.</a:t>
            </a:r>
            <a:endParaRPr lang="en-US" sz="95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WHY THEY ARE ONE COMPANY</a:t>
            </a:r>
            <a:endParaRPr lang="en-US" sz="1250" dirty="0"/>
          </a:p>
        </p:txBody>
      </p:sp>
      <p:sp>
        <p:nvSpPr>
          <p:cNvPr id="3" name="Text 1"/>
          <p:cNvSpPr txBox="1"/>
          <p:nvPr/>
        </p:nvSpPr>
        <p:spPr>
          <a:xfrm>
            <a:off x="713232" y="786384"/>
            <a:ext cx="10765231" cy="868680"/>
          </a:xfrm>
          <a:prstGeom prst="rect">
            <a:avLst/>
          </a:prstGeom>
          <a:noFill/>
          <a:ln/>
        </p:spPr>
        <p:txBody>
          <a:bodyPr wrap="square" lIns="0" tIns="0" rIns="0" bIns="0" rtlCol="0" anchor="t"/>
          <a:lstStyle/>
          <a:p>
            <a:pPr marL="0" indent="0">
              <a:lnSpc>
                <a:spcPts val="3800"/>
              </a:lnSpc>
              <a:buNone/>
            </a:pPr>
            <a:r>
              <a:rPr lang="en-US" sz="3600" dirty="0">
                <a:solidFill>
                  <a:srgbClr val="F2F4F7"/>
                </a:solidFill>
                <a:latin typeface="Barlow Condensed" pitchFamily="34" charset="0"/>
                <a:ea typeface="Barlow Condensed" pitchFamily="34" charset="-122"/>
                <a:cs typeface="Barlow Condensed" pitchFamily="34" charset="-120"/>
              </a:rPr>
              <a:t>Each engine produces the input the other cannot buy</a:t>
            </a:r>
            <a:endParaRPr lang="en-US" sz="3600" dirty="0"/>
          </a:p>
        </p:txBody>
      </p:sp>
      <p:sp>
        <p:nvSpPr>
          <p:cNvPr id="4" name="Shape 2"/>
          <p:cNvSpPr/>
          <p:nvPr/>
        </p:nvSpPr>
        <p:spPr>
          <a:xfrm>
            <a:off x="713232" y="2011680"/>
            <a:ext cx="2377440" cy="2011680"/>
          </a:xfrm>
          <a:prstGeom prst="roundRect">
            <a:avLst>
              <a:gd name="adj" fmla="val 1818"/>
            </a:avLst>
          </a:prstGeom>
          <a:solidFill>
            <a:srgbClr val="171A20"/>
          </a:solidFill>
          <a:ln w="9525">
            <a:solidFill>
              <a:srgbClr val="262C35"/>
            </a:solidFill>
            <a:prstDash val="solid"/>
          </a:ln>
        </p:spPr>
      </p:sp>
      <p:sp>
        <p:nvSpPr>
          <p:cNvPr id="5" name="Text 3"/>
          <p:cNvSpPr txBox="1"/>
          <p:nvPr/>
        </p:nvSpPr>
        <p:spPr>
          <a:xfrm>
            <a:off x="932688" y="2176272"/>
            <a:ext cx="731520" cy="402336"/>
          </a:xfrm>
          <a:prstGeom prst="rect">
            <a:avLst/>
          </a:prstGeom>
          <a:noFill/>
          <a:ln/>
        </p:spPr>
        <p:txBody>
          <a:bodyPr wrap="square" lIns="0" tIns="0" rIns="0" bIns="0" rtlCol="0" anchor="t"/>
          <a:lstStyle/>
          <a:p>
            <a:pPr marL="0" indent="0">
              <a:buNone/>
            </a:pPr>
            <a:r>
              <a:rPr lang="en-US" sz="2600" dirty="0">
                <a:solidFill>
                  <a:srgbClr val="1FBD85"/>
                </a:solidFill>
                <a:latin typeface="Barlow Condensed" pitchFamily="34" charset="0"/>
                <a:ea typeface="Barlow Condensed" pitchFamily="34" charset="-122"/>
                <a:cs typeface="Barlow Condensed" pitchFamily="34" charset="-120"/>
              </a:rPr>
              <a:t>01</a:t>
            </a:r>
            <a:endParaRPr lang="en-US" sz="2600" dirty="0"/>
          </a:p>
        </p:txBody>
      </p:sp>
      <p:sp>
        <p:nvSpPr>
          <p:cNvPr id="6" name="Text 4"/>
          <p:cNvSpPr txBox="1"/>
          <p:nvPr/>
        </p:nvSpPr>
        <p:spPr>
          <a:xfrm>
            <a:off x="932688" y="2596896"/>
            <a:ext cx="1938528" cy="566928"/>
          </a:xfrm>
          <a:prstGeom prst="rect">
            <a:avLst/>
          </a:prstGeom>
          <a:noFill/>
          <a:ln/>
        </p:spPr>
        <p:txBody>
          <a:bodyPr wrap="square" lIns="0" tIns="0" rIns="0" bIns="0" rtlCol="0" anchor="t"/>
          <a:lstStyle/>
          <a:p>
            <a:pPr marL="0" indent="0">
              <a:lnSpc>
                <a:spcPts val="1900"/>
              </a:lnSpc>
              <a:buNone/>
            </a:pPr>
            <a:r>
              <a:rPr lang="en-US" sz="1600" kern="0" spc="120" dirty="0">
                <a:solidFill>
                  <a:srgbClr val="F2F4F7"/>
                </a:solidFill>
                <a:latin typeface="Barlow Condensed" pitchFamily="34" charset="0"/>
                <a:ea typeface="Barlow Condensed" pitchFamily="34" charset="-122"/>
                <a:cs typeface="Barlow Condensed" pitchFamily="34" charset="-120"/>
              </a:rPr>
              <a:t>Fans pay</a:t>
            </a:r>
            <a:endParaRPr lang="en-US" sz="1600" dirty="0"/>
          </a:p>
          <a:p>
            <a:pPr marL="0" indent="0">
              <a:lnSpc>
                <a:spcPts val="1900"/>
              </a:lnSpc>
              <a:buNone/>
            </a:pPr>
            <a:r>
              <a:rPr lang="en-US" sz="1600" kern="0" spc="120" dirty="0">
                <a:solidFill>
                  <a:srgbClr val="F2F4F7"/>
                </a:solidFill>
                <a:latin typeface="Barlow Condensed" pitchFamily="34" charset="0"/>
                <a:ea typeface="Barlow Condensed" pitchFamily="34" charset="-122"/>
                <a:cs typeface="Barlow Condensed" pitchFamily="34" charset="-120"/>
              </a:rPr>
              <a:t>the athlete</a:t>
            </a:r>
            <a:endParaRPr lang="en-US" sz="1600" dirty="0"/>
          </a:p>
        </p:txBody>
      </p:sp>
      <p:sp>
        <p:nvSpPr>
          <p:cNvPr id="7" name="Text 5"/>
          <p:cNvSpPr txBox="1"/>
          <p:nvPr/>
        </p:nvSpPr>
        <p:spPr>
          <a:xfrm>
            <a:off x="932688" y="3200400"/>
            <a:ext cx="1938528" cy="731520"/>
          </a:xfrm>
          <a:prstGeom prst="rect">
            <a:avLst/>
          </a:prstGeom>
          <a:noFill/>
          <a:ln/>
        </p:spPr>
        <p:txBody>
          <a:bodyPr wrap="square" lIns="0" tIns="0" rIns="0" bIns="0" rtlCol="0" anchor="t"/>
          <a:lstStyle/>
          <a:p>
            <a:pPr marL="0" indent="0">
              <a:lnSpc>
                <a:spcPts val="1500"/>
              </a:lnSpc>
              <a:buNone/>
            </a:pPr>
            <a:r>
              <a:rPr lang="en-US" sz="1150" dirty="0">
                <a:solidFill>
                  <a:srgbClr val="AEB6C2"/>
                </a:solidFill>
                <a:latin typeface="Barlow" pitchFamily="34" charset="0"/>
                <a:ea typeface="Barlow" pitchFamily="34" charset="-122"/>
                <a:cs typeface="Barlow" pitchFamily="34" charset="-120"/>
              </a:rPr>
              <a:t>Subscriptions give the athlete a reason to build an audience, and give us revenue from the first month.</a:t>
            </a:r>
            <a:endParaRPr lang="en-US" sz="1150" dirty="0"/>
          </a:p>
        </p:txBody>
      </p:sp>
      <p:sp>
        <p:nvSpPr>
          <p:cNvPr id="8" name="Text 6"/>
          <p:cNvSpPr txBox="1"/>
          <p:nvPr/>
        </p:nvSpPr>
        <p:spPr>
          <a:xfrm>
            <a:off x="3108960" y="2743200"/>
            <a:ext cx="381914" cy="457200"/>
          </a:xfrm>
          <a:prstGeom prst="rect">
            <a:avLst/>
          </a:prstGeom>
          <a:noFill/>
          <a:ln/>
        </p:spPr>
        <p:txBody>
          <a:bodyPr wrap="square" lIns="0" tIns="0" rIns="0" bIns="0" rtlCol="0" anchor="t"/>
          <a:lstStyle/>
          <a:p>
            <a:pPr marL="0" indent="0" algn="ctr">
              <a:buNone/>
            </a:pPr>
            <a:r>
              <a:rPr lang="en-US" sz="2600" dirty="0">
                <a:solidFill>
                  <a:srgbClr val="828C9A"/>
                </a:solidFill>
                <a:latin typeface="Barlow Condensed" pitchFamily="34" charset="0"/>
                <a:ea typeface="Barlow Condensed" pitchFamily="34" charset="-122"/>
                <a:cs typeface="Barlow Condensed" pitchFamily="34" charset="-120"/>
              </a:rPr>
              <a:t>›</a:t>
            </a:r>
            <a:endParaRPr lang="en-US" sz="2600" dirty="0"/>
          </a:p>
        </p:txBody>
      </p:sp>
      <p:sp>
        <p:nvSpPr>
          <p:cNvPr id="9" name="Shape 7"/>
          <p:cNvSpPr/>
          <p:nvPr/>
        </p:nvSpPr>
        <p:spPr>
          <a:xfrm>
            <a:off x="3509162" y="2011680"/>
            <a:ext cx="2377440" cy="2011680"/>
          </a:xfrm>
          <a:prstGeom prst="roundRect">
            <a:avLst>
              <a:gd name="adj" fmla="val 1818"/>
            </a:avLst>
          </a:prstGeom>
          <a:solidFill>
            <a:srgbClr val="171A20"/>
          </a:solidFill>
          <a:ln w="9525">
            <a:solidFill>
              <a:srgbClr val="262C35"/>
            </a:solidFill>
            <a:prstDash val="solid"/>
          </a:ln>
        </p:spPr>
      </p:sp>
      <p:sp>
        <p:nvSpPr>
          <p:cNvPr id="10" name="Text 8"/>
          <p:cNvSpPr txBox="1"/>
          <p:nvPr/>
        </p:nvSpPr>
        <p:spPr>
          <a:xfrm>
            <a:off x="3728618" y="2176272"/>
            <a:ext cx="731520" cy="402336"/>
          </a:xfrm>
          <a:prstGeom prst="rect">
            <a:avLst/>
          </a:prstGeom>
          <a:noFill/>
          <a:ln/>
        </p:spPr>
        <p:txBody>
          <a:bodyPr wrap="square" lIns="0" tIns="0" rIns="0" bIns="0" rtlCol="0" anchor="t"/>
          <a:lstStyle/>
          <a:p>
            <a:pPr marL="0" indent="0">
              <a:buNone/>
            </a:pPr>
            <a:r>
              <a:rPr lang="en-US" sz="2600" dirty="0">
                <a:solidFill>
                  <a:srgbClr val="1FBD85"/>
                </a:solidFill>
                <a:latin typeface="Barlow Condensed" pitchFamily="34" charset="0"/>
                <a:ea typeface="Barlow Condensed" pitchFamily="34" charset="-122"/>
                <a:cs typeface="Barlow Condensed" pitchFamily="34" charset="-120"/>
              </a:rPr>
              <a:t>02</a:t>
            </a:r>
            <a:endParaRPr lang="en-US" sz="2600" dirty="0"/>
          </a:p>
        </p:txBody>
      </p:sp>
      <p:sp>
        <p:nvSpPr>
          <p:cNvPr id="11" name="Text 9"/>
          <p:cNvSpPr txBox="1"/>
          <p:nvPr/>
        </p:nvSpPr>
        <p:spPr>
          <a:xfrm>
            <a:off x="3728618" y="2596896"/>
            <a:ext cx="1938528" cy="566928"/>
          </a:xfrm>
          <a:prstGeom prst="rect">
            <a:avLst/>
          </a:prstGeom>
          <a:noFill/>
          <a:ln/>
        </p:spPr>
        <p:txBody>
          <a:bodyPr wrap="square" lIns="0" tIns="0" rIns="0" bIns="0" rtlCol="0" anchor="t"/>
          <a:lstStyle/>
          <a:p>
            <a:pPr marL="0" indent="0">
              <a:lnSpc>
                <a:spcPts val="1900"/>
              </a:lnSpc>
              <a:buNone/>
            </a:pPr>
            <a:r>
              <a:rPr lang="en-US" sz="1600" kern="0" spc="120" dirty="0">
                <a:solidFill>
                  <a:srgbClr val="F2F4F7"/>
                </a:solidFill>
                <a:latin typeface="Barlow Condensed" pitchFamily="34" charset="0"/>
                <a:ea typeface="Barlow Condensed" pitchFamily="34" charset="-122"/>
                <a:cs typeface="Barlow Condensed" pitchFamily="34" charset="-120"/>
              </a:rPr>
              <a:t>The athlete connects</a:t>
            </a:r>
            <a:endParaRPr lang="en-US" sz="1600" dirty="0"/>
          </a:p>
          <a:p>
            <a:pPr marL="0" indent="0">
              <a:lnSpc>
                <a:spcPts val="1900"/>
              </a:lnSpc>
              <a:buNone/>
            </a:pPr>
            <a:r>
              <a:rPr lang="en-US" sz="1600" kern="0" spc="120" dirty="0">
                <a:solidFill>
                  <a:srgbClr val="F2F4F7"/>
                </a:solidFill>
                <a:latin typeface="Barlow Condensed" pitchFamily="34" charset="0"/>
                <a:ea typeface="Barlow Condensed" pitchFamily="34" charset="-122"/>
                <a:cs typeface="Barlow Condensed" pitchFamily="34" charset="-120"/>
              </a:rPr>
              <a:t>their platforms</a:t>
            </a:r>
            <a:endParaRPr lang="en-US" sz="1600" dirty="0"/>
          </a:p>
        </p:txBody>
      </p:sp>
      <p:sp>
        <p:nvSpPr>
          <p:cNvPr id="12" name="Text 10"/>
          <p:cNvSpPr txBox="1"/>
          <p:nvPr/>
        </p:nvSpPr>
        <p:spPr>
          <a:xfrm>
            <a:off x="3728618" y="3200400"/>
            <a:ext cx="1938528" cy="731520"/>
          </a:xfrm>
          <a:prstGeom prst="rect">
            <a:avLst/>
          </a:prstGeom>
          <a:noFill/>
          <a:ln/>
        </p:spPr>
        <p:txBody>
          <a:bodyPr wrap="square" lIns="0" tIns="0" rIns="0" bIns="0" rtlCol="0" anchor="t"/>
          <a:lstStyle/>
          <a:p>
            <a:pPr marL="0" indent="0">
              <a:lnSpc>
                <a:spcPts val="1500"/>
              </a:lnSpc>
              <a:buNone/>
            </a:pPr>
            <a:r>
              <a:rPr lang="en-US" sz="1150" dirty="0">
                <a:solidFill>
                  <a:srgbClr val="AEB6C2"/>
                </a:solidFill>
                <a:latin typeface="Barlow" pitchFamily="34" charset="0"/>
                <a:ea typeface="Barlow" pitchFamily="34" charset="-122"/>
                <a:cs typeface="Barlow" pitchFamily="34" charset="-120"/>
              </a:rPr>
              <a:t>Monetising requires the connectors. Those same connectors are the measurement instrument.</a:t>
            </a:r>
            <a:endParaRPr lang="en-US" sz="1150" dirty="0"/>
          </a:p>
        </p:txBody>
      </p:sp>
      <p:sp>
        <p:nvSpPr>
          <p:cNvPr id="13" name="Text 11"/>
          <p:cNvSpPr txBox="1"/>
          <p:nvPr/>
        </p:nvSpPr>
        <p:spPr>
          <a:xfrm>
            <a:off x="5904890" y="2743200"/>
            <a:ext cx="381914" cy="457200"/>
          </a:xfrm>
          <a:prstGeom prst="rect">
            <a:avLst/>
          </a:prstGeom>
          <a:noFill/>
          <a:ln/>
        </p:spPr>
        <p:txBody>
          <a:bodyPr wrap="square" lIns="0" tIns="0" rIns="0" bIns="0" rtlCol="0" anchor="t"/>
          <a:lstStyle/>
          <a:p>
            <a:pPr marL="0" indent="0" algn="ctr">
              <a:buNone/>
            </a:pPr>
            <a:r>
              <a:rPr lang="en-US" sz="2600" dirty="0">
                <a:solidFill>
                  <a:srgbClr val="828C9A"/>
                </a:solidFill>
                <a:latin typeface="Barlow Condensed" pitchFamily="34" charset="0"/>
                <a:ea typeface="Barlow Condensed" pitchFamily="34" charset="-122"/>
                <a:cs typeface="Barlow Condensed" pitchFamily="34" charset="-120"/>
              </a:rPr>
              <a:t>›</a:t>
            </a:r>
            <a:endParaRPr lang="en-US" sz="2600" dirty="0"/>
          </a:p>
        </p:txBody>
      </p:sp>
      <p:sp>
        <p:nvSpPr>
          <p:cNvPr id="14" name="Shape 12"/>
          <p:cNvSpPr/>
          <p:nvPr/>
        </p:nvSpPr>
        <p:spPr>
          <a:xfrm>
            <a:off x="6305093" y="2011680"/>
            <a:ext cx="2377440" cy="2011680"/>
          </a:xfrm>
          <a:prstGeom prst="roundRect">
            <a:avLst>
              <a:gd name="adj" fmla="val 1818"/>
            </a:avLst>
          </a:prstGeom>
          <a:solidFill>
            <a:srgbClr val="171A20"/>
          </a:solidFill>
          <a:ln w="9525">
            <a:solidFill>
              <a:srgbClr val="262C35"/>
            </a:solidFill>
            <a:prstDash val="solid"/>
          </a:ln>
        </p:spPr>
      </p:sp>
      <p:sp>
        <p:nvSpPr>
          <p:cNvPr id="15" name="Text 13"/>
          <p:cNvSpPr txBox="1"/>
          <p:nvPr/>
        </p:nvSpPr>
        <p:spPr>
          <a:xfrm>
            <a:off x="6524549" y="2176272"/>
            <a:ext cx="731520" cy="402336"/>
          </a:xfrm>
          <a:prstGeom prst="rect">
            <a:avLst/>
          </a:prstGeom>
          <a:noFill/>
          <a:ln/>
        </p:spPr>
        <p:txBody>
          <a:bodyPr wrap="square" lIns="0" tIns="0" rIns="0" bIns="0" rtlCol="0" anchor="t"/>
          <a:lstStyle/>
          <a:p>
            <a:pPr marL="0" indent="0">
              <a:buNone/>
            </a:pPr>
            <a:r>
              <a:rPr lang="en-US" sz="2600" dirty="0">
                <a:solidFill>
                  <a:srgbClr val="3B86E0"/>
                </a:solidFill>
                <a:latin typeface="Barlow Condensed" pitchFamily="34" charset="0"/>
                <a:ea typeface="Barlow Condensed" pitchFamily="34" charset="-122"/>
                <a:cs typeface="Barlow Condensed" pitchFamily="34" charset="-120"/>
              </a:rPr>
              <a:t>03</a:t>
            </a:r>
            <a:endParaRPr lang="en-US" sz="2600" dirty="0"/>
          </a:p>
        </p:txBody>
      </p:sp>
      <p:sp>
        <p:nvSpPr>
          <p:cNvPr id="16" name="Text 14"/>
          <p:cNvSpPr txBox="1"/>
          <p:nvPr/>
        </p:nvSpPr>
        <p:spPr>
          <a:xfrm>
            <a:off x="6524549" y="2596896"/>
            <a:ext cx="1938528" cy="566928"/>
          </a:xfrm>
          <a:prstGeom prst="rect">
            <a:avLst/>
          </a:prstGeom>
          <a:noFill/>
          <a:ln/>
        </p:spPr>
        <p:txBody>
          <a:bodyPr wrap="square" lIns="0" tIns="0" rIns="0" bIns="0" rtlCol="0" anchor="t"/>
          <a:lstStyle/>
          <a:p>
            <a:pPr marL="0" indent="0">
              <a:lnSpc>
                <a:spcPts val="1900"/>
              </a:lnSpc>
              <a:buNone/>
            </a:pPr>
            <a:r>
              <a:rPr lang="en-US" sz="1600" kern="0" spc="120" dirty="0">
                <a:solidFill>
                  <a:srgbClr val="F2F4F7"/>
                </a:solidFill>
                <a:latin typeface="Barlow Condensed" pitchFamily="34" charset="0"/>
                <a:ea typeface="Barlow Condensed" pitchFamily="34" charset="-122"/>
                <a:cs typeface="Barlow Condensed" pitchFamily="34" charset="-120"/>
              </a:rPr>
              <a:t>The sponsor</a:t>
            </a:r>
            <a:endParaRPr lang="en-US" sz="1600" dirty="0"/>
          </a:p>
          <a:p>
            <a:pPr marL="0" indent="0">
              <a:lnSpc>
                <a:spcPts val="1900"/>
              </a:lnSpc>
              <a:buNone/>
            </a:pPr>
            <a:r>
              <a:rPr lang="en-US" sz="1600" kern="0" spc="120" dirty="0">
                <a:solidFill>
                  <a:srgbClr val="F2F4F7"/>
                </a:solidFill>
                <a:latin typeface="Barlow Condensed" pitchFamily="34" charset="0"/>
                <a:ea typeface="Barlow Condensed" pitchFamily="34" charset="-122"/>
                <a:cs typeface="Barlow Condensed" pitchFamily="34" charset="-120"/>
              </a:rPr>
              <a:t>sees evidence</a:t>
            </a:r>
            <a:endParaRPr lang="en-US" sz="1600" dirty="0"/>
          </a:p>
        </p:txBody>
      </p:sp>
      <p:sp>
        <p:nvSpPr>
          <p:cNvPr id="17" name="Text 15"/>
          <p:cNvSpPr txBox="1"/>
          <p:nvPr/>
        </p:nvSpPr>
        <p:spPr>
          <a:xfrm>
            <a:off x="6524549" y="3200400"/>
            <a:ext cx="1938528" cy="731520"/>
          </a:xfrm>
          <a:prstGeom prst="rect">
            <a:avLst/>
          </a:prstGeom>
          <a:noFill/>
          <a:ln/>
        </p:spPr>
        <p:txBody>
          <a:bodyPr wrap="square" lIns="0" tIns="0" rIns="0" bIns="0" rtlCol="0" anchor="t"/>
          <a:lstStyle/>
          <a:p>
            <a:pPr marL="0" indent="0">
              <a:lnSpc>
                <a:spcPts val="1500"/>
              </a:lnSpc>
              <a:buNone/>
            </a:pPr>
            <a:r>
              <a:rPr lang="en-US" sz="1150" dirty="0">
                <a:solidFill>
                  <a:srgbClr val="AEB6C2"/>
                </a:solidFill>
                <a:latin typeface="Barlow" pitchFamily="34" charset="0"/>
                <a:ea typeface="Barlow" pitchFamily="34" charset="-122"/>
                <a:cs typeface="Barlow" pitchFamily="34" charset="-120"/>
              </a:rPr>
              <a:t>Measured reach, engagement and cost per thousand, per athlete, in place of a follower count.</a:t>
            </a:r>
            <a:endParaRPr lang="en-US" sz="1150" dirty="0"/>
          </a:p>
        </p:txBody>
      </p:sp>
      <p:sp>
        <p:nvSpPr>
          <p:cNvPr id="18" name="Text 16"/>
          <p:cNvSpPr txBox="1"/>
          <p:nvPr/>
        </p:nvSpPr>
        <p:spPr>
          <a:xfrm>
            <a:off x="8700821" y="2743200"/>
            <a:ext cx="381914" cy="457200"/>
          </a:xfrm>
          <a:prstGeom prst="rect">
            <a:avLst/>
          </a:prstGeom>
          <a:noFill/>
          <a:ln/>
        </p:spPr>
        <p:txBody>
          <a:bodyPr wrap="square" lIns="0" tIns="0" rIns="0" bIns="0" rtlCol="0" anchor="t"/>
          <a:lstStyle/>
          <a:p>
            <a:pPr marL="0" indent="0" algn="ctr">
              <a:buNone/>
            </a:pPr>
            <a:r>
              <a:rPr lang="en-US" sz="2600" dirty="0">
                <a:solidFill>
                  <a:srgbClr val="828C9A"/>
                </a:solidFill>
                <a:latin typeface="Barlow Condensed" pitchFamily="34" charset="0"/>
                <a:ea typeface="Barlow Condensed" pitchFamily="34" charset="-122"/>
                <a:cs typeface="Barlow Condensed" pitchFamily="34" charset="-120"/>
              </a:rPr>
              <a:t>›</a:t>
            </a:r>
            <a:endParaRPr lang="en-US" sz="2600" dirty="0"/>
          </a:p>
        </p:txBody>
      </p:sp>
      <p:sp>
        <p:nvSpPr>
          <p:cNvPr id="19" name="Shape 17"/>
          <p:cNvSpPr/>
          <p:nvPr/>
        </p:nvSpPr>
        <p:spPr>
          <a:xfrm>
            <a:off x="9101023" y="2011680"/>
            <a:ext cx="2377440" cy="2011680"/>
          </a:xfrm>
          <a:prstGeom prst="roundRect">
            <a:avLst>
              <a:gd name="adj" fmla="val 1818"/>
            </a:avLst>
          </a:prstGeom>
          <a:solidFill>
            <a:srgbClr val="171A20"/>
          </a:solidFill>
          <a:ln w="9525">
            <a:solidFill>
              <a:srgbClr val="262C35"/>
            </a:solidFill>
            <a:prstDash val="solid"/>
          </a:ln>
        </p:spPr>
      </p:sp>
      <p:sp>
        <p:nvSpPr>
          <p:cNvPr id="20" name="Text 18"/>
          <p:cNvSpPr txBox="1"/>
          <p:nvPr/>
        </p:nvSpPr>
        <p:spPr>
          <a:xfrm>
            <a:off x="9320479" y="2176272"/>
            <a:ext cx="731520" cy="402336"/>
          </a:xfrm>
          <a:prstGeom prst="rect">
            <a:avLst/>
          </a:prstGeom>
          <a:noFill/>
          <a:ln/>
        </p:spPr>
        <p:txBody>
          <a:bodyPr wrap="square" lIns="0" tIns="0" rIns="0" bIns="0" rtlCol="0" anchor="t"/>
          <a:lstStyle/>
          <a:p>
            <a:pPr marL="0" indent="0">
              <a:buNone/>
            </a:pPr>
            <a:r>
              <a:rPr lang="en-US" sz="2600" dirty="0">
                <a:solidFill>
                  <a:srgbClr val="FFB020"/>
                </a:solidFill>
                <a:latin typeface="Barlow Condensed" pitchFamily="34" charset="0"/>
                <a:ea typeface="Barlow Condensed" pitchFamily="34" charset="-122"/>
                <a:cs typeface="Barlow Condensed" pitchFamily="34" charset="-120"/>
              </a:rPr>
              <a:t>04</a:t>
            </a:r>
            <a:endParaRPr lang="en-US" sz="2600" dirty="0"/>
          </a:p>
        </p:txBody>
      </p:sp>
      <p:sp>
        <p:nvSpPr>
          <p:cNvPr id="21" name="Text 19"/>
          <p:cNvSpPr txBox="1"/>
          <p:nvPr/>
        </p:nvSpPr>
        <p:spPr>
          <a:xfrm>
            <a:off x="9320479" y="2596896"/>
            <a:ext cx="1938528" cy="566928"/>
          </a:xfrm>
          <a:prstGeom prst="rect">
            <a:avLst/>
          </a:prstGeom>
          <a:noFill/>
          <a:ln/>
        </p:spPr>
        <p:txBody>
          <a:bodyPr wrap="square" lIns="0" tIns="0" rIns="0" bIns="0" rtlCol="0" anchor="t"/>
          <a:lstStyle/>
          <a:p>
            <a:pPr marL="0" indent="0">
              <a:lnSpc>
                <a:spcPts val="1900"/>
              </a:lnSpc>
              <a:buNone/>
            </a:pPr>
            <a:r>
              <a:rPr lang="en-US" sz="1600" kern="0" spc="120" dirty="0">
                <a:solidFill>
                  <a:srgbClr val="F2F4F7"/>
                </a:solidFill>
                <a:latin typeface="Barlow Condensed" pitchFamily="34" charset="0"/>
                <a:ea typeface="Barlow Condensed" pitchFamily="34" charset="-122"/>
                <a:cs typeface="Barlow Condensed" pitchFamily="34" charset="-120"/>
              </a:rPr>
              <a:t>Deals raise</a:t>
            </a:r>
            <a:endParaRPr lang="en-US" sz="1600" dirty="0"/>
          </a:p>
          <a:p>
            <a:pPr marL="0" indent="0">
              <a:lnSpc>
                <a:spcPts val="1900"/>
              </a:lnSpc>
              <a:buNone/>
            </a:pPr>
            <a:r>
              <a:rPr lang="en-US" sz="1600" kern="0" spc="120" dirty="0">
                <a:solidFill>
                  <a:srgbClr val="F2F4F7"/>
                </a:solidFill>
                <a:latin typeface="Barlow Condensed" pitchFamily="34" charset="0"/>
                <a:ea typeface="Barlow Condensed" pitchFamily="34" charset="-122"/>
                <a:cs typeface="Barlow Condensed" pitchFamily="34" charset="-120"/>
              </a:rPr>
              <a:t>athlete income</a:t>
            </a:r>
            <a:endParaRPr lang="en-US" sz="1600" dirty="0"/>
          </a:p>
        </p:txBody>
      </p:sp>
      <p:sp>
        <p:nvSpPr>
          <p:cNvPr id="22" name="Text 20"/>
          <p:cNvSpPr txBox="1"/>
          <p:nvPr/>
        </p:nvSpPr>
        <p:spPr>
          <a:xfrm>
            <a:off x="9320479" y="3200400"/>
            <a:ext cx="1938528" cy="731520"/>
          </a:xfrm>
          <a:prstGeom prst="rect">
            <a:avLst/>
          </a:prstGeom>
          <a:noFill/>
          <a:ln/>
        </p:spPr>
        <p:txBody>
          <a:bodyPr wrap="square" lIns="0" tIns="0" rIns="0" bIns="0" rtlCol="0" anchor="t"/>
          <a:lstStyle/>
          <a:p>
            <a:pPr marL="0" indent="0">
              <a:lnSpc>
                <a:spcPts val="1500"/>
              </a:lnSpc>
              <a:buNone/>
            </a:pPr>
            <a:r>
              <a:rPr lang="en-US" sz="1150" dirty="0">
                <a:solidFill>
                  <a:srgbClr val="AEB6C2"/>
                </a:solidFill>
                <a:latin typeface="Barlow" pitchFamily="34" charset="0"/>
                <a:ea typeface="Barlow" pitchFamily="34" charset="-122"/>
                <a:cs typeface="Barlow" pitchFamily="34" charset="-120"/>
              </a:rPr>
              <a:t>Which brings the next athlete, and arrives with an audience that can now be measured.</a:t>
            </a:r>
            <a:endParaRPr lang="en-US" sz="1150" dirty="0"/>
          </a:p>
        </p:txBody>
      </p:sp>
      <p:sp>
        <p:nvSpPr>
          <p:cNvPr id="23" name="Shape 21"/>
          <p:cNvSpPr/>
          <p:nvPr/>
        </p:nvSpPr>
        <p:spPr>
          <a:xfrm>
            <a:off x="713232" y="4224528"/>
            <a:ext cx="3931920" cy="12802"/>
          </a:xfrm>
          <a:prstGeom prst="rect">
            <a:avLst/>
          </a:prstGeom>
          <a:solidFill>
            <a:srgbClr val="262C35"/>
          </a:solidFill>
          <a:ln w="12700">
            <a:solidFill>
              <a:srgbClr val="333333"/>
            </a:solidFill>
            <a:prstDash val="solid"/>
          </a:ln>
        </p:spPr>
      </p:sp>
      <p:sp>
        <p:nvSpPr>
          <p:cNvPr id="24" name="Shape 22"/>
          <p:cNvSpPr/>
          <p:nvPr/>
        </p:nvSpPr>
        <p:spPr>
          <a:xfrm>
            <a:off x="7543800" y="4224528"/>
            <a:ext cx="3931920" cy="12802"/>
          </a:xfrm>
          <a:prstGeom prst="rect">
            <a:avLst/>
          </a:prstGeom>
          <a:solidFill>
            <a:srgbClr val="262C35"/>
          </a:solidFill>
          <a:ln w="12700">
            <a:solidFill>
              <a:srgbClr val="333333"/>
            </a:solidFill>
            <a:prstDash val="solid"/>
          </a:ln>
        </p:spPr>
      </p:sp>
      <p:sp>
        <p:nvSpPr>
          <p:cNvPr id="25" name="Text 23"/>
          <p:cNvSpPr txBox="1"/>
          <p:nvPr/>
        </p:nvSpPr>
        <p:spPr>
          <a:xfrm>
            <a:off x="4736592" y="4123944"/>
            <a:ext cx="2715768" cy="237744"/>
          </a:xfrm>
          <a:prstGeom prst="rect">
            <a:avLst/>
          </a:prstGeom>
          <a:noFill/>
          <a:ln/>
        </p:spPr>
        <p:txBody>
          <a:bodyPr wrap="square" lIns="0" tIns="0" rIns="0" bIns="0" rtlCol="0" anchor="t"/>
          <a:lstStyle/>
          <a:p>
            <a:pPr marL="0" indent="0" algn="ctr">
              <a:buNone/>
            </a:pPr>
            <a:r>
              <a:rPr lang="en-US" sz="1100" kern="0" spc="260" dirty="0">
                <a:solidFill>
                  <a:srgbClr val="828C9A"/>
                </a:solidFill>
                <a:latin typeface="Barlow Condensed" pitchFamily="34" charset="0"/>
                <a:ea typeface="Barlow Condensed" pitchFamily="34" charset="-122"/>
                <a:cs typeface="Barlow Condensed" pitchFamily="34" charset="-120"/>
              </a:rPr>
              <a:t>AND FOUR RETURNS TO ONE</a:t>
            </a:r>
            <a:endParaRPr lang="en-US" sz="1100" dirty="0"/>
          </a:p>
        </p:txBody>
      </p:sp>
      <p:sp>
        <p:nvSpPr>
          <p:cNvPr id="26" name="Shape 24"/>
          <p:cNvSpPr/>
          <p:nvPr/>
        </p:nvSpPr>
        <p:spPr>
          <a:xfrm>
            <a:off x="713232" y="4462272"/>
            <a:ext cx="10765231" cy="868680"/>
          </a:xfrm>
          <a:prstGeom prst="roundRect">
            <a:avLst>
              <a:gd name="adj" fmla="val 4211"/>
            </a:avLst>
          </a:prstGeom>
          <a:solidFill>
            <a:srgbClr val="1F242C"/>
          </a:solidFill>
          <a:ln w="9525">
            <a:solidFill>
              <a:srgbClr val="262C35"/>
            </a:solidFill>
            <a:prstDash val="solid"/>
          </a:ln>
        </p:spPr>
      </p:sp>
      <p:sp>
        <p:nvSpPr>
          <p:cNvPr id="27" name="Text 25"/>
          <p:cNvSpPr txBox="1"/>
          <p:nvPr/>
        </p:nvSpPr>
        <p:spPr>
          <a:xfrm>
            <a:off x="987552" y="4663440"/>
            <a:ext cx="3200400" cy="237744"/>
          </a:xfrm>
          <a:prstGeom prst="rect">
            <a:avLst/>
          </a:prstGeom>
          <a:noFill/>
          <a:ln/>
        </p:spPr>
        <p:txBody>
          <a:bodyPr wrap="square" lIns="0" tIns="0" rIns="0" bIns="0" rtlCol="0" anchor="t"/>
          <a:lstStyle/>
          <a:p>
            <a:pPr marL="0" indent="0">
              <a:buNone/>
            </a:pPr>
            <a:r>
              <a:rPr lang="en-US" sz="1350" kern="0" spc="220" dirty="0">
                <a:solidFill>
                  <a:srgbClr val="FFB020"/>
                </a:solidFill>
                <a:latin typeface="Barlow Condensed" pitchFamily="34" charset="0"/>
                <a:ea typeface="Barlow Condensed" pitchFamily="34" charset="-122"/>
                <a:cs typeface="Barlow Condensed" pitchFamily="34" charset="-120"/>
              </a:rPr>
              <a:t>WHY NEITHER HALF STANDS ALONE</a:t>
            </a:r>
            <a:endParaRPr lang="en-US" sz="1350" dirty="0"/>
          </a:p>
        </p:txBody>
      </p:sp>
      <p:sp>
        <p:nvSpPr>
          <p:cNvPr id="28" name="Text 26"/>
          <p:cNvSpPr txBox="1"/>
          <p:nvPr/>
        </p:nvSpPr>
        <p:spPr>
          <a:xfrm>
            <a:off x="4553712" y="4626864"/>
            <a:ext cx="6650431" cy="603504"/>
          </a:xfrm>
          <a:prstGeom prst="rect">
            <a:avLst/>
          </a:prstGeom>
          <a:noFill/>
          <a:ln/>
        </p:spPr>
        <p:txBody>
          <a:bodyPr wrap="square" lIns="0" tIns="0" rIns="0" bIns="0" rtlCol="0" anchor="t"/>
          <a:lstStyle/>
          <a:p>
            <a:pPr marL="0" indent="0">
              <a:lnSpc>
                <a:spcPts val="1700"/>
              </a:lnSpc>
              <a:buNone/>
            </a:pPr>
            <a:r>
              <a:rPr lang="en-US" sz="1300" dirty="0">
                <a:solidFill>
                  <a:srgbClr val="AEB6C2"/>
                </a:solidFill>
                <a:latin typeface="Barlow" pitchFamily="34" charset="0"/>
                <a:ea typeface="Barlow" pitchFamily="34" charset="-122"/>
                <a:cs typeface="Barlow" pitchFamily="34" charset="-120"/>
              </a:rPr>
              <a:t>A creator platform has no reason to measure an audience. A sponsorship data company has no relationship with the athlete, so it cannot get the measurements. Both halves are required, and that is the architecture rather than a roadmap.</a:t>
            </a:r>
            <a:endParaRPr lang="en-US" sz="1300" dirty="0"/>
          </a:p>
        </p:txBody>
      </p:sp>
      <p:sp>
        <p:nvSpPr>
          <p:cNvPr id="29" name="Text 27"/>
          <p:cNvSpPr txBox="1"/>
          <p:nvPr/>
        </p:nvSpPr>
        <p:spPr>
          <a:xfrm>
            <a:off x="713232" y="5504688"/>
            <a:ext cx="10765231" cy="640080"/>
          </a:xfrm>
          <a:prstGeom prst="rect">
            <a:avLst/>
          </a:prstGeom>
          <a:noFill/>
          <a:ln/>
        </p:spPr>
        <p:txBody>
          <a:bodyPr wrap="square" lIns="0" tIns="0" rIns="0" bIns="0" rtlCol="0" anchor="t"/>
          <a:lstStyle/>
          <a:p>
            <a:pPr marL="0" indent="0">
              <a:lnSpc>
                <a:spcPts val="2200"/>
              </a:lnSpc>
              <a:buNone/>
            </a:pPr>
            <a:r>
              <a:rPr lang="en-US" sz="1600" dirty="0">
                <a:solidFill>
                  <a:srgbClr val="F2F4F7"/>
                </a:solidFill>
                <a:latin typeface="Barlow" pitchFamily="34" charset="0"/>
                <a:ea typeface="Barlow" pitchFamily="34" charset="-122"/>
                <a:cs typeface="Barlow" pitchFamily="34" charset="-120"/>
              </a:rPr>
              <a:t>Fan revenue funds the years in which the data accrues. By the time the analytics are worth selling, someone else has already paid to build them.</a:t>
            </a:r>
            <a:endParaRPr lang="en-US" sz="1600" dirty="0"/>
          </a:p>
        </p:txBody>
      </p:sp>
      <p:sp>
        <p:nvSpPr>
          <p:cNvPr id="30"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NOT A MOCKUP</a:t>
            </a:r>
            <a:endParaRPr lang="en-US" sz="1250" dirty="0"/>
          </a:p>
        </p:txBody>
      </p:sp>
      <p:sp>
        <p:nvSpPr>
          <p:cNvPr id="3" name="Text 1"/>
          <p:cNvSpPr txBox="1"/>
          <p:nvPr/>
        </p:nvSpPr>
        <p:spPr>
          <a:xfrm>
            <a:off x="713232" y="786384"/>
            <a:ext cx="3794760" cy="1463040"/>
          </a:xfrm>
          <a:prstGeom prst="rect">
            <a:avLst/>
          </a:prstGeom>
          <a:noFill/>
          <a:ln/>
        </p:spPr>
        <p:txBody>
          <a:bodyPr wrap="square" lIns="0" tIns="0" rIns="0" bIns="0" rtlCol="0" anchor="t"/>
          <a:lstStyle/>
          <a:p>
            <a:pPr marL="0" indent="0">
              <a:lnSpc>
                <a:spcPts val="3500"/>
              </a:lnSpc>
              <a:buNone/>
            </a:pPr>
            <a:r>
              <a:rPr lang="en-US" sz="3300" dirty="0">
                <a:solidFill>
                  <a:srgbClr val="F2F4F7"/>
                </a:solidFill>
                <a:latin typeface="Barlow Condensed" pitchFamily="34" charset="0"/>
                <a:ea typeface="Barlow Condensed" pitchFamily="34" charset="-122"/>
                <a:cs typeface="Barlow Condensed" pitchFamily="34" charset="-120"/>
              </a:rPr>
              <a:t>It is built, deployed,</a:t>
            </a:r>
            <a:endParaRPr lang="en-US" sz="3300" dirty="0"/>
          </a:p>
          <a:p>
            <a:pPr marL="0" indent="0">
              <a:lnSpc>
                <a:spcPts val="3500"/>
              </a:lnSpc>
              <a:buNone/>
            </a:pPr>
            <a:r>
              <a:rPr lang="en-US" sz="3300" dirty="0">
                <a:solidFill>
                  <a:srgbClr val="F2F4F7"/>
                </a:solidFill>
                <a:latin typeface="Barlow Condensed" pitchFamily="34" charset="0"/>
                <a:ea typeface="Barlow Condensed" pitchFamily="34" charset="-122"/>
                <a:cs typeface="Barlow Condensed" pitchFamily="34" charset="-120"/>
              </a:rPr>
              <a:t>and you can open it now</a:t>
            </a:r>
            <a:endParaRPr lang="en-US" sz="3300" dirty="0"/>
          </a:p>
        </p:txBody>
      </p:sp>
      <p:sp>
        <p:nvSpPr>
          <p:cNvPr id="4" name="Shape 2"/>
          <p:cNvSpPr/>
          <p:nvPr/>
        </p:nvSpPr>
        <p:spPr>
          <a:xfrm>
            <a:off x="713232" y="2491740"/>
            <a:ext cx="128016" cy="27432"/>
          </a:xfrm>
          <a:prstGeom prst="rect">
            <a:avLst/>
          </a:prstGeom>
          <a:solidFill>
            <a:srgbClr val="FFB020"/>
          </a:solidFill>
          <a:ln w="12700">
            <a:solidFill>
              <a:srgbClr val="333333"/>
            </a:solidFill>
            <a:prstDash val="solid"/>
          </a:ln>
        </p:spPr>
      </p:sp>
      <p:sp>
        <p:nvSpPr>
          <p:cNvPr id="5" name="Text 3"/>
          <p:cNvSpPr txBox="1"/>
          <p:nvPr/>
        </p:nvSpPr>
        <p:spPr>
          <a:xfrm>
            <a:off x="987552" y="2395728"/>
            <a:ext cx="3474720" cy="292608"/>
          </a:xfrm>
          <a:prstGeom prst="rect">
            <a:avLst/>
          </a:prstGeom>
          <a:noFill/>
          <a:ln/>
        </p:spPr>
        <p:txBody>
          <a:bodyPr wrap="square" lIns="0" tIns="0" rIns="0" bIns="0" rtlCol="0" anchor="t"/>
          <a:lstStyle/>
          <a:p>
            <a:pPr marL="0" indent="0">
              <a:lnSpc>
                <a:spcPts val="2200"/>
              </a:lnSpc>
              <a:buNone/>
            </a:pPr>
            <a:r>
              <a:rPr lang="en-US" sz="1300" dirty="0">
                <a:solidFill>
                  <a:srgbClr val="AEB6C2"/>
                </a:solidFill>
                <a:latin typeface="Barlow" pitchFamily="34" charset="0"/>
                <a:ea typeface="Barlow" pitchFamily="34" charset="-122"/>
                <a:cs typeface="Barlow" pitchFamily="34" charset="-120"/>
              </a:rPr>
              <a:t>Admission gate with human review</a:t>
            </a:r>
            <a:endParaRPr lang="en-US" sz="1300" dirty="0"/>
          </a:p>
        </p:txBody>
      </p:sp>
      <p:sp>
        <p:nvSpPr>
          <p:cNvPr id="6" name="Shape 4"/>
          <p:cNvSpPr/>
          <p:nvPr/>
        </p:nvSpPr>
        <p:spPr>
          <a:xfrm>
            <a:off x="713232" y="2816352"/>
            <a:ext cx="128016" cy="27432"/>
          </a:xfrm>
          <a:prstGeom prst="rect">
            <a:avLst/>
          </a:prstGeom>
          <a:solidFill>
            <a:srgbClr val="FFB020"/>
          </a:solidFill>
          <a:ln w="12700">
            <a:solidFill>
              <a:srgbClr val="333333"/>
            </a:solidFill>
            <a:prstDash val="solid"/>
          </a:ln>
        </p:spPr>
      </p:sp>
      <p:sp>
        <p:nvSpPr>
          <p:cNvPr id="7" name="Text 5"/>
          <p:cNvSpPr txBox="1"/>
          <p:nvPr/>
        </p:nvSpPr>
        <p:spPr>
          <a:xfrm>
            <a:off x="987552" y="2720340"/>
            <a:ext cx="3474720" cy="292608"/>
          </a:xfrm>
          <a:prstGeom prst="rect">
            <a:avLst/>
          </a:prstGeom>
          <a:noFill/>
          <a:ln/>
        </p:spPr>
        <p:txBody>
          <a:bodyPr wrap="square" lIns="0" tIns="0" rIns="0" bIns="0" rtlCol="0" anchor="t"/>
          <a:lstStyle/>
          <a:p>
            <a:pPr marL="0" indent="0">
              <a:lnSpc>
                <a:spcPts val="2200"/>
              </a:lnSpc>
              <a:buNone/>
            </a:pPr>
            <a:r>
              <a:rPr lang="en-US" sz="1300" dirty="0">
                <a:solidFill>
                  <a:srgbClr val="AEB6C2"/>
                </a:solidFill>
                <a:latin typeface="Barlow" pitchFamily="34" charset="0"/>
                <a:ea typeface="Barlow" pitchFamily="34" charset="-122"/>
                <a:cs typeface="Barlow" pitchFamily="34" charset="-120"/>
              </a:rPr>
              <a:t>Versioned marketability scoring</a:t>
            </a:r>
            <a:endParaRPr lang="en-US" sz="1300" dirty="0"/>
          </a:p>
        </p:txBody>
      </p:sp>
      <p:sp>
        <p:nvSpPr>
          <p:cNvPr id="8" name="Shape 6"/>
          <p:cNvSpPr/>
          <p:nvPr/>
        </p:nvSpPr>
        <p:spPr>
          <a:xfrm>
            <a:off x="713232" y="3140964"/>
            <a:ext cx="128016" cy="27432"/>
          </a:xfrm>
          <a:prstGeom prst="rect">
            <a:avLst/>
          </a:prstGeom>
          <a:solidFill>
            <a:srgbClr val="FFB020"/>
          </a:solidFill>
          <a:ln w="12700">
            <a:solidFill>
              <a:srgbClr val="333333"/>
            </a:solidFill>
            <a:prstDash val="solid"/>
          </a:ln>
        </p:spPr>
      </p:sp>
      <p:sp>
        <p:nvSpPr>
          <p:cNvPr id="9" name="Text 7"/>
          <p:cNvSpPr txBox="1"/>
          <p:nvPr/>
        </p:nvSpPr>
        <p:spPr>
          <a:xfrm>
            <a:off x="987552" y="3044952"/>
            <a:ext cx="3474720" cy="292608"/>
          </a:xfrm>
          <a:prstGeom prst="rect">
            <a:avLst/>
          </a:prstGeom>
          <a:noFill/>
          <a:ln/>
        </p:spPr>
        <p:txBody>
          <a:bodyPr wrap="square" lIns="0" tIns="0" rIns="0" bIns="0" rtlCol="0" anchor="t"/>
          <a:lstStyle/>
          <a:p>
            <a:pPr marL="0" indent="0">
              <a:lnSpc>
                <a:spcPts val="2200"/>
              </a:lnSpc>
              <a:buNone/>
            </a:pPr>
            <a:r>
              <a:rPr lang="en-US" sz="1300" dirty="0">
                <a:solidFill>
                  <a:srgbClr val="AEB6C2"/>
                </a:solidFill>
                <a:latin typeface="Barlow" pitchFamily="34" charset="0"/>
                <a:ea typeface="Barlow" pitchFamily="34" charset="-122"/>
                <a:cs typeface="Barlow" pitchFamily="34" charset="-120"/>
              </a:rPr>
              <a:t>Explainable campaign matching</a:t>
            </a:r>
            <a:endParaRPr lang="en-US" sz="1300" dirty="0"/>
          </a:p>
        </p:txBody>
      </p:sp>
      <p:sp>
        <p:nvSpPr>
          <p:cNvPr id="10" name="Shape 8"/>
          <p:cNvSpPr/>
          <p:nvPr/>
        </p:nvSpPr>
        <p:spPr>
          <a:xfrm>
            <a:off x="713232" y="3465576"/>
            <a:ext cx="128016" cy="27432"/>
          </a:xfrm>
          <a:prstGeom prst="rect">
            <a:avLst/>
          </a:prstGeom>
          <a:solidFill>
            <a:srgbClr val="FFB020"/>
          </a:solidFill>
          <a:ln w="12700">
            <a:solidFill>
              <a:srgbClr val="333333"/>
            </a:solidFill>
            <a:prstDash val="solid"/>
          </a:ln>
        </p:spPr>
      </p:sp>
      <p:sp>
        <p:nvSpPr>
          <p:cNvPr id="11" name="Text 9"/>
          <p:cNvSpPr txBox="1"/>
          <p:nvPr/>
        </p:nvSpPr>
        <p:spPr>
          <a:xfrm>
            <a:off x="987552" y="3369564"/>
            <a:ext cx="3474720" cy="292608"/>
          </a:xfrm>
          <a:prstGeom prst="rect">
            <a:avLst/>
          </a:prstGeom>
          <a:noFill/>
          <a:ln/>
        </p:spPr>
        <p:txBody>
          <a:bodyPr wrap="square" lIns="0" tIns="0" rIns="0" bIns="0" rtlCol="0" anchor="t"/>
          <a:lstStyle/>
          <a:p>
            <a:pPr marL="0" indent="0">
              <a:lnSpc>
                <a:spcPts val="2200"/>
              </a:lnSpc>
              <a:buNone/>
            </a:pPr>
            <a:r>
              <a:rPr lang="en-US" sz="1300" dirty="0">
                <a:solidFill>
                  <a:srgbClr val="AEB6C2"/>
                </a:solidFill>
                <a:latin typeface="Barlow" pitchFamily="34" charset="0"/>
                <a:ea typeface="Barlow" pitchFamily="34" charset="-122"/>
                <a:cs typeface="Barlow" pitchFamily="34" charset="-120"/>
              </a:rPr>
              <a:t>Offers, deals, delivery measurement</a:t>
            </a:r>
            <a:endParaRPr lang="en-US" sz="1300" dirty="0"/>
          </a:p>
        </p:txBody>
      </p:sp>
      <p:sp>
        <p:nvSpPr>
          <p:cNvPr id="12" name="Shape 10"/>
          <p:cNvSpPr/>
          <p:nvPr/>
        </p:nvSpPr>
        <p:spPr>
          <a:xfrm>
            <a:off x="713232" y="3790188"/>
            <a:ext cx="128016" cy="27432"/>
          </a:xfrm>
          <a:prstGeom prst="rect">
            <a:avLst/>
          </a:prstGeom>
          <a:solidFill>
            <a:srgbClr val="FFB020"/>
          </a:solidFill>
          <a:ln w="12700">
            <a:solidFill>
              <a:srgbClr val="333333"/>
            </a:solidFill>
            <a:prstDash val="solid"/>
          </a:ln>
        </p:spPr>
      </p:sp>
      <p:sp>
        <p:nvSpPr>
          <p:cNvPr id="13" name="Text 11"/>
          <p:cNvSpPr txBox="1"/>
          <p:nvPr/>
        </p:nvSpPr>
        <p:spPr>
          <a:xfrm>
            <a:off x="987552" y="3694176"/>
            <a:ext cx="3474720" cy="292608"/>
          </a:xfrm>
          <a:prstGeom prst="rect">
            <a:avLst/>
          </a:prstGeom>
          <a:noFill/>
          <a:ln/>
        </p:spPr>
        <p:txBody>
          <a:bodyPr wrap="square" lIns="0" tIns="0" rIns="0" bIns="0" rtlCol="0" anchor="t"/>
          <a:lstStyle/>
          <a:p>
            <a:pPr marL="0" indent="0">
              <a:lnSpc>
                <a:spcPts val="2200"/>
              </a:lnSpc>
              <a:buNone/>
            </a:pPr>
            <a:r>
              <a:rPr lang="en-US" sz="1300" dirty="0">
                <a:solidFill>
                  <a:srgbClr val="AEB6C2"/>
                </a:solidFill>
                <a:latin typeface="Barlow" pitchFamily="34" charset="0"/>
                <a:ea typeface="Barlow" pitchFamily="34" charset="-122"/>
                <a:cs typeface="Barlow" pitchFamily="34" charset="-120"/>
              </a:rPr>
              <a:t>Audit log and a resilience drill</a:t>
            </a:r>
            <a:endParaRPr lang="en-US" sz="1300" dirty="0"/>
          </a:p>
        </p:txBody>
      </p:sp>
      <p:sp>
        <p:nvSpPr>
          <p:cNvPr id="14" name="Shape 12"/>
          <p:cNvSpPr/>
          <p:nvPr/>
        </p:nvSpPr>
        <p:spPr>
          <a:xfrm>
            <a:off x="713232" y="4114800"/>
            <a:ext cx="128016" cy="27432"/>
          </a:xfrm>
          <a:prstGeom prst="rect">
            <a:avLst/>
          </a:prstGeom>
          <a:solidFill>
            <a:srgbClr val="FFB020"/>
          </a:solidFill>
          <a:ln w="12700">
            <a:solidFill>
              <a:srgbClr val="333333"/>
            </a:solidFill>
            <a:prstDash val="solid"/>
          </a:ln>
        </p:spPr>
      </p:sp>
      <p:sp>
        <p:nvSpPr>
          <p:cNvPr id="15" name="Text 13"/>
          <p:cNvSpPr txBox="1"/>
          <p:nvPr/>
        </p:nvSpPr>
        <p:spPr>
          <a:xfrm>
            <a:off x="987552" y="4018788"/>
            <a:ext cx="3474720" cy="292608"/>
          </a:xfrm>
          <a:prstGeom prst="rect">
            <a:avLst/>
          </a:prstGeom>
          <a:noFill/>
          <a:ln/>
        </p:spPr>
        <p:txBody>
          <a:bodyPr wrap="square" lIns="0" tIns="0" rIns="0" bIns="0" rtlCol="0" anchor="t"/>
          <a:lstStyle/>
          <a:p>
            <a:pPr marL="0" indent="0">
              <a:lnSpc>
                <a:spcPts val="2200"/>
              </a:lnSpc>
              <a:buNone/>
            </a:pPr>
            <a:r>
              <a:rPr lang="en-US" sz="1300" dirty="0">
                <a:solidFill>
                  <a:srgbClr val="AEB6C2"/>
                </a:solidFill>
                <a:latin typeface="Barlow" pitchFamily="34" charset="0"/>
                <a:ea typeface="Barlow" pitchFamily="34" charset="-122"/>
                <a:cs typeface="Barlow" pitchFamily="34" charset="-120"/>
              </a:rPr>
              <a:t>Tests on two databases in CI</a:t>
            </a:r>
            <a:endParaRPr lang="en-US" sz="1300" dirty="0"/>
          </a:p>
        </p:txBody>
      </p:sp>
      <p:sp>
        <p:nvSpPr>
          <p:cNvPr id="16" name="Text 14"/>
          <p:cNvSpPr txBox="1"/>
          <p:nvPr/>
        </p:nvSpPr>
        <p:spPr>
          <a:xfrm>
            <a:off x="713232" y="4526280"/>
            <a:ext cx="3657600" cy="310896"/>
          </a:xfrm>
          <a:prstGeom prst="rect">
            <a:avLst/>
          </a:prstGeom>
          <a:noFill/>
          <a:ln/>
        </p:spPr>
        <p:txBody>
          <a:bodyPr wrap="square" lIns="0" tIns="0" rIns="0" bIns="0" rtlCol="0" anchor="t"/>
          <a:lstStyle/>
          <a:p>
            <a:pPr marL="0" indent="0">
              <a:buNone/>
            </a:pPr>
            <a:r>
              <a:rPr lang="en-US" sz="1800" dirty="0">
                <a:solidFill>
                  <a:srgbClr val="FFB020"/>
                </a:solidFill>
                <a:latin typeface="Barlow Condensed" pitchFamily="34" charset="0"/>
                <a:ea typeface="Barlow Condensed" pitchFamily="34" charset="-122"/>
                <a:cs typeface="Barlow Condensed" pitchFamily="34" charset="-120"/>
              </a:rPr>
              <a:t>stride-demo.onrender.com</a:t>
            </a:r>
            <a:endParaRPr lang="en-US" sz="1800" dirty="0"/>
          </a:p>
        </p:txBody>
      </p:sp>
      <p:sp>
        <p:nvSpPr>
          <p:cNvPr id="17" name="Text 15"/>
          <p:cNvSpPr txBox="1"/>
          <p:nvPr/>
        </p:nvSpPr>
        <p:spPr>
          <a:xfrm>
            <a:off x="713232" y="4846320"/>
            <a:ext cx="3657600" cy="274320"/>
          </a:xfrm>
          <a:prstGeom prst="rect">
            <a:avLst/>
          </a:prstGeom>
          <a:noFill/>
          <a:ln/>
        </p:spPr>
        <p:txBody>
          <a:bodyPr wrap="square" lIns="0" tIns="0" rIns="0" bIns="0" rtlCol="0" anchor="t"/>
          <a:lstStyle/>
          <a:p>
            <a:pPr marL="0" indent="0">
              <a:lnSpc>
                <a:spcPts val="2200"/>
              </a:lnSpc>
              <a:buNone/>
            </a:pPr>
            <a:r>
              <a:rPr lang="en-US" sz="1150" dirty="0">
                <a:solidFill>
                  <a:srgbClr val="828C9A"/>
                </a:solidFill>
                <a:latin typeface="Barlow" pitchFamily="34" charset="0"/>
                <a:ea typeface="Barlow" pitchFamily="34" charset="-122"/>
                <a:cs typeface="Barlow" pitchFamily="34" charset="-120"/>
              </a:rPr>
              <a:t>Fourteen demo accounts. Registration is open.</a:t>
            </a:r>
            <a:endParaRPr lang="en-US" sz="1150" dirty="0"/>
          </a:p>
        </p:txBody>
      </p:sp>
      <p:pic>
        <p:nvPicPr>
          <p:cNvPr id="18" name="Image 0" descr="C:\Users\User\OneDrive - Universitat Ramón Llull\Desktop\stride\business-plan\attachments\ui\02-athlete-dashboard.png"/>
          <p:cNvPicPr>
            <a:picLocks noChangeAspect="1"/>
          </p:cNvPicPr>
          <p:nvPr/>
        </p:nvPicPr>
        <p:blipFill>
          <a:blip r:embed="rId3"/>
          <a:stretch>
            <a:fillRect/>
          </a:stretch>
        </p:blipFill>
        <p:spPr>
          <a:xfrm>
            <a:off x="4617720" y="685800"/>
            <a:ext cx="7178040" cy="4983480"/>
          </a:xfrm>
          <a:prstGeom prst="rect">
            <a:avLst/>
          </a:prstGeom>
        </p:spPr>
      </p:pic>
      <p:sp>
        <p:nvSpPr>
          <p:cNvPr id="19" name="Text 16"/>
          <p:cNvSpPr txBox="1"/>
          <p:nvPr/>
        </p:nvSpPr>
        <p:spPr>
          <a:xfrm>
            <a:off x="713232" y="6382512"/>
            <a:ext cx="9667951" cy="274320"/>
          </a:xfrm>
          <a:prstGeom prst="rect">
            <a:avLst/>
          </a:prstGeom>
          <a:noFill/>
          <a:ln/>
        </p:spPr>
        <p:txBody>
          <a:bodyPr wrap="square" lIns="0" tIns="0" rIns="0" bIns="0" rtlCol="0" anchor="t"/>
          <a:lstStyle/>
          <a:p>
            <a:pPr marL="0" indent="0">
              <a:buNone/>
            </a:pPr>
            <a:r>
              <a:rPr lang="en-US" sz="950" dirty="0">
                <a:solidFill>
                  <a:srgbClr val="828C9A"/>
                </a:solidFill>
                <a:latin typeface="Barlow" pitchFamily="34" charset="0"/>
                <a:ea typeface="Barlow" pitchFamily="34" charset="-122"/>
                <a:cs typeface="Barlow" pitchFamily="34" charset="-120"/>
              </a:rPr>
              <a:t>Athlete dashboard, captured from the running application.</a:t>
            </a:r>
            <a:endParaRPr lang="en-US" sz="95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THE SECOND ENGINE, RUNNING</a:t>
            </a:r>
            <a:endParaRPr lang="en-US" sz="1250" dirty="0"/>
          </a:p>
        </p:txBody>
      </p:sp>
      <p:sp>
        <p:nvSpPr>
          <p:cNvPr id="3" name="Text 1"/>
          <p:cNvSpPr txBox="1"/>
          <p:nvPr/>
        </p:nvSpPr>
        <p:spPr>
          <a:xfrm>
            <a:off x="713232" y="786384"/>
            <a:ext cx="3794760" cy="1463040"/>
          </a:xfrm>
          <a:prstGeom prst="rect">
            <a:avLst/>
          </a:prstGeom>
          <a:noFill/>
          <a:ln/>
        </p:spPr>
        <p:txBody>
          <a:bodyPr wrap="square" lIns="0" tIns="0" rIns="0" bIns="0" rtlCol="0" anchor="t"/>
          <a:lstStyle/>
          <a:p>
            <a:pPr marL="0" indent="0">
              <a:lnSpc>
                <a:spcPts val="3500"/>
              </a:lnSpc>
              <a:buNone/>
            </a:pPr>
            <a:r>
              <a:rPr lang="en-US" sz="3300" dirty="0">
                <a:solidFill>
                  <a:srgbClr val="F2F4F7"/>
                </a:solidFill>
                <a:latin typeface="Barlow Condensed" pitchFamily="34" charset="0"/>
                <a:ea typeface="Barlow Condensed" pitchFamily="34" charset="-122"/>
                <a:cs typeface="Barlow Condensed" pitchFamily="34" charset="-120"/>
              </a:rPr>
              <a:t>And this is what</a:t>
            </a:r>
            <a:endParaRPr lang="en-US" sz="3300" dirty="0"/>
          </a:p>
          <a:p>
            <a:pPr marL="0" indent="0">
              <a:lnSpc>
                <a:spcPts val="3500"/>
              </a:lnSpc>
              <a:buNone/>
            </a:pPr>
            <a:r>
              <a:rPr lang="en-US" sz="3300" dirty="0">
                <a:solidFill>
                  <a:srgbClr val="F2F4F7"/>
                </a:solidFill>
                <a:latin typeface="Barlow Condensed" pitchFamily="34" charset="0"/>
                <a:ea typeface="Barlow Condensed" pitchFamily="34" charset="-122"/>
                <a:cs typeface="Barlow Condensed" pitchFamily="34" charset="-120"/>
              </a:rPr>
              <a:t>replaces the instinct</a:t>
            </a:r>
            <a:endParaRPr lang="en-US" sz="3300" dirty="0"/>
          </a:p>
        </p:txBody>
      </p:sp>
      <p:sp>
        <p:nvSpPr>
          <p:cNvPr id="4" name="Shape 2"/>
          <p:cNvSpPr/>
          <p:nvPr/>
        </p:nvSpPr>
        <p:spPr>
          <a:xfrm>
            <a:off x="713232" y="2345436"/>
            <a:ext cx="128016" cy="27432"/>
          </a:xfrm>
          <a:prstGeom prst="rect">
            <a:avLst/>
          </a:prstGeom>
          <a:solidFill>
            <a:srgbClr val="FFB020"/>
          </a:solidFill>
          <a:ln w="12700">
            <a:solidFill>
              <a:srgbClr val="333333"/>
            </a:solidFill>
            <a:prstDash val="solid"/>
          </a:ln>
        </p:spPr>
      </p:sp>
      <p:sp>
        <p:nvSpPr>
          <p:cNvPr id="5" name="Text 3"/>
          <p:cNvSpPr txBox="1"/>
          <p:nvPr/>
        </p:nvSpPr>
        <p:spPr>
          <a:xfrm>
            <a:off x="987552" y="2249424"/>
            <a:ext cx="3520440" cy="310896"/>
          </a:xfrm>
          <a:prstGeom prst="rect">
            <a:avLst/>
          </a:prstGeom>
          <a:noFill/>
          <a:ln/>
        </p:spPr>
        <p:txBody>
          <a:bodyPr wrap="square" lIns="0" tIns="0" rIns="0" bIns="0" rtlCol="0" anchor="t"/>
          <a:lstStyle/>
          <a:p>
            <a:pPr marL="0" indent="0">
              <a:lnSpc>
                <a:spcPts val="2200"/>
              </a:lnSpc>
              <a:buNone/>
            </a:pPr>
            <a:r>
              <a:rPr lang="en-US" sz="1250" dirty="0">
                <a:solidFill>
                  <a:srgbClr val="AEB6C2"/>
                </a:solidFill>
                <a:latin typeface="Barlow" pitchFamily="34" charset="0"/>
                <a:ea typeface="Barlow" pitchFamily="34" charset="-122"/>
                <a:cs typeface="Barlow" pitchFamily="34" charset="-120"/>
              </a:rPr>
              <a:t>Delivered reach and engagements, per athlete</a:t>
            </a:r>
            <a:endParaRPr lang="en-US" sz="1250" dirty="0"/>
          </a:p>
        </p:txBody>
      </p:sp>
      <p:sp>
        <p:nvSpPr>
          <p:cNvPr id="6" name="Shape 4"/>
          <p:cNvSpPr/>
          <p:nvPr/>
        </p:nvSpPr>
        <p:spPr>
          <a:xfrm>
            <a:off x="713232" y="2711196"/>
            <a:ext cx="128016" cy="27432"/>
          </a:xfrm>
          <a:prstGeom prst="rect">
            <a:avLst/>
          </a:prstGeom>
          <a:solidFill>
            <a:srgbClr val="FFB020"/>
          </a:solidFill>
          <a:ln w="12700">
            <a:solidFill>
              <a:srgbClr val="333333"/>
            </a:solidFill>
            <a:prstDash val="solid"/>
          </a:ln>
        </p:spPr>
      </p:sp>
      <p:sp>
        <p:nvSpPr>
          <p:cNvPr id="7" name="Text 5"/>
          <p:cNvSpPr txBox="1"/>
          <p:nvPr/>
        </p:nvSpPr>
        <p:spPr>
          <a:xfrm>
            <a:off x="987552" y="2615184"/>
            <a:ext cx="3520440" cy="310896"/>
          </a:xfrm>
          <a:prstGeom prst="rect">
            <a:avLst/>
          </a:prstGeom>
          <a:noFill/>
          <a:ln/>
        </p:spPr>
        <p:txBody>
          <a:bodyPr wrap="square" lIns="0" tIns="0" rIns="0" bIns="0" rtlCol="0" anchor="t"/>
          <a:lstStyle/>
          <a:p>
            <a:pPr marL="0" indent="0">
              <a:lnSpc>
                <a:spcPts val="2200"/>
              </a:lnSpc>
              <a:buNone/>
            </a:pPr>
            <a:r>
              <a:rPr lang="en-US" sz="1250" dirty="0">
                <a:solidFill>
                  <a:srgbClr val="AEB6C2"/>
                </a:solidFill>
                <a:latin typeface="Barlow" pitchFamily="34" charset="0"/>
                <a:ea typeface="Barlow" pitchFamily="34" charset="-122"/>
                <a:cs typeface="Barlow" pitchFamily="34" charset="-120"/>
              </a:rPr>
              <a:t>Cost per thousand reached, cost per engagement</a:t>
            </a:r>
            <a:endParaRPr lang="en-US" sz="1250" dirty="0"/>
          </a:p>
        </p:txBody>
      </p:sp>
      <p:sp>
        <p:nvSpPr>
          <p:cNvPr id="8" name="Shape 6"/>
          <p:cNvSpPr/>
          <p:nvPr/>
        </p:nvSpPr>
        <p:spPr>
          <a:xfrm>
            <a:off x="713232" y="3076956"/>
            <a:ext cx="128016" cy="27432"/>
          </a:xfrm>
          <a:prstGeom prst="rect">
            <a:avLst/>
          </a:prstGeom>
          <a:solidFill>
            <a:srgbClr val="FFB020"/>
          </a:solidFill>
          <a:ln w="12700">
            <a:solidFill>
              <a:srgbClr val="333333"/>
            </a:solidFill>
            <a:prstDash val="solid"/>
          </a:ln>
        </p:spPr>
      </p:sp>
      <p:sp>
        <p:nvSpPr>
          <p:cNvPr id="9" name="Text 7"/>
          <p:cNvSpPr txBox="1"/>
          <p:nvPr/>
        </p:nvSpPr>
        <p:spPr>
          <a:xfrm>
            <a:off x="987552" y="2980944"/>
            <a:ext cx="3520440" cy="310896"/>
          </a:xfrm>
          <a:prstGeom prst="rect">
            <a:avLst/>
          </a:prstGeom>
          <a:noFill/>
          <a:ln/>
        </p:spPr>
        <p:txBody>
          <a:bodyPr wrap="square" lIns="0" tIns="0" rIns="0" bIns="0" rtlCol="0" anchor="t"/>
          <a:lstStyle/>
          <a:p>
            <a:pPr marL="0" indent="0">
              <a:lnSpc>
                <a:spcPts val="2200"/>
              </a:lnSpc>
              <a:buNone/>
            </a:pPr>
            <a:r>
              <a:rPr lang="en-US" sz="1250" dirty="0">
                <a:solidFill>
                  <a:srgbClr val="AEB6C2"/>
                </a:solidFill>
                <a:latin typeface="Barlow" pitchFamily="34" charset="0"/>
                <a:ea typeface="Barlow" pitchFamily="34" charset="-122"/>
                <a:cs typeface="Barlow" pitchFamily="34" charset="-120"/>
              </a:rPr>
              <a:t>Delivered against what was projected when priced</a:t>
            </a:r>
            <a:endParaRPr lang="en-US" sz="1250" dirty="0"/>
          </a:p>
        </p:txBody>
      </p:sp>
      <p:sp>
        <p:nvSpPr>
          <p:cNvPr id="10" name="Shape 8"/>
          <p:cNvSpPr/>
          <p:nvPr/>
        </p:nvSpPr>
        <p:spPr>
          <a:xfrm>
            <a:off x="713232" y="3442716"/>
            <a:ext cx="128016" cy="27432"/>
          </a:xfrm>
          <a:prstGeom prst="rect">
            <a:avLst/>
          </a:prstGeom>
          <a:solidFill>
            <a:srgbClr val="FFB020"/>
          </a:solidFill>
          <a:ln w="12700">
            <a:solidFill>
              <a:srgbClr val="333333"/>
            </a:solidFill>
            <a:prstDash val="solid"/>
          </a:ln>
        </p:spPr>
      </p:sp>
      <p:sp>
        <p:nvSpPr>
          <p:cNvPr id="11" name="Text 9"/>
          <p:cNvSpPr txBox="1"/>
          <p:nvPr/>
        </p:nvSpPr>
        <p:spPr>
          <a:xfrm>
            <a:off x="987552" y="3346704"/>
            <a:ext cx="3520440" cy="310896"/>
          </a:xfrm>
          <a:prstGeom prst="rect">
            <a:avLst/>
          </a:prstGeom>
          <a:noFill/>
          <a:ln/>
        </p:spPr>
        <p:txBody>
          <a:bodyPr wrap="square" lIns="0" tIns="0" rIns="0" bIns="0" rtlCol="0" anchor="t"/>
          <a:lstStyle/>
          <a:p>
            <a:pPr marL="0" indent="0">
              <a:lnSpc>
                <a:spcPts val="2200"/>
              </a:lnSpc>
              <a:buNone/>
            </a:pPr>
            <a:r>
              <a:rPr lang="en-US" sz="1250" dirty="0">
                <a:solidFill>
                  <a:srgbClr val="AEB6C2"/>
                </a:solidFill>
                <a:latin typeface="Barlow" pitchFamily="34" charset="0"/>
                <a:ea typeface="Barlow" pitchFamily="34" charset="-122"/>
                <a:cs typeface="Barlow" pitchFamily="34" charset="-120"/>
              </a:rPr>
              <a:t>Share of reach landing in the targeted countries</a:t>
            </a:r>
            <a:endParaRPr lang="en-US" sz="1250" dirty="0"/>
          </a:p>
        </p:txBody>
      </p:sp>
      <p:sp>
        <p:nvSpPr>
          <p:cNvPr id="12" name="Shape 10"/>
          <p:cNvSpPr/>
          <p:nvPr/>
        </p:nvSpPr>
        <p:spPr>
          <a:xfrm>
            <a:off x="713232" y="3808476"/>
            <a:ext cx="128016" cy="27432"/>
          </a:xfrm>
          <a:prstGeom prst="rect">
            <a:avLst/>
          </a:prstGeom>
          <a:solidFill>
            <a:srgbClr val="FFB020"/>
          </a:solidFill>
          <a:ln w="12700">
            <a:solidFill>
              <a:srgbClr val="333333"/>
            </a:solidFill>
            <a:prstDash val="solid"/>
          </a:ln>
        </p:spPr>
      </p:sp>
      <p:sp>
        <p:nvSpPr>
          <p:cNvPr id="13" name="Text 11"/>
          <p:cNvSpPr txBox="1"/>
          <p:nvPr/>
        </p:nvSpPr>
        <p:spPr>
          <a:xfrm>
            <a:off x="987552" y="3712464"/>
            <a:ext cx="3520440" cy="310896"/>
          </a:xfrm>
          <a:prstGeom prst="rect">
            <a:avLst/>
          </a:prstGeom>
          <a:noFill/>
          <a:ln/>
        </p:spPr>
        <p:txBody>
          <a:bodyPr wrap="square" lIns="0" tIns="0" rIns="0" bIns="0" rtlCol="0" anchor="t"/>
          <a:lstStyle/>
          <a:p>
            <a:pPr marL="0" indent="0">
              <a:lnSpc>
                <a:spcPts val="2200"/>
              </a:lnSpc>
              <a:buNone/>
            </a:pPr>
            <a:r>
              <a:rPr lang="en-US" sz="1250" dirty="0">
                <a:solidFill>
                  <a:srgbClr val="AEB6C2"/>
                </a:solidFill>
                <a:latin typeface="Barlow" pitchFamily="34" charset="0"/>
                <a:ea typeface="Barlow" pitchFamily="34" charset="-122"/>
                <a:cs typeface="Barlow" pitchFamily="34" charset="-120"/>
              </a:rPr>
              <a:t>Every match score decomposed to its arithmetic</a:t>
            </a:r>
            <a:endParaRPr lang="en-US" sz="1250" dirty="0"/>
          </a:p>
        </p:txBody>
      </p:sp>
      <p:sp>
        <p:nvSpPr>
          <p:cNvPr id="14" name="Shape 12"/>
          <p:cNvSpPr/>
          <p:nvPr/>
        </p:nvSpPr>
        <p:spPr>
          <a:xfrm>
            <a:off x="713232" y="4174236"/>
            <a:ext cx="128016" cy="27432"/>
          </a:xfrm>
          <a:prstGeom prst="rect">
            <a:avLst/>
          </a:prstGeom>
          <a:solidFill>
            <a:srgbClr val="FFB020"/>
          </a:solidFill>
          <a:ln w="12700">
            <a:solidFill>
              <a:srgbClr val="333333"/>
            </a:solidFill>
            <a:prstDash val="solid"/>
          </a:ln>
        </p:spPr>
      </p:sp>
      <p:sp>
        <p:nvSpPr>
          <p:cNvPr id="15" name="Text 13"/>
          <p:cNvSpPr txBox="1"/>
          <p:nvPr/>
        </p:nvSpPr>
        <p:spPr>
          <a:xfrm>
            <a:off x="987552" y="4078224"/>
            <a:ext cx="3520440" cy="310896"/>
          </a:xfrm>
          <a:prstGeom prst="rect">
            <a:avLst/>
          </a:prstGeom>
          <a:noFill/>
          <a:ln/>
        </p:spPr>
        <p:txBody>
          <a:bodyPr wrap="square" lIns="0" tIns="0" rIns="0" bIns="0" rtlCol="0" anchor="t"/>
          <a:lstStyle/>
          <a:p>
            <a:pPr marL="0" indent="0">
              <a:lnSpc>
                <a:spcPts val="2200"/>
              </a:lnSpc>
              <a:buNone/>
            </a:pPr>
            <a:r>
              <a:rPr lang="en-US" sz="1250" dirty="0">
                <a:solidFill>
                  <a:srgbClr val="AEB6C2"/>
                </a:solidFill>
                <a:latin typeface="Barlow" pitchFamily="34" charset="0"/>
                <a:ea typeface="Barlow" pitchFamily="34" charset="-122"/>
                <a:cs typeface="Barlow" pitchFamily="34" charset="-120"/>
              </a:rPr>
              <a:t>A dash where nothing is measured. Never a zero</a:t>
            </a:r>
            <a:endParaRPr lang="en-US" sz="1250" dirty="0"/>
          </a:p>
        </p:txBody>
      </p:sp>
      <p:sp>
        <p:nvSpPr>
          <p:cNvPr id="16" name="Text 14"/>
          <p:cNvSpPr txBox="1"/>
          <p:nvPr/>
        </p:nvSpPr>
        <p:spPr>
          <a:xfrm>
            <a:off x="713232" y="4572000"/>
            <a:ext cx="3611880" cy="1005840"/>
          </a:xfrm>
          <a:prstGeom prst="rect">
            <a:avLst/>
          </a:prstGeom>
          <a:noFill/>
          <a:ln/>
        </p:spPr>
        <p:txBody>
          <a:bodyPr wrap="square" lIns="0" tIns="0" rIns="0" bIns="0" rtlCol="0" anchor="t"/>
          <a:lstStyle/>
          <a:p>
            <a:pPr marL="0" indent="0">
              <a:lnSpc>
                <a:spcPts val="1700"/>
              </a:lnSpc>
              <a:buNone/>
            </a:pPr>
            <a:r>
              <a:rPr lang="en-US" sz="1250" dirty="0">
                <a:solidFill>
                  <a:srgbClr val="828C9A"/>
                </a:solidFill>
                <a:latin typeface="Barlow" pitchFamily="34" charset="0"/>
                <a:ea typeface="Barlow" pitchFamily="34" charset="-122"/>
                <a:cs typeface="Barlow" pitchFamily="34" charset="-120"/>
              </a:rPr>
              <a:t>The arithmetic is shown because a brand that cannot audit the number will not spend against it a second time. The red figure on that screen is a deal that underdelivered, and the product says so.</a:t>
            </a:r>
            <a:endParaRPr lang="en-US" sz="1250" dirty="0"/>
          </a:p>
        </p:txBody>
      </p:sp>
      <p:pic>
        <p:nvPicPr>
          <p:cNvPr id="17" name="Image 0" descr="C:\Users\User\OneDrive - Universitat Ramón Llull\Desktop\stride\deck\shots\sponsor-campaign-analytics.png"/>
          <p:cNvPicPr>
            <a:picLocks noChangeAspect="1"/>
          </p:cNvPicPr>
          <p:nvPr/>
        </p:nvPicPr>
        <p:blipFill>
          <a:blip r:embed="rId3"/>
          <a:stretch>
            <a:fillRect/>
          </a:stretch>
        </p:blipFill>
        <p:spPr>
          <a:xfrm>
            <a:off x="4617720" y="685800"/>
            <a:ext cx="7178040" cy="4983480"/>
          </a:xfrm>
          <a:prstGeom prst="rect">
            <a:avLst/>
          </a:prstGeom>
        </p:spPr>
      </p:pic>
      <p:sp>
        <p:nvSpPr>
          <p:cNvPr id="18" name="Text 15"/>
          <p:cNvSpPr txBox="1"/>
          <p:nvPr/>
        </p:nvSpPr>
        <p:spPr>
          <a:xfrm>
            <a:off x="713232" y="6382512"/>
            <a:ext cx="9667951" cy="274320"/>
          </a:xfrm>
          <a:prstGeom prst="rect">
            <a:avLst/>
          </a:prstGeom>
          <a:noFill/>
          <a:ln/>
        </p:spPr>
        <p:txBody>
          <a:bodyPr wrap="square" lIns="0" tIns="0" rIns="0" bIns="0" rtlCol="0" anchor="t"/>
          <a:lstStyle/>
          <a:p>
            <a:pPr marL="0" indent="0">
              <a:buNone/>
            </a:pPr>
            <a:r>
              <a:rPr lang="en-US" sz="950" dirty="0">
                <a:solidFill>
                  <a:srgbClr val="828C9A"/>
                </a:solidFill>
                <a:latin typeface="Barlow" pitchFamily="34" charset="0"/>
                <a:ea typeface="Barlow" pitchFamily="34" charset="-122"/>
                <a:cs typeface="Barlow" pitchFamily="34" charset="-120"/>
              </a:rPr>
              <a:t>Campaign result view, captured from the running application. The demo's engagement figures are seeded, and the product labels them simulated on the screen itself.</a:t>
            </a:r>
            <a:endParaRPr lang="en-US" sz="95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PRIMARY RESEARCH</a:t>
            </a:r>
            <a:endParaRPr lang="en-US" sz="1250" dirty="0"/>
          </a:p>
        </p:txBody>
      </p:sp>
      <p:sp>
        <p:nvSpPr>
          <p:cNvPr id="3" name="Text 1"/>
          <p:cNvSpPr txBox="1"/>
          <p:nvPr/>
        </p:nvSpPr>
        <p:spPr>
          <a:xfrm>
            <a:off x="713232" y="786384"/>
            <a:ext cx="10765231" cy="868680"/>
          </a:xfrm>
          <a:prstGeom prst="rect">
            <a:avLst/>
          </a:prstGeom>
          <a:noFill/>
          <a:ln/>
        </p:spPr>
        <p:txBody>
          <a:bodyPr wrap="square" lIns="0" tIns="0" rIns="0" bIns="0" rtlCol="0" anchor="t"/>
          <a:lstStyle/>
          <a:p>
            <a:pPr marL="0" indent="0">
              <a:lnSpc>
                <a:spcPts val="3800"/>
              </a:lnSpc>
              <a:buNone/>
            </a:pPr>
            <a:r>
              <a:rPr lang="en-US" sz="3600" dirty="0">
                <a:solidFill>
                  <a:srgbClr val="F2F4F7"/>
                </a:solidFill>
                <a:latin typeface="Barlow Condensed" pitchFamily="34" charset="0"/>
                <a:ea typeface="Barlow Condensed" pitchFamily="34" charset="-122"/>
                <a:cs typeface="Barlow Condensed" pitchFamily="34" charset="-120"/>
              </a:rPr>
              <a:t>The research changed the product, which is the point of doing it</a:t>
            </a:r>
            <a:endParaRPr lang="en-US" sz="3600" dirty="0"/>
          </a:p>
        </p:txBody>
      </p:sp>
      <p:sp>
        <p:nvSpPr>
          <p:cNvPr id="4" name="Shape 2"/>
          <p:cNvSpPr/>
          <p:nvPr/>
        </p:nvSpPr>
        <p:spPr>
          <a:xfrm>
            <a:off x="713232" y="1920240"/>
            <a:ext cx="6583680" cy="3017520"/>
          </a:xfrm>
          <a:prstGeom prst="roundRect">
            <a:avLst>
              <a:gd name="adj" fmla="val 1212"/>
            </a:avLst>
          </a:prstGeom>
          <a:solidFill>
            <a:srgbClr val="171A20"/>
          </a:solidFill>
          <a:ln w="9525">
            <a:solidFill>
              <a:srgbClr val="262C35"/>
            </a:solidFill>
            <a:prstDash val="solid"/>
          </a:ln>
        </p:spPr>
      </p:sp>
      <p:sp>
        <p:nvSpPr>
          <p:cNvPr id="5" name="Text 3"/>
          <p:cNvSpPr txBox="1"/>
          <p:nvPr/>
        </p:nvSpPr>
        <p:spPr>
          <a:xfrm>
            <a:off x="969264" y="1975104"/>
            <a:ext cx="914400" cy="914400"/>
          </a:xfrm>
          <a:prstGeom prst="rect">
            <a:avLst/>
          </a:prstGeom>
          <a:noFill/>
          <a:ln/>
        </p:spPr>
        <p:txBody>
          <a:bodyPr wrap="square" lIns="0" tIns="0" rIns="0" bIns="0" rtlCol="0" anchor="t"/>
          <a:lstStyle/>
          <a:p>
            <a:pPr marL="0" indent="0">
              <a:buNone/>
            </a:pPr>
            <a:r>
              <a:rPr lang="en-US" sz="7600" dirty="0">
                <a:solidFill>
                  <a:srgbClr val="262C35"/>
                </a:solidFill>
                <a:latin typeface="Barlow Condensed" pitchFamily="34" charset="0"/>
                <a:ea typeface="Barlow Condensed" pitchFamily="34" charset="-122"/>
                <a:cs typeface="Barlow Condensed" pitchFamily="34" charset="-120"/>
              </a:rPr>
              <a:t>“</a:t>
            </a:r>
            <a:endParaRPr lang="en-US" sz="7600" dirty="0"/>
          </a:p>
        </p:txBody>
      </p:sp>
      <p:sp>
        <p:nvSpPr>
          <p:cNvPr id="6" name="Text 4"/>
          <p:cNvSpPr txBox="1"/>
          <p:nvPr/>
        </p:nvSpPr>
        <p:spPr>
          <a:xfrm>
            <a:off x="1097280" y="2670048"/>
            <a:ext cx="5852160" cy="1097280"/>
          </a:xfrm>
          <a:prstGeom prst="rect">
            <a:avLst/>
          </a:prstGeom>
          <a:noFill/>
          <a:ln/>
        </p:spPr>
        <p:txBody>
          <a:bodyPr wrap="square" lIns="0" tIns="0" rIns="0" bIns="0" rtlCol="0" anchor="t"/>
          <a:lstStyle/>
          <a:p>
            <a:pPr marL="0" indent="0">
              <a:lnSpc>
                <a:spcPts val="2800"/>
              </a:lnSpc>
              <a:buNone/>
            </a:pPr>
            <a:r>
              <a:rPr lang="en-US" sz="2000" dirty="0">
                <a:solidFill>
                  <a:srgbClr val="F2F4F7"/>
                </a:solidFill>
                <a:latin typeface="Barlow" pitchFamily="34" charset="0"/>
                <a:ea typeface="Barlow" pitchFamily="34" charset="-122"/>
                <a:cs typeface="Barlow" pitchFamily="34" charset="-120"/>
              </a:rPr>
              <a:t>Open registration to everyone, but build a filtering mechanism so that not anyone can register as an athlete.</a:t>
            </a:r>
            <a:endParaRPr lang="en-US" sz="2000" dirty="0"/>
          </a:p>
        </p:txBody>
      </p:sp>
      <p:sp>
        <p:nvSpPr>
          <p:cNvPr id="7" name="Shape 5"/>
          <p:cNvSpPr/>
          <p:nvPr/>
        </p:nvSpPr>
        <p:spPr>
          <a:xfrm>
            <a:off x="1097280" y="3913632"/>
            <a:ext cx="1005840" cy="18288"/>
          </a:xfrm>
          <a:prstGeom prst="rect">
            <a:avLst/>
          </a:prstGeom>
          <a:solidFill>
            <a:srgbClr val="FFB020"/>
          </a:solidFill>
          <a:ln w="12700">
            <a:solidFill>
              <a:srgbClr val="333333"/>
            </a:solidFill>
            <a:prstDash val="solid"/>
          </a:ln>
        </p:spPr>
      </p:sp>
      <p:sp>
        <p:nvSpPr>
          <p:cNvPr id="8" name="Text 6"/>
          <p:cNvSpPr txBox="1"/>
          <p:nvPr/>
        </p:nvSpPr>
        <p:spPr>
          <a:xfrm>
            <a:off x="1097280" y="4078224"/>
            <a:ext cx="5852160" cy="731520"/>
          </a:xfrm>
          <a:prstGeom prst="rect">
            <a:avLst/>
          </a:prstGeom>
          <a:noFill/>
          <a:ln/>
        </p:spPr>
        <p:txBody>
          <a:bodyPr wrap="square" lIns="0" tIns="0" rIns="0" bIns="0" rtlCol="0" anchor="t"/>
          <a:lstStyle/>
          <a:p>
            <a:pPr marL="0" indent="0">
              <a:lnSpc>
                <a:spcPts val="1700"/>
              </a:lnSpc>
              <a:buNone/>
            </a:pPr>
            <a:r>
              <a:rPr lang="en-US" sz="1250" dirty="0">
                <a:solidFill>
                  <a:srgbClr val="828C9A"/>
                </a:solidFill>
                <a:latin typeface="Barlow" pitchFamily="34" charset="0"/>
                <a:ea typeface="Barlow" pitchFamily="34" charset="-122"/>
                <a:cs typeface="Barlow" pitchFamily="34" charset="-120"/>
              </a:rPr>
              <a:t>Íñigo Cristóbal Losada, AI Lead at olympics.com, after eleven years at Olympic Broadcasting Services, where he was Broadcaster Services Manager through Tokyo 2020 and Beijing 2022.</a:t>
            </a:r>
            <a:endParaRPr lang="en-US" sz="1250" dirty="0"/>
          </a:p>
        </p:txBody>
      </p:sp>
      <p:sp>
        <p:nvSpPr>
          <p:cNvPr id="9" name="Text 7"/>
          <p:cNvSpPr txBox="1"/>
          <p:nvPr/>
        </p:nvSpPr>
        <p:spPr>
          <a:xfrm>
            <a:off x="7772400" y="1920240"/>
            <a:ext cx="3706063" cy="237744"/>
          </a:xfrm>
          <a:prstGeom prst="rect">
            <a:avLst/>
          </a:prstGeom>
          <a:noFill/>
          <a:ln/>
        </p:spPr>
        <p:txBody>
          <a:bodyPr wrap="square" lIns="0" tIns="0" rIns="0" bIns="0" rtlCol="0" anchor="t"/>
          <a:lstStyle/>
          <a:p>
            <a:pPr marL="0" indent="0">
              <a:buNone/>
            </a:pPr>
            <a:r>
              <a:rPr lang="en-US" sz="1200" kern="0" spc="280" dirty="0">
                <a:solidFill>
                  <a:srgbClr val="828C9A"/>
                </a:solidFill>
                <a:latin typeface="Barlow Condensed" pitchFamily="34" charset="0"/>
                <a:ea typeface="Barlow Condensed" pitchFamily="34" charset="-122"/>
                <a:cs typeface="Barlow Condensed" pitchFamily="34" charset="-120"/>
              </a:rPr>
              <a:t>WHAT IT CHANGED</a:t>
            </a:r>
            <a:endParaRPr lang="en-US" sz="1200" dirty="0"/>
          </a:p>
        </p:txBody>
      </p:sp>
      <p:sp>
        <p:nvSpPr>
          <p:cNvPr id="10" name="Text 8"/>
          <p:cNvSpPr txBox="1"/>
          <p:nvPr/>
        </p:nvSpPr>
        <p:spPr>
          <a:xfrm>
            <a:off x="7772400" y="2249424"/>
            <a:ext cx="3706063" cy="914400"/>
          </a:xfrm>
          <a:prstGeom prst="rect">
            <a:avLst/>
          </a:prstGeom>
          <a:noFill/>
          <a:ln/>
        </p:spPr>
        <p:txBody>
          <a:bodyPr wrap="square" lIns="0" tIns="0" rIns="0" bIns="0" rtlCol="0" anchor="t"/>
          <a:lstStyle/>
          <a:p>
            <a:pPr marL="0" indent="0">
              <a:lnSpc>
                <a:spcPts val="2000"/>
              </a:lnSpc>
              <a:buNone/>
            </a:pPr>
            <a:r>
              <a:rPr lang="en-US" sz="1400" dirty="0">
                <a:solidFill>
                  <a:srgbClr val="AEB6C2"/>
                </a:solidFill>
                <a:latin typeface="Barlow" pitchFamily="34" charset="0"/>
                <a:ea typeface="Barlow" pitchFamily="34" charset="-122"/>
                <a:cs typeface="Barlow" pitchFamily="34" charset="-120"/>
              </a:rPr>
              <a:t>I had pitched it to him as a product for the IOC, open only to Olympic athletes. He rejected that framing outright.</a:t>
            </a:r>
            <a:endParaRPr lang="en-US" sz="1400" dirty="0"/>
          </a:p>
        </p:txBody>
      </p:sp>
      <p:sp>
        <p:nvSpPr>
          <p:cNvPr id="11" name="Text 9"/>
          <p:cNvSpPr txBox="1"/>
          <p:nvPr/>
        </p:nvSpPr>
        <p:spPr>
          <a:xfrm>
            <a:off x="7772400" y="3182112"/>
            <a:ext cx="3706063" cy="914400"/>
          </a:xfrm>
          <a:prstGeom prst="rect">
            <a:avLst/>
          </a:prstGeom>
          <a:noFill/>
          <a:ln/>
        </p:spPr>
        <p:txBody>
          <a:bodyPr wrap="square" lIns="0" tIns="0" rIns="0" bIns="0" rtlCol="0" anchor="t"/>
          <a:lstStyle/>
          <a:p>
            <a:pPr marL="0" indent="0">
              <a:lnSpc>
                <a:spcPts val="2000"/>
              </a:lnSpc>
              <a:buNone/>
            </a:pPr>
            <a:r>
              <a:rPr lang="en-US" sz="1400" dirty="0">
                <a:solidFill>
                  <a:srgbClr val="F2F4F7"/>
                </a:solidFill>
                <a:latin typeface="Barlow" pitchFamily="34" charset="0"/>
                <a:ea typeface="Barlow" pitchFamily="34" charset="-122"/>
                <a:cs typeface="Barlow" pitchFamily="34" charset="-120"/>
              </a:rPr>
              <a:t>The admission gate exists because of that conversation. It is not a feature that was designed and then justified.</a:t>
            </a:r>
            <a:endParaRPr lang="en-US" sz="1400" dirty="0"/>
          </a:p>
        </p:txBody>
      </p:sp>
      <p:sp>
        <p:nvSpPr>
          <p:cNvPr id="12" name="Text 10"/>
          <p:cNvSpPr txBox="1"/>
          <p:nvPr/>
        </p:nvSpPr>
        <p:spPr>
          <a:xfrm>
            <a:off x="7772400" y="4114800"/>
            <a:ext cx="3706063" cy="1097280"/>
          </a:xfrm>
          <a:prstGeom prst="rect">
            <a:avLst/>
          </a:prstGeom>
          <a:noFill/>
          <a:ln/>
        </p:spPr>
        <p:txBody>
          <a:bodyPr wrap="square" lIns="0" tIns="0" rIns="0" bIns="0" rtlCol="0" anchor="t"/>
          <a:lstStyle/>
          <a:p>
            <a:pPr marL="0" indent="0">
              <a:lnSpc>
                <a:spcPts val="1800"/>
              </a:lnSpc>
              <a:buNone/>
            </a:pPr>
            <a:r>
              <a:rPr lang="en-US" sz="1300" dirty="0">
                <a:solidFill>
                  <a:srgbClr val="828C9A"/>
                </a:solidFill>
                <a:latin typeface="Barlow" pitchFamily="34" charset="0"/>
                <a:ea typeface="Barlow" pitchFamily="34" charset="-122"/>
                <a:cs typeface="Barlow" pitchFamily="34" charset="-120"/>
              </a:rPr>
              <a:t>It also settled market entry. An IOC-only product inherits the IOC's athletes: elite, represented, already monetised. The segment with the actual problem sits below that tier.</a:t>
            </a:r>
            <a:endParaRPr lang="en-US" sz="130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HOW BIG, BOTTOM UP</a:t>
            </a:r>
            <a:endParaRPr lang="en-US" sz="1250" dirty="0"/>
          </a:p>
        </p:txBody>
      </p:sp>
      <p:sp>
        <p:nvSpPr>
          <p:cNvPr id="3" name="Text 1"/>
          <p:cNvSpPr txBox="1"/>
          <p:nvPr/>
        </p:nvSpPr>
        <p:spPr>
          <a:xfrm>
            <a:off x="713232" y="786384"/>
            <a:ext cx="10765231" cy="868680"/>
          </a:xfrm>
          <a:prstGeom prst="rect">
            <a:avLst/>
          </a:prstGeom>
          <a:noFill/>
          <a:ln/>
        </p:spPr>
        <p:txBody>
          <a:bodyPr wrap="square" lIns="0" tIns="0" rIns="0" bIns="0" rtlCol="0" anchor="t"/>
          <a:lstStyle/>
          <a:p>
            <a:pPr marL="0" indent="0">
              <a:lnSpc>
                <a:spcPts val="3800"/>
              </a:lnSpc>
              <a:buNone/>
            </a:pPr>
            <a:r>
              <a:rPr lang="en-US" sz="3600" dirty="0">
                <a:solidFill>
                  <a:srgbClr val="F2F4F7"/>
                </a:solidFill>
                <a:latin typeface="Barlow Condensed" pitchFamily="34" charset="0"/>
                <a:ea typeface="Barlow Condensed" pitchFamily="34" charset="-122"/>
                <a:cs typeface="Barlow Condensed" pitchFamily="34" charset="-120"/>
              </a:rPr>
              <a:t>A segment nobody measures is a segment nobody has sized a product for</a:t>
            </a:r>
            <a:endParaRPr lang="en-US" sz="3600" dirty="0"/>
          </a:p>
        </p:txBody>
      </p:sp>
      <p:sp>
        <p:nvSpPr>
          <p:cNvPr id="4" name="Shape 2"/>
          <p:cNvSpPr/>
          <p:nvPr/>
        </p:nvSpPr>
        <p:spPr>
          <a:xfrm>
            <a:off x="713232" y="1993392"/>
            <a:ext cx="5394960" cy="438912"/>
          </a:xfrm>
          <a:prstGeom prst="rect">
            <a:avLst/>
          </a:prstGeom>
          <a:solidFill>
            <a:srgbClr val="262C35"/>
          </a:solidFill>
          <a:ln w="12700">
            <a:solidFill>
              <a:srgbClr val="333333"/>
            </a:solidFill>
            <a:prstDash val="solid"/>
          </a:ln>
        </p:spPr>
      </p:sp>
      <p:sp>
        <p:nvSpPr>
          <p:cNvPr id="5" name="Text 3"/>
          <p:cNvSpPr txBox="1"/>
          <p:nvPr/>
        </p:nvSpPr>
        <p:spPr>
          <a:xfrm>
            <a:off x="877824" y="2020824"/>
            <a:ext cx="2011680" cy="365760"/>
          </a:xfrm>
          <a:prstGeom prst="rect">
            <a:avLst/>
          </a:prstGeom>
          <a:noFill/>
          <a:ln/>
        </p:spPr>
        <p:txBody>
          <a:bodyPr wrap="square" lIns="0" tIns="0" rIns="0" bIns="0" rtlCol="0" anchor="t"/>
          <a:lstStyle/>
          <a:p>
            <a:pPr marL="0" indent="0">
              <a:buNone/>
            </a:pPr>
            <a:r>
              <a:rPr lang="en-US" sz="2100" dirty="0">
                <a:solidFill>
                  <a:srgbClr val="F2F4F7"/>
                </a:solidFill>
                <a:latin typeface="Barlow Condensed" pitchFamily="34" charset="0"/>
                <a:ea typeface="Barlow Condensed" pitchFamily="34" charset="-122"/>
                <a:cs typeface="Barlow Condensed" pitchFamily="34" charset="-120"/>
              </a:rPr>
              <a:t>520M</a:t>
            </a:r>
            <a:endParaRPr lang="en-US" sz="2100" dirty="0"/>
          </a:p>
        </p:txBody>
      </p:sp>
      <p:sp>
        <p:nvSpPr>
          <p:cNvPr id="6" name="Text 4"/>
          <p:cNvSpPr txBox="1"/>
          <p:nvPr/>
        </p:nvSpPr>
        <p:spPr>
          <a:xfrm>
            <a:off x="6336792" y="2075688"/>
            <a:ext cx="2514600" cy="329184"/>
          </a:xfrm>
          <a:prstGeom prst="rect">
            <a:avLst/>
          </a:prstGeom>
          <a:noFill/>
          <a:ln/>
        </p:spPr>
        <p:txBody>
          <a:bodyPr wrap="square" lIns="0" tIns="0" rIns="0" bIns="0" rtlCol="0" anchor="t"/>
          <a:lstStyle/>
          <a:p>
            <a:pPr marL="0" indent="0">
              <a:lnSpc>
                <a:spcPts val="2200"/>
              </a:lnSpc>
              <a:buNone/>
            </a:pPr>
            <a:r>
              <a:rPr lang="en-US" sz="1250" dirty="0">
                <a:solidFill>
                  <a:srgbClr val="828C9A"/>
                </a:solidFill>
                <a:latin typeface="Barlow" pitchFamily="34" charset="0"/>
                <a:ea typeface="Barlow" pitchFamily="34" charset="-122"/>
                <a:cs typeface="Barlow" pitchFamily="34" charset="-120"/>
              </a:rPr>
              <a:t>EU-27 and UK population</a:t>
            </a:r>
            <a:endParaRPr lang="en-US" sz="1250" dirty="0"/>
          </a:p>
        </p:txBody>
      </p:sp>
      <p:sp>
        <p:nvSpPr>
          <p:cNvPr id="7" name="Shape 5"/>
          <p:cNvSpPr/>
          <p:nvPr/>
        </p:nvSpPr>
        <p:spPr>
          <a:xfrm>
            <a:off x="713232" y="2596896"/>
            <a:ext cx="3344875" cy="438912"/>
          </a:xfrm>
          <a:prstGeom prst="rect">
            <a:avLst/>
          </a:prstGeom>
          <a:solidFill>
            <a:srgbClr val="262C35"/>
          </a:solidFill>
          <a:ln w="12700">
            <a:solidFill>
              <a:srgbClr val="333333"/>
            </a:solidFill>
            <a:prstDash val="solid"/>
          </a:ln>
        </p:spPr>
      </p:sp>
      <p:sp>
        <p:nvSpPr>
          <p:cNvPr id="8" name="Text 6"/>
          <p:cNvSpPr txBox="1"/>
          <p:nvPr/>
        </p:nvSpPr>
        <p:spPr>
          <a:xfrm>
            <a:off x="877824" y="2624328"/>
            <a:ext cx="2011680" cy="365760"/>
          </a:xfrm>
          <a:prstGeom prst="rect">
            <a:avLst/>
          </a:prstGeom>
          <a:noFill/>
          <a:ln/>
        </p:spPr>
        <p:txBody>
          <a:bodyPr wrap="square" lIns="0" tIns="0" rIns="0" bIns="0" rtlCol="0" anchor="t"/>
          <a:lstStyle/>
          <a:p>
            <a:pPr marL="0" indent="0">
              <a:buNone/>
            </a:pPr>
            <a:r>
              <a:rPr lang="en-US" sz="2100" dirty="0">
                <a:solidFill>
                  <a:srgbClr val="F2F4F7"/>
                </a:solidFill>
                <a:latin typeface="Barlow Condensed" pitchFamily="34" charset="0"/>
                <a:ea typeface="Barlow Condensed" pitchFamily="34" charset="-122"/>
                <a:cs typeface="Barlow Condensed" pitchFamily="34" charset="-120"/>
              </a:rPr>
              <a:t>8.3M</a:t>
            </a:r>
            <a:endParaRPr lang="en-US" sz="2100" dirty="0"/>
          </a:p>
        </p:txBody>
      </p:sp>
      <p:sp>
        <p:nvSpPr>
          <p:cNvPr id="9" name="Text 7"/>
          <p:cNvSpPr txBox="1"/>
          <p:nvPr/>
        </p:nvSpPr>
        <p:spPr>
          <a:xfrm>
            <a:off x="6336792" y="2679192"/>
            <a:ext cx="2514600" cy="329184"/>
          </a:xfrm>
          <a:prstGeom prst="rect">
            <a:avLst/>
          </a:prstGeom>
          <a:noFill/>
          <a:ln/>
        </p:spPr>
        <p:txBody>
          <a:bodyPr wrap="square" lIns="0" tIns="0" rIns="0" bIns="0" rtlCol="0" anchor="t"/>
          <a:lstStyle/>
          <a:p>
            <a:pPr marL="0" indent="0">
              <a:lnSpc>
                <a:spcPts val="2200"/>
              </a:lnSpc>
              <a:buNone/>
            </a:pPr>
            <a:r>
              <a:rPr lang="en-US" sz="1250" dirty="0">
                <a:solidFill>
                  <a:srgbClr val="828C9A"/>
                </a:solidFill>
                <a:latin typeface="Barlow" pitchFamily="34" charset="0"/>
                <a:ea typeface="Barlow" pitchFamily="34" charset="-122"/>
                <a:cs typeface="Barlow" pitchFamily="34" charset="-120"/>
              </a:rPr>
              <a:t>Compete at club level or above</a:t>
            </a:r>
            <a:endParaRPr lang="en-US" sz="1250" dirty="0"/>
          </a:p>
        </p:txBody>
      </p:sp>
      <p:sp>
        <p:nvSpPr>
          <p:cNvPr id="10" name="Shape 8"/>
          <p:cNvSpPr/>
          <p:nvPr/>
        </p:nvSpPr>
        <p:spPr>
          <a:xfrm>
            <a:off x="713232" y="3200400"/>
            <a:ext cx="2157984" cy="438912"/>
          </a:xfrm>
          <a:prstGeom prst="rect">
            <a:avLst/>
          </a:prstGeom>
          <a:solidFill>
            <a:srgbClr val="262C35"/>
          </a:solidFill>
          <a:ln w="12700">
            <a:solidFill>
              <a:srgbClr val="333333"/>
            </a:solidFill>
            <a:prstDash val="solid"/>
          </a:ln>
        </p:spPr>
      </p:sp>
      <p:sp>
        <p:nvSpPr>
          <p:cNvPr id="11" name="Text 9"/>
          <p:cNvSpPr txBox="1"/>
          <p:nvPr/>
        </p:nvSpPr>
        <p:spPr>
          <a:xfrm>
            <a:off x="877824" y="3227832"/>
            <a:ext cx="2011680" cy="365760"/>
          </a:xfrm>
          <a:prstGeom prst="rect">
            <a:avLst/>
          </a:prstGeom>
          <a:noFill/>
          <a:ln/>
        </p:spPr>
        <p:txBody>
          <a:bodyPr wrap="square" lIns="0" tIns="0" rIns="0" bIns="0" rtlCol="0" anchor="t"/>
          <a:lstStyle/>
          <a:p>
            <a:pPr marL="0" indent="0">
              <a:buNone/>
            </a:pPr>
            <a:r>
              <a:rPr lang="en-US" sz="2100" dirty="0">
                <a:solidFill>
                  <a:srgbClr val="F2F4F7"/>
                </a:solidFill>
                <a:latin typeface="Barlow Condensed" pitchFamily="34" charset="0"/>
                <a:ea typeface="Barlow Condensed" pitchFamily="34" charset="-122"/>
                <a:cs typeface="Barlow Condensed" pitchFamily="34" charset="-120"/>
              </a:rPr>
              <a:t>138,000</a:t>
            </a:r>
            <a:endParaRPr lang="en-US" sz="2100" dirty="0"/>
          </a:p>
        </p:txBody>
      </p:sp>
      <p:sp>
        <p:nvSpPr>
          <p:cNvPr id="12" name="Text 10"/>
          <p:cNvSpPr txBox="1"/>
          <p:nvPr/>
        </p:nvSpPr>
        <p:spPr>
          <a:xfrm>
            <a:off x="6336792" y="3282696"/>
            <a:ext cx="2514600" cy="329184"/>
          </a:xfrm>
          <a:prstGeom prst="rect">
            <a:avLst/>
          </a:prstGeom>
          <a:noFill/>
          <a:ln/>
        </p:spPr>
        <p:txBody>
          <a:bodyPr wrap="square" lIns="0" tIns="0" rIns="0" bIns="0" rtlCol="0" anchor="t"/>
          <a:lstStyle/>
          <a:p>
            <a:pPr marL="0" indent="0">
              <a:lnSpc>
                <a:spcPts val="2200"/>
              </a:lnSpc>
              <a:buNone/>
            </a:pPr>
            <a:r>
              <a:rPr lang="en-US" sz="1250" dirty="0">
                <a:solidFill>
                  <a:srgbClr val="828C9A"/>
                </a:solidFill>
                <a:latin typeface="Barlow" pitchFamily="34" charset="0"/>
                <a:ea typeface="Barlow" pitchFamily="34" charset="-122"/>
                <a:cs typeface="Barlow" pitchFamily="34" charset="-120"/>
              </a:rPr>
              <a:t>TAM: niche sports, 5,000+ followers</a:t>
            </a:r>
            <a:endParaRPr lang="en-US" sz="1250" dirty="0"/>
          </a:p>
        </p:txBody>
      </p:sp>
      <p:sp>
        <p:nvSpPr>
          <p:cNvPr id="13" name="Shape 11"/>
          <p:cNvSpPr/>
          <p:nvPr/>
        </p:nvSpPr>
        <p:spPr>
          <a:xfrm>
            <a:off x="713232" y="3803904"/>
            <a:ext cx="1402690" cy="438912"/>
          </a:xfrm>
          <a:prstGeom prst="rect">
            <a:avLst/>
          </a:prstGeom>
          <a:solidFill>
            <a:srgbClr val="262C35"/>
          </a:solidFill>
          <a:ln w="12700">
            <a:solidFill>
              <a:srgbClr val="333333"/>
            </a:solidFill>
            <a:prstDash val="solid"/>
          </a:ln>
        </p:spPr>
      </p:sp>
      <p:sp>
        <p:nvSpPr>
          <p:cNvPr id="14" name="Text 12"/>
          <p:cNvSpPr txBox="1"/>
          <p:nvPr/>
        </p:nvSpPr>
        <p:spPr>
          <a:xfrm>
            <a:off x="877824" y="3831336"/>
            <a:ext cx="2011680" cy="365760"/>
          </a:xfrm>
          <a:prstGeom prst="rect">
            <a:avLst/>
          </a:prstGeom>
          <a:noFill/>
          <a:ln/>
        </p:spPr>
        <p:txBody>
          <a:bodyPr wrap="square" lIns="0" tIns="0" rIns="0" bIns="0" rtlCol="0" anchor="t"/>
          <a:lstStyle/>
          <a:p>
            <a:pPr marL="0" indent="0">
              <a:buNone/>
            </a:pPr>
            <a:r>
              <a:rPr lang="en-US" sz="2100" dirty="0">
                <a:solidFill>
                  <a:srgbClr val="F2F4F7"/>
                </a:solidFill>
                <a:latin typeface="Barlow Condensed" pitchFamily="34" charset="0"/>
                <a:ea typeface="Barlow Condensed" pitchFamily="34" charset="-122"/>
                <a:cs typeface="Barlow Condensed" pitchFamily="34" charset="-120"/>
              </a:rPr>
              <a:t>55,000</a:t>
            </a:r>
            <a:endParaRPr lang="en-US" sz="2100" dirty="0"/>
          </a:p>
        </p:txBody>
      </p:sp>
      <p:sp>
        <p:nvSpPr>
          <p:cNvPr id="15" name="Text 13"/>
          <p:cNvSpPr txBox="1"/>
          <p:nvPr/>
        </p:nvSpPr>
        <p:spPr>
          <a:xfrm>
            <a:off x="6336792" y="3886200"/>
            <a:ext cx="2514600" cy="329184"/>
          </a:xfrm>
          <a:prstGeom prst="rect">
            <a:avLst/>
          </a:prstGeom>
          <a:noFill/>
          <a:ln/>
        </p:spPr>
        <p:txBody>
          <a:bodyPr wrap="square" lIns="0" tIns="0" rIns="0" bIns="0" rtlCol="0" anchor="t"/>
          <a:lstStyle/>
          <a:p>
            <a:pPr marL="0" indent="0">
              <a:lnSpc>
                <a:spcPts val="2200"/>
              </a:lnSpc>
              <a:buNone/>
            </a:pPr>
            <a:r>
              <a:rPr lang="en-US" sz="1250" dirty="0">
                <a:solidFill>
                  <a:srgbClr val="828C9A"/>
                </a:solidFill>
                <a:latin typeface="Barlow" pitchFamily="34" charset="0"/>
                <a:ea typeface="Barlow" pitchFamily="34" charset="-122"/>
                <a:cs typeface="Barlow" pitchFamily="34" charset="-120"/>
              </a:rPr>
              <a:t>SAM: six launch markets</a:t>
            </a:r>
            <a:endParaRPr lang="en-US" sz="1250" dirty="0"/>
          </a:p>
        </p:txBody>
      </p:sp>
      <p:sp>
        <p:nvSpPr>
          <p:cNvPr id="16" name="Shape 14"/>
          <p:cNvSpPr/>
          <p:nvPr/>
        </p:nvSpPr>
        <p:spPr>
          <a:xfrm>
            <a:off x="713232" y="4407408"/>
            <a:ext cx="701345" cy="438912"/>
          </a:xfrm>
          <a:prstGeom prst="rect">
            <a:avLst/>
          </a:prstGeom>
          <a:solidFill>
            <a:srgbClr val="FFB020"/>
          </a:solidFill>
          <a:ln w="12700">
            <a:solidFill>
              <a:srgbClr val="333333"/>
            </a:solidFill>
            <a:prstDash val="solid"/>
          </a:ln>
        </p:spPr>
      </p:sp>
      <p:sp>
        <p:nvSpPr>
          <p:cNvPr id="17" name="Text 15"/>
          <p:cNvSpPr txBox="1"/>
          <p:nvPr/>
        </p:nvSpPr>
        <p:spPr>
          <a:xfrm>
            <a:off x="877824" y="4434840"/>
            <a:ext cx="2011680" cy="365760"/>
          </a:xfrm>
          <a:prstGeom prst="rect">
            <a:avLst/>
          </a:prstGeom>
          <a:noFill/>
          <a:ln/>
        </p:spPr>
        <p:txBody>
          <a:bodyPr wrap="square" lIns="0" tIns="0" rIns="0" bIns="0" rtlCol="0" anchor="t"/>
          <a:lstStyle/>
          <a:p>
            <a:pPr marL="0" indent="0">
              <a:buNone/>
            </a:pPr>
            <a:r>
              <a:rPr lang="en-US" sz="2100" dirty="0">
                <a:solidFill>
                  <a:srgbClr val="14100A"/>
                </a:solidFill>
                <a:latin typeface="Barlow Condensed" pitchFamily="34" charset="0"/>
                <a:ea typeface="Barlow Condensed" pitchFamily="34" charset="-122"/>
                <a:cs typeface="Barlow Condensed" pitchFamily="34" charset="-120"/>
              </a:rPr>
              <a:t>6,300</a:t>
            </a:r>
            <a:endParaRPr lang="en-US" sz="2100" dirty="0"/>
          </a:p>
        </p:txBody>
      </p:sp>
      <p:sp>
        <p:nvSpPr>
          <p:cNvPr id="18" name="Text 16"/>
          <p:cNvSpPr txBox="1"/>
          <p:nvPr/>
        </p:nvSpPr>
        <p:spPr>
          <a:xfrm>
            <a:off x="6336792" y="4489704"/>
            <a:ext cx="2514600" cy="329184"/>
          </a:xfrm>
          <a:prstGeom prst="rect">
            <a:avLst/>
          </a:prstGeom>
          <a:noFill/>
          <a:ln/>
        </p:spPr>
        <p:txBody>
          <a:bodyPr wrap="square" lIns="0" tIns="0" rIns="0" bIns="0" rtlCol="0" anchor="t"/>
          <a:lstStyle/>
          <a:p>
            <a:pPr marL="0" indent="0">
              <a:lnSpc>
                <a:spcPts val="2200"/>
              </a:lnSpc>
              <a:buNone/>
            </a:pPr>
            <a:r>
              <a:rPr lang="en-US" sz="1250" dirty="0">
                <a:solidFill>
                  <a:srgbClr val="828C9A"/>
                </a:solidFill>
                <a:latin typeface="Barlow" pitchFamily="34" charset="0"/>
                <a:ea typeface="Barlow" pitchFamily="34" charset="-122"/>
                <a:cs typeface="Barlow" pitchFamily="34" charset="-120"/>
              </a:rPr>
              <a:t>Our Y7 target, 11% of SAM</a:t>
            </a:r>
            <a:endParaRPr lang="en-US" sz="1250" dirty="0"/>
          </a:p>
        </p:txBody>
      </p:sp>
      <p:sp>
        <p:nvSpPr>
          <p:cNvPr id="19" name="Shape 17"/>
          <p:cNvSpPr/>
          <p:nvPr/>
        </p:nvSpPr>
        <p:spPr>
          <a:xfrm>
            <a:off x="9098280" y="1993392"/>
            <a:ext cx="2380183" cy="3017520"/>
          </a:xfrm>
          <a:prstGeom prst="roundRect">
            <a:avLst>
              <a:gd name="adj" fmla="val 1537"/>
            </a:avLst>
          </a:prstGeom>
          <a:solidFill>
            <a:srgbClr val="171A20"/>
          </a:solidFill>
          <a:ln w="9525">
            <a:solidFill>
              <a:srgbClr val="262C35"/>
            </a:solidFill>
            <a:prstDash val="solid"/>
          </a:ln>
        </p:spPr>
      </p:sp>
      <p:sp>
        <p:nvSpPr>
          <p:cNvPr id="20" name="Text 18"/>
          <p:cNvSpPr txBox="1"/>
          <p:nvPr/>
        </p:nvSpPr>
        <p:spPr>
          <a:xfrm>
            <a:off x="9345168" y="2231136"/>
            <a:ext cx="2103120" cy="420624"/>
          </a:xfrm>
          <a:prstGeom prst="rect">
            <a:avLst/>
          </a:prstGeom>
          <a:noFill/>
          <a:ln/>
        </p:spPr>
        <p:txBody>
          <a:bodyPr wrap="square" lIns="0" tIns="0" rIns="0" bIns="0" rtlCol="0" anchor="t"/>
          <a:lstStyle/>
          <a:p>
            <a:pPr marL="0" indent="0">
              <a:lnSpc>
                <a:spcPts val="1400"/>
              </a:lnSpc>
              <a:buNone/>
            </a:pPr>
            <a:r>
              <a:rPr lang="en-US" sz="1150" kern="0" spc="220" dirty="0">
                <a:solidFill>
                  <a:srgbClr val="828C9A"/>
                </a:solidFill>
                <a:latin typeface="Barlow Condensed" pitchFamily="34" charset="0"/>
                <a:ea typeface="Barlow Condensed" pitchFamily="34" charset="-122"/>
                <a:cs typeface="Barlow Condensed" pitchFamily="34" charset="-120"/>
              </a:rPr>
              <a:t>EUROPEAN SPORT SPONSORSHIP</a:t>
            </a:r>
            <a:endParaRPr lang="en-US" sz="1150" dirty="0"/>
          </a:p>
        </p:txBody>
      </p:sp>
      <p:sp>
        <p:nvSpPr>
          <p:cNvPr id="21" name="Text 19"/>
          <p:cNvSpPr txBox="1"/>
          <p:nvPr/>
        </p:nvSpPr>
        <p:spPr>
          <a:xfrm>
            <a:off x="9345168" y="2651760"/>
            <a:ext cx="2103120" cy="472966"/>
          </a:xfrm>
          <a:prstGeom prst="rect">
            <a:avLst/>
          </a:prstGeom>
          <a:noFill/>
          <a:ln/>
        </p:spPr>
        <p:txBody>
          <a:bodyPr wrap="square" lIns="0" tIns="0" rIns="0" bIns="0" rtlCol="0" anchor="t"/>
          <a:lstStyle/>
          <a:p>
            <a:pPr marL="0" indent="0">
              <a:lnSpc>
                <a:spcPts val="2940"/>
              </a:lnSpc>
              <a:buNone/>
            </a:pPr>
            <a:r>
              <a:rPr lang="en-US" sz="3000" dirty="0">
                <a:solidFill>
                  <a:srgbClr val="F2F4F7"/>
                </a:solidFill>
                <a:latin typeface="Barlow Condensed" pitchFamily="34" charset="0"/>
                <a:ea typeface="Barlow Condensed" pitchFamily="34" charset="-122"/>
                <a:cs typeface="Barlow Condensed" pitchFamily="34" charset="-120"/>
              </a:rPr>
              <a:t>€24.79bn</a:t>
            </a:r>
            <a:endParaRPr lang="en-US" sz="3000" dirty="0"/>
          </a:p>
        </p:txBody>
      </p:sp>
      <p:sp>
        <p:nvSpPr>
          <p:cNvPr id="22" name="Text 20"/>
          <p:cNvSpPr txBox="1"/>
          <p:nvPr/>
        </p:nvSpPr>
        <p:spPr>
          <a:xfrm>
            <a:off x="9345168" y="3152158"/>
            <a:ext cx="2103120" cy="713232"/>
          </a:xfrm>
          <a:prstGeom prst="rect">
            <a:avLst/>
          </a:prstGeom>
          <a:noFill/>
          <a:ln/>
        </p:spPr>
        <p:txBody>
          <a:bodyPr wrap="square" lIns="0" tIns="0" rIns="0" bIns="0" rtlCol="0" anchor="t"/>
          <a:lstStyle/>
          <a:p>
            <a:pPr marL="0" indent="0">
              <a:lnSpc>
                <a:spcPts val="1500"/>
              </a:lnSpc>
              <a:buNone/>
            </a:pPr>
            <a:r>
              <a:rPr lang="en-US" sz="1200" dirty="0">
                <a:solidFill>
                  <a:srgbClr val="828C9A"/>
                </a:solidFill>
                <a:latin typeface="Barlow" pitchFamily="34" charset="0"/>
                <a:ea typeface="Barlow" pitchFamily="34" charset="-122"/>
                <a:cs typeface="Barlow" pitchFamily="34" charset="-120"/>
              </a:rPr>
              <a:t>Growing 5.9% a year</a:t>
            </a:r>
            <a:endParaRPr lang="en-US" sz="1200" dirty="0"/>
          </a:p>
        </p:txBody>
      </p:sp>
      <p:sp>
        <p:nvSpPr>
          <p:cNvPr id="23" name="Shape 21"/>
          <p:cNvSpPr/>
          <p:nvPr/>
        </p:nvSpPr>
        <p:spPr>
          <a:xfrm>
            <a:off x="9345168" y="3529584"/>
            <a:ext cx="1828800" cy="12802"/>
          </a:xfrm>
          <a:prstGeom prst="rect">
            <a:avLst/>
          </a:prstGeom>
          <a:solidFill>
            <a:srgbClr val="262C35"/>
          </a:solidFill>
          <a:ln w="12700">
            <a:solidFill>
              <a:srgbClr val="333333"/>
            </a:solidFill>
            <a:prstDash val="solid"/>
          </a:ln>
        </p:spPr>
      </p:sp>
      <p:sp>
        <p:nvSpPr>
          <p:cNvPr id="24" name="Text 22"/>
          <p:cNvSpPr txBox="1"/>
          <p:nvPr/>
        </p:nvSpPr>
        <p:spPr>
          <a:xfrm>
            <a:off x="9345168" y="3694176"/>
            <a:ext cx="2103120" cy="420624"/>
          </a:xfrm>
          <a:prstGeom prst="rect">
            <a:avLst/>
          </a:prstGeom>
          <a:noFill/>
          <a:ln/>
        </p:spPr>
        <p:txBody>
          <a:bodyPr wrap="square" lIns="0" tIns="0" rIns="0" bIns="0" rtlCol="0" anchor="t"/>
          <a:lstStyle/>
          <a:p>
            <a:pPr marL="0" indent="0">
              <a:lnSpc>
                <a:spcPts val="1400"/>
              </a:lnSpc>
              <a:buNone/>
            </a:pPr>
            <a:r>
              <a:rPr lang="en-US" sz="1150" kern="0" spc="220" dirty="0">
                <a:solidFill>
                  <a:srgbClr val="828C9A"/>
                </a:solidFill>
                <a:latin typeface="Barlow Condensed" pitchFamily="34" charset="0"/>
                <a:ea typeface="Barlow Condensed" pitchFamily="34" charset="-122"/>
                <a:cs typeface="Barlow Condensed" pitchFamily="34" charset="-120"/>
              </a:rPr>
              <a:t>SPAIN, THE FASTEST MAJOR MARKET</a:t>
            </a:r>
            <a:endParaRPr lang="en-US" sz="1150" dirty="0"/>
          </a:p>
        </p:txBody>
      </p:sp>
      <p:sp>
        <p:nvSpPr>
          <p:cNvPr id="25" name="Text 23"/>
          <p:cNvSpPr txBox="1"/>
          <p:nvPr/>
        </p:nvSpPr>
        <p:spPr>
          <a:xfrm>
            <a:off x="9345168" y="4114800"/>
            <a:ext cx="2103120" cy="472966"/>
          </a:xfrm>
          <a:prstGeom prst="rect">
            <a:avLst/>
          </a:prstGeom>
          <a:noFill/>
          <a:ln/>
        </p:spPr>
        <p:txBody>
          <a:bodyPr wrap="square" lIns="0" tIns="0" rIns="0" bIns="0" rtlCol="0" anchor="t"/>
          <a:lstStyle/>
          <a:p>
            <a:pPr marL="0" indent="0">
              <a:lnSpc>
                <a:spcPts val="2940"/>
              </a:lnSpc>
              <a:buNone/>
            </a:pPr>
            <a:r>
              <a:rPr lang="en-US" sz="3000" dirty="0">
                <a:solidFill>
                  <a:srgbClr val="3FCF8E"/>
                </a:solidFill>
                <a:latin typeface="Barlow Condensed" pitchFamily="34" charset="0"/>
                <a:ea typeface="Barlow Condensed" pitchFamily="34" charset="-122"/>
                <a:cs typeface="Barlow Condensed" pitchFamily="34" charset="-120"/>
              </a:rPr>
              <a:t>+14%</a:t>
            </a:r>
            <a:endParaRPr lang="en-US" sz="3000" dirty="0"/>
          </a:p>
        </p:txBody>
      </p:sp>
      <p:sp>
        <p:nvSpPr>
          <p:cNvPr id="26" name="Text 24"/>
          <p:cNvSpPr txBox="1"/>
          <p:nvPr/>
        </p:nvSpPr>
        <p:spPr>
          <a:xfrm>
            <a:off x="9345168" y="4615198"/>
            <a:ext cx="2103120" cy="713232"/>
          </a:xfrm>
          <a:prstGeom prst="rect">
            <a:avLst/>
          </a:prstGeom>
          <a:noFill/>
          <a:ln/>
        </p:spPr>
        <p:txBody>
          <a:bodyPr wrap="square" lIns="0" tIns="0" rIns="0" bIns="0" rtlCol="0" anchor="t"/>
          <a:lstStyle/>
          <a:p>
            <a:pPr marL="0" indent="0">
              <a:lnSpc>
                <a:spcPts val="1500"/>
              </a:lnSpc>
              <a:buNone/>
            </a:pPr>
            <a:r>
              <a:rPr lang="en-US" sz="1200" dirty="0">
                <a:solidFill>
                  <a:srgbClr val="828C9A"/>
                </a:solidFill>
                <a:latin typeface="Barlow" pitchFamily="34" charset="0"/>
                <a:ea typeface="Barlow" pitchFamily="34" charset="-122"/>
                <a:cs typeface="Barlow" pitchFamily="34" charset="-120"/>
              </a:rPr>
              <a:t>Ahead of the UK and France</a:t>
            </a:r>
            <a:endParaRPr lang="en-US" sz="1200" dirty="0"/>
          </a:p>
        </p:txBody>
      </p:sp>
      <p:sp>
        <p:nvSpPr>
          <p:cNvPr id="27" name="Text 25"/>
          <p:cNvSpPr txBox="1"/>
          <p:nvPr/>
        </p:nvSpPr>
        <p:spPr>
          <a:xfrm>
            <a:off x="713232" y="5138928"/>
            <a:ext cx="10765231" cy="658368"/>
          </a:xfrm>
          <a:prstGeom prst="rect">
            <a:avLst/>
          </a:prstGeom>
          <a:noFill/>
          <a:ln/>
        </p:spPr>
        <p:txBody>
          <a:bodyPr wrap="square" lIns="0" tIns="0" rIns="0" bIns="0" rtlCol="0" anchor="t"/>
          <a:lstStyle/>
          <a:p>
            <a:pPr marL="0" indent="0">
              <a:lnSpc>
                <a:spcPts val="1900"/>
              </a:lnSpc>
              <a:buNone/>
            </a:pPr>
            <a:r>
              <a:rPr lang="en-US" sz="1350" dirty="0">
                <a:solidFill>
                  <a:srgbClr val="AEB6C2"/>
                </a:solidFill>
                <a:latin typeface="Barlow" pitchFamily="34" charset="0"/>
                <a:ea typeface="Barlow" pitchFamily="34" charset="-122"/>
                <a:cs typeface="Barlow" pitchFamily="34" charset="-120"/>
              </a:rPr>
              <a:t>None of that top-down figure breaks below the professional tier. There is no published number for sponsorship of individual athletes, so the plan does not divide it by anything. The bottom-up funnel exists because the measured market stops exactly where ours starts.</a:t>
            </a:r>
            <a:endParaRPr lang="en-US" sz="1350" dirty="0"/>
          </a:p>
        </p:txBody>
      </p:sp>
      <p:sp>
        <p:nvSpPr>
          <p:cNvPr id="28" name="Text 26"/>
          <p:cNvSpPr txBox="1"/>
          <p:nvPr/>
        </p:nvSpPr>
        <p:spPr>
          <a:xfrm>
            <a:off x="713232" y="6382512"/>
            <a:ext cx="9667951" cy="274320"/>
          </a:xfrm>
          <a:prstGeom prst="rect">
            <a:avLst/>
          </a:prstGeom>
          <a:noFill/>
          <a:ln/>
        </p:spPr>
        <p:txBody>
          <a:bodyPr wrap="square" lIns="0" tIns="0" rIns="0" bIns="0" rtlCol="0" anchor="t"/>
          <a:lstStyle/>
          <a:p>
            <a:pPr marL="0" indent="0">
              <a:buNone/>
            </a:pPr>
            <a:r>
              <a:rPr lang="en-US" sz="950" dirty="0">
                <a:solidFill>
                  <a:srgbClr val="828C9A"/>
                </a:solidFill>
                <a:latin typeface="Barlow" pitchFamily="34" charset="0"/>
                <a:ea typeface="Barlow" pitchFamily="34" charset="-122"/>
                <a:cs typeface="Barlow" pitchFamily="34" charset="-120"/>
              </a:rPr>
              <a:t>European Sponsorship Association, 2025, via Statista. Funnel: Eurostat, Eurobarometer 525, and the plan's own Sport Opportunity Index.</a:t>
            </a:r>
            <a:endParaRPr lang="en-US" sz="950" dirty="0"/>
          </a:p>
        </p:txBody>
      </p:sp>
      <p:sp>
        <p:nvSpPr>
          <p:cNvPr id="29"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THE WEDGE</a:t>
            </a:r>
            <a:endParaRPr lang="en-US" sz="1250" dirty="0"/>
          </a:p>
        </p:txBody>
      </p:sp>
      <p:sp>
        <p:nvSpPr>
          <p:cNvPr id="3" name="Text 1"/>
          <p:cNvSpPr txBox="1"/>
          <p:nvPr/>
        </p:nvSpPr>
        <p:spPr>
          <a:xfrm>
            <a:off x="713232" y="786384"/>
            <a:ext cx="10765231" cy="868680"/>
          </a:xfrm>
          <a:prstGeom prst="rect">
            <a:avLst/>
          </a:prstGeom>
          <a:noFill/>
          <a:ln/>
        </p:spPr>
        <p:txBody>
          <a:bodyPr wrap="square" lIns="0" tIns="0" rIns="0" bIns="0" rtlCol="0" anchor="t"/>
          <a:lstStyle/>
          <a:p>
            <a:pPr marL="0" indent="0">
              <a:lnSpc>
                <a:spcPts val="3800"/>
              </a:lnSpc>
              <a:buNone/>
            </a:pPr>
            <a:r>
              <a:rPr lang="en-US" sz="3600" dirty="0">
                <a:solidFill>
                  <a:srgbClr val="F2F4F7"/>
                </a:solidFill>
                <a:latin typeface="Barlow Condensed" pitchFamily="34" charset="0"/>
                <a:ea typeface="Barlow Condensed" pitchFamily="34" charset="-122"/>
                <a:cs typeface="Barlow Condensed" pitchFamily="34" charset="-120"/>
              </a:rPr>
              <a:t>We start where there is no incumbent, because that is also where the economics are best</a:t>
            </a:r>
            <a:endParaRPr lang="en-US" sz="3600" dirty="0"/>
          </a:p>
        </p:txBody>
      </p:sp>
      <p:sp>
        <p:nvSpPr>
          <p:cNvPr id="4" name="Shape 2"/>
          <p:cNvSpPr/>
          <p:nvPr/>
        </p:nvSpPr>
        <p:spPr>
          <a:xfrm>
            <a:off x="713232" y="2011680"/>
            <a:ext cx="5245456" cy="1938528"/>
          </a:xfrm>
          <a:prstGeom prst="roundRect">
            <a:avLst>
              <a:gd name="adj" fmla="val 1887"/>
            </a:avLst>
          </a:prstGeom>
          <a:solidFill>
            <a:srgbClr val="1F242C"/>
          </a:solidFill>
          <a:ln w="9525">
            <a:solidFill>
              <a:srgbClr val="262C35"/>
            </a:solidFill>
            <a:prstDash val="solid"/>
          </a:ln>
        </p:spPr>
      </p:sp>
      <p:sp>
        <p:nvSpPr>
          <p:cNvPr id="5" name="Text 3"/>
          <p:cNvSpPr txBox="1"/>
          <p:nvPr/>
        </p:nvSpPr>
        <p:spPr>
          <a:xfrm>
            <a:off x="1005840" y="2212848"/>
            <a:ext cx="4660240" cy="274320"/>
          </a:xfrm>
          <a:prstGeom prst="rect">
            <a:avLst/>
          </a:prstGeom>
          <a:noFill/>
          <a:ln/>
        </p:spPr>
        <p:txBody>
          <a:bodyPr wrap="square" lIns="0" tIns="0" rIns="0" bIns="0" rtlCol="0" anchor="t"/>
          <a:lstStyle/>
          <a:p>
            <a:pPr marL="0" indent="0">
              <a:buNone/>
            </a:pPr>
            <a:r>
              <a:rPr lang="en-US" sz="1700" kern="0" spc="200" dirty="0">
                <a:solidFill>
                  <a:srgbClr val="FFB020"/>
                </a:solidFill>
                <a:latin typeface="Barlow Condensed" pitchFamily="34" charset="0"/>
                <a:ea typeface="Barlow Condensed" pitchFamily="34" charset="-122"/>
                <a:cs typeface="Barlow Condensed" pitchFamily="34" charset="-120"/>
              </a:rPr>
              <a:t>NICHE SPORTS</a:t>
            </a:r>
            <a:endParaRPr lang="en-US" sz="1700" dirty="0"/>
          </a:p>
        </p:txBody>
      </p:sp>
      <p:sp>
        <p:nvSpPr>
          <p:cNvPr id="6" name="Text 4"/>
          <p:cNvSpPr txBox="1"/>
          <p:nvPr/>
        </p:nvSpPr>
        <p:spPr>
          <a:xfrm>
            <a:off x="1005840" y="2596896"/>
            <a:ext cx="1737360" cy="777240"/>
          </a:xfrm>
          <a:prstGeom prst="rect">
            <a:avLst/>
          </a:prstGeom>
          <a:noFill/>
          <a:ln/>
        </p:spPr>
        <p:txBody>
          <a:bodyPr wrap="square" lIns="0" tIns="0" rIns="0" bIns="0" rtlCol="0" anchor="t"/>
          <a:lstStyle/>
          <a:p>
            <a:pPr marL="0" indent="0">
              <a:lnSpc>
                <a:spcPts val="5200"/>
              </a:lnSpc>
              <a:buNone/>
            </a:pPr>
            <a:r>
              <a:rPr lang="en-US" sz="5200" dirty="0">
                <a:solidFill>
                  <a:srgbClr val="F2F4F7"/>
                </a:solidFill>
                <a:latin typeface="Barlow Condensed" pitchFamily="34" charset="0"/>
                <a:ea typeface="Barlow Condensed" pitchFamily="34" charset="-122"/>
                <a:cs typeface="Barlow Condensed" pitchFamily="34" charset="-120"/>
              </a:rPr>
              <a:t>€16</a:t>
            </a:r>
            <a:endParaRPr lang="en-US" sz="5200" dirty="0"/>
          </a:p>
        </p:txBody>
      </p:sp>
      <p:sp>
        <p:nvSpPr>
          <p:cNvPr id="7" name="Text 5"/>
          <p:cNvSpPr txBox="1"/>
          <p:nvPr/>
        </p:nvSpPr>
        <p:spPr>
          <a:xfrm>
            <a:off x="1005840" y="3419856"/>
            <a:ext cx="2103120" cy="457200"/>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To acquire one athlete in Y1</a:t>
            </a:r>
            <a:endParaRPr lang="en-US" sz="1150" dirty="0"/>
          </a:p>
        </p:txBody>
      </p:sp>
      <p:sp>
        <p:nvSpPr>
          <p:cNvPr id="8" name="Text 6"/>
          <p:cNvSpPr txBox="1"/>
          <p:nvPr/>
        </p:nvSpPr>
        <p:spPr>
          <a:xfrm>
            <a:off x="3547872" y="2596896"/>
            <a:ext cx="1737360" cy="777240"/>
          </a:xfrm>
          <a:prstGeom prst="rect">
            <a:avLst/>
          </a:prstGeom>
          <a:noFill/>
          <a:ln/>
        </p:spPr>
        <p:txBody>
          <a:bodyPr wrap="square" lIns="0" tIns="0" rIns="0" bIns="0" rtlCol="0" anchor="t"/>
          <a:lstStyle/>
          <a:p>
            <a:pPr marL="0" indent="0">
              <a:lnSpc>
                <a:spcPts val="5200"/>
              </a:lnSpc>
              <a:buNone/>
            </a:pPr>
            <a:r>
              <a:rPr lang="en-US" sz="5200" dirty="0">
                <a:solidFill>
                  <a:srgbClr val="F2F4F7"/>
                </a:solidFill>
                <a:latin typeface="Barlow Condensed" pitchFamily="34" charset="0"/>
                <a:ea typeface="Barlow Condensed" pitchFamily="34" charset="-122"/>
                <a:cs typeface="Barlow Condensed" pitchFamily="34" charset="-120"/>
              </a:rPr>
              <a:t>48%</a:t>
            </a:r>
            <a:endParaRPr lang="en-US" sz="5200" dirty="0"/>
          </a:p>
        </p:txBody>
      </p:sp>
      <p:sp>
        <p:nvSpPr>
          <p:cNvPr id="9" name="Text 7"/>
          <p:cNvSpPr txBox="1"/>
          <p:nvPr/>
        </p:nvSpPr>
        <p:spPr>
          <a:xfrm>
            <a:off x="3547872" y="3419856"/>
            <a:ext cx="2103120" cy="457200"/>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Of them monetise by Y7</a:t>
            </a:r>
            <a:endParaRPr lang="en-US" sz="1150" dirty="0"/>
          </a:p>
        </p:txBody>
      </p:sp>
      <p:sp>
        <p:nvSpPr>
          <p:cNvPr id="10" name="Shape 8"/>
          <p:cNvSpPr/>
          <p:nvPr/>
        </p:nvSpPr>
        <p:spPr>
          <a:xfrm>
            <a:off x="6233008" y="2011680"/>
            <a:ext cx="5245456" cy="1938528"/>
          </a:xfrm>
          <a:prstGeom prst="roundRect">
            <a:avLst>
              <a:gd name="adj" fmla="val 1887"/>
            </a:avLst>
          </a:prstGeom>
          <a:solidFill>
            <a:srgbClr val="171A20"/>
          </a:solidFill>
          <a:ln w="9525">
            <a:solidFill>
              <a:srgbClr val="262C35"/>
            </a:solidFill>
            <a:prstDash val="solid"/>
          </a:ln>
        </p:spPr>
      </p:sp>
      <p:sp>
        <p:nvSpPr>
          <p:cNvPr id="11" name="Text 9"/>
          <p:cNvSpPr txBox="1"/>
          <p:nvPr/>
        </p:nvSpPr>
        <p:spPr>
          <a:xfrm>
            <a:off x="6525616" y="2212848"/>
            <a:ext cx="4660240" cy="274320"/>
          </a:xfrm>
          <a:prstGeom prst="rect">
            <a:avLst/>
          </a:prstGeom>
          <a:noFill/>
          <a:ln/>
        </p:spPr>
        <p:txBody>
          <a:bodyPr wrap="square" lIns="0" tIns="0" rIns="0" bIns="0" rtlCol="0" anchor="t"/>
          <a:lstStyle/>
          <a:p>
            <a:pPr marL="0" indent="0">
              <a:buNone/>
            </a:pPr>
            <a:r>
              <a:rPr lang="en-US" sz="1700" kern="0" spc="200" dirty="0">
                <a:solidFill>
                  <a:srgbClr val="AEB6C2"/>
                </a:solidFill>
                <a:latin typeface="Barlow Condensed" pitchFamily="34" charset="0"/>
                <a:ea typeface="Barlow Condensed" pitchFamily="34" charset="-122"/>
                <a:cs typeface="Barlow Condensed" pitchFamily="34" charset="-120"/>
              </a:rPr>
              <a:t>POPULAR SPORTS</a:t>
            </a:r>
            <a:endParaRPr lang="en-US" sz="1700" dirty="0"/>
          </a:p>
        </p:txBody>
      </p:sp>
      <p:sp>
        <p:nvSpPr>
          <p:cNvPr id="12" name="Text 10"/>
          <p:cNvSpPr txBox="1"/>
          <p:nvPr/>
        </p:nvSpPr>
        <p:spPr>
          <a:xfrm>
            <a:off x="6525616" y="2596896"/>
            <a:ext cx="1737360" cy="777240"/>
          </a:xfrm>
          <a:prstGeom prst="rect">
            <a:avLst/>
          </a:prstGeom>
          <a:noFill/>
          <a:ln/>
        </p:spPr>
        <p:txBody>
          <a:bodyPr wrap="square" lIns="0" tIns="0" rIns="0" bIns="0" rtlCol="0" anchor="t"/>
          <a:lstStyle/>
          <a:p>
            <a:pPr marL="0" indent="0">
              <a:lnSpc>
                <a:spcPts val="5200"/>
              </a:lnSpc>
              <a:buNone/>
            </a:pPr>
            <a:r>
              <a:rPr lang="en-US" sz="5200" dirty="0">
                <a:solidFill>
                  <a:srgbClr val="F2F4F7"/>
                </a:solidFill>
                <a:latin typeface="Barlow Condensed" pitchFamily="34" charset="0"/>
                <a:ea typeface="Barlow Condensed" pitchFamily="34" charset="-122"/>
                <a:cs typeface="Barlow Condensed" pitchFamily="34" charset="-120"/>
              </a:rPr>
              <a:t>€40</a:t>
            </a:r>
            <a:endParaRPr lang="en-US" sz="5200" dirty="0"/>
          </a:p>
        </p:txBody>
      </p:sp>
      <p:sp>
        <p:nvSpPr>
          <p:cNvPr id="13" name="Text 11"/>
          <p:cNvSpPr txBox="1"/>
          <p:nvPr/>
        </p:nvSpPr>
        <p:spPr>
          <a:xfrm>
            <a:off x="6525616" y="3419856"/>
            <a:ext cx="2103120" cy="457200"/>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To acquire one athlete in Y1</a:t>
            </a:r>
            <a:endParaRPr lang="en-US" sz="1150" dirty="0"/>
          </a:p>
        </p:txBody>
      </p:sp>
      <p:sp>
        <p:nvSpPr>
          <p:cNvPr id="14" name="Text 12"/>
          <p:cNvSpPr txBox="1"/>
          <p:nvPr/>
        </p:nvSpPr>
        <p:spPr>
          <a:xfrm>
            <a:off x="9067648" y="2596896"/>
            <a:ext cx="1737360" cy="777240"/>
          </a:xfrm>
          <a:prstGeom prst="rect">
            <a:avLst/>
          </a:prstGeom>
          <a:noFill/>
          <a:ln/>
        </p:spPr>
        <p:txBody>
          <a:bodyPr wrap="square" lIns="0" tIns="0" rIns="0" bIns="0" rtlCol="0" anchor="t"/>
          <a:lstStyle/>
          <a:p>
            <a:pPr marL="0" indent="0">
              <a:lnSpc>
                <a:spcPts val="5200"/>
              </a:lnSpc>
              <a:buNone/>
            </a:pPr>
            <a:r>
              <a:rPr lang="en-US" sz="5200" dirty="0">
                <a:solidFill>
                  <a:srgbClr val="F2F4F7"/>
                </a:solidFill>
                <a:latin typeface="Barlow Condensed" pitchFamily="34" charset="0"/>
                <a:ea typeface="Barlow Condensed" pitchFamily="34" charset="-122"/>
                <a:cs typeface="Barlow Condensed" pitchFamily="34" charset="-120"/>
              </a:rPr>
              <a:t>30%</a:t>
            </a:r>
            <a:endParaRPr lang="en-US" sz="5200" dirty="0"/>
          </a:p>
        </p:txBody>
      </p:sp>
      <p:sp>
        <p:nvSpPr>
          <p:cNvPr id="15" name="Text 13"/>
          <p:cNvSpPr txBox="1"/>
          <p:nvPr/>
        </p:nvSpPr>
        <p:spPr>
          <a:xfrm>
            <a:off x="9067648" y="3419856"/>
            <a:ext cx="2103120" cy="457200"/>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Of them monetise by Y7</a:t>
            </a:r>
            <a:endParaRPr lang="en-US" sz="1150" dirty="0"/>
          </a:p>
        </p:txBody>
      </p:sp>
      <p:sp>
        <p:nvSpPr>
          <p:cNvPr id="16" name="Text 14"/>
          <p:cNvSpPr txBox="1"/>
          <p:nvPr/>
        </p:nvSpPr>
        <p:spPr>
          <a:xfrm>
            <a:off x="713232" y="4224528"/>
            <a:ext cx="10765231" cy="822960"/>
          </a:xfrm>
          <a:prstGeom prst="rect">
            <a:avLst/>
          </a:prstGeom>
          <a:noFill/>
          <a:ln/>
        </p:spPr>
        <p:txBody>
          <a:bodyPr wrap="square" lIns="0" tIns="0" rIns="0" bIns="0" rtlCol="0" anchor="t"/>
          <a:lstStyle/>
          <a:p>
            <a:pPr marL="0" indent="0">
              <a:lnSpc>
                <a:spcPts val="2000"/>
              </a:lnSpc>
              <a:buNone/>
            </a:pPr>
            <a:r>
              <a:rPr lang="en-US" sz="1450" dirty="0">
                <a:solidFill>
                  <a:srgbClr val="AEB6C2"/>
                </a:solidFill>
                <a:latin typeface="Barlow" pitchFamily="34" charset="0"/>
                <a:ea typeface="Barlow" pitchFamily="34" charset="-122"/>
                <a:cs typeface="Barlow" pitchFamily="34" charset="-120"/>
              </a:rPr>
              <a:t>Cheaper to acquire, and a larger share of them earn. A professional already has an agent and would not use this, so nobody is fighting us for a trail runner with 25,000 followers and an inbox of unanswered brand DMs. What we learn there generalises upward. Football does not generalise downward.</a:t>
            </a:r>
            <a:endParaRPr lang="en-US" sz="1450" dirty="0"/>
          </a:p>
        </p:txBody>
      </p:sp>
      <p:sp>
        <p:nvSpPr>
          <p:cNvPr id="17" name="Shape 15"/>
          <p:cNvSpPr/>
          <p:nvPr/>
        </p:nvSpPr>
        <p:spPr>
          <a:xfrm>
            <a:off x="713232" y="5138928"/>
            <a:ext cx="10765231" cy="896112"/>
          </a:xfrm>
          <a:prstGeom prst="roundRect">
            <a:avLst>
              <a:gd name="adj" fmla="val 4082"/>
            </a:avLst>
          </a:prstGeom>
          <a:solidFill>
            <a:srgbClr val="1F242C"/>
          </a:solidFill>
          <a:ln w="9525">
            <a:solidFill>
              <a:srgbClr val="262C35"/>
            </a:solidFill>
            <a:prstDash val="solid"/>
          </a:ln>
        </p:spPr>
      </p:sp>
      <p:sp>
        <p:nvSpPr>
          <p:cNvPr id="18" name="Text 16"/>
          <p:cNvSpPr txBox="1"/>
          <p:nvPr/>
        </p:nvSpPr>
        <p:spPr>
          <a:xfrm>
            <a:off x="987552" y="5340096"/>
            <a:ext cx="2743200" cy="237744"/>
          </a:xfrm>
          <a:prstGeom prst="rect">
            <a:avLst/>
          </a:prstGeom>
          <a:noFill/>
          <a:ln/>
        </p:spPr>
        <p:txBody>
          <a:bodyPr wrap="square" lIns="0" tIns="0" rIns="0" bIns="0" rtlCol="0" anchor="t"/>
          <a:lstStyle/>
          <a:p>
            <a:pPr marL="0" indent="0">
              <a:buNone/>
            </a:pPr>
            <a:r>
              <a:rPr lang="en-US" sz="1350" kern="0" spc="240" dirty="0">
                <a:solidFill>
                  <a:srgbClr val="FFB020"/>
                </a:solidFill>
                <a:latin typeface="Barlow Condensed" pitchFamily="34" charset="0"/>
                <a:ea typeface="Barlow Condensed" pitchFamily="34" charset="-122"/>
                <a:cs typeface="Barlow Condensed" pitchFamily="34" charset="-120"/>
              </a:rPr>
              <a:t>WHY THE TWO SIDES FIT</a:t>
            </a:r>
            <a:endParaRPr lang="en-US" sz="1350" dirty="0"/>
          </a:p>
        </p:txBody>
      </p:sp>
      <p:sp>
        <p:nvSpPr>
          <p:cNvPr id="19" name="Text 17"/>
          <p:cNvSpPr txBox="1"/>
          <p:nvPr/>
        </p:nvSpPr>
        <p:spPr>
          <a:xfrm>
            <a:off x="3913632" y="5303520"/>
            <a:ext cx="7290511" cy="621792"/>
          </a:xfrm>
          <a:prstGeom prst="rect">
            <a:avLst/>
          </a:prstGeom>
          <a:noFill/>
          <a:ln/>
        </p:spPr>
        <p:txBody>
          <a:bodyPr wrap="square" lIns="0" tIns="0" rIns="0" bIns="0" rtlCol="0" anchor="t"/>
          <a:lstStyle/>
          <a:p>
            <a:pPr marL="0" indent="0">
              <a:lnSpc>
                <a:spcPts val="1700"/>
              </a:lnSpc>
              <a:buNone/>
            </a:pPr>
            <a:r>
              <a:rPr lang="en-US" sz="1300" dirty="0">
                <a:solidFill>
                  <a:srgbClr val="AEB6C2"/>
                </a:solidFill>
                <a:latin typeface="Barlow" pitchFamily="34" charset="0"/>
                <a:ea typeface="Barlow" pitchFamily="34" charset="-122"/>
                <a:cs typeface="Barlow" pitchFamily="34" charset="-120"/>
              </a:rPr>
              <a:t>A niche athlete's audience is concentrated where they train and compete. That concentration is worth little to a national advertiser, and it is exactly what the clinic two streets from the club is trying to buy and has no other way of buying. The same choice makes supply cheap and demand local.</a:t>
            </a:r>
            <a:endParaRPr lang="en-US" sz="1300" dirty="0"/>
          </a:p>
        </p:txBody>
      </p:sp>
      <p:sp>
        <p:nvSpPr>
          <p:cNvPr id="20" name="Text 18"/>
          <p:cNvSpPr txBox="1"/>
          <p:nvPr/>
        </p:nvSpPr>
        <p:spPr>
          <a:xfrm>
            <a:off x="713232" y="6382512"/>
            <a:ext cx="9667951" cy="274320"/>
          </a:xfrm>
          <a:prstGeom prst="rect">
            <a:avLst/>
          </a:prstGeom>
          <a:noFill/>
          <a:ln/>
        </p:spPr>
        <p:txBody>
          <a:bodyPr wrap="square" lIns="0" tIns="0" rIns="0" bIns="0" rtlCol="0" anchor="t"/>
          <a:lstStyle/>
          <a:p>
            <a:pPr marL="0" indent="0">
              <a:buNone/>
            </a:pPr>
            <a:r>
              <a:rPr lang="en-US" sz="950" dirty="0">
                <a:solidFill>
                  <a:srgbClr val="828C9A"/>
                </a:solidFill>
                <a:latin typeface="Barlow" pitchFamily="34" charset="0"/>
                <a:ea typeface="Barlow" pitchFamily="34" charset="-122"/>
                <a:cs typeface="Barlow" pitchFamily="34" charset="-120"/>
              </a:rPr>
              <a:t>Stride financial model, segment assumptions. Acquisition cost rises over the plan as the mix shifts toward popular sports.</a:t>
            </a:r>
            <a:endParaRPr lang="en-US" sz="95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FOUR COMPANIES TRIED THIS BEFORE US</a:t>
            </a:r>
            <a:endParaRPr lang="en-US" sz="1250" dirty="0"/>
          </a:p>
        </p:txBody>
      </p:sp>
      <p:sp>
        <p:nvSpPr>
          <p:cNvPr id="3" name="Text 1"/>
          <p:cNvSpPr txBox="1"/>
          <p:nvPr/>
        </p:nvSpPr>
        <p:spPr>
          <a:xfrm>
            <a:off x="713232" y="786384"/>
            <a:ext cx="10765231" cy="868680"/>
          </a:xfrm>
          <a:prstGeom prst="rect">
            <a:avLst/>
          </a:prstGeom>
          <a:noFill/>
          <a:ln/>
        </p:spPr>
        <p:txBody>
          <a:bodyPr wrap="square" lIns="0" tIns="0" rIns="0" bIns="0" rtlCol="0" anchor="t"/>
          <a:lstStyle/>
          <a:p>
            <a:pPr marL="0" indent="0">
              <a:lnSpc>
                <a:spcPts val="3800"/>
              </a:lnSpc>
              <a:buNone/>
            </a:pPr>
            <a:r>
              <a:rPr lang="en-US" sz="3600" dirty="0">
                <a:solidFill>
                  <a:srgbClr val="F2F4F7"/>
                </a:solidFill>
                <a:latin typeface="Barlow Condensed" pitchFamily="34" charset="0"/>
                <a:ea typeface="Barlow Condensed" pitchFamily="34" charset="-122"/>
                <a:cs typeface="Barlow Condensed" pitchFamily="34" charset="-120"/>
              </a:rPr>
              <a:t>Two built the marketplace, two built the data. Nobody built both</a:t>
            </a:r>
            <a:endParaRPr lang="en-US" sz="3600" dirty="0"/>
          </a:p>
        </p:txBody>
      </p:sp>
      <p:sp>
        <p:nvSpPr>
          <p:cNvPr id="4" name="Text 2"/>
          <p:cNvSpPr txBox="1"/>
          <p:nvPr/>
        </p:nvSpPr>
        <p:spPr>
          <a:xfrm>
            <a:off x="713232" y="1975104"/>
            <a:ext cx="2194560" cy="237744"/>
          </a:xfrm>
          <a:prstGeom prst="rect">
            <a:avLst/>
          </a:prstGeom>
          <a:noFill/>
          <a:ln/>
        </p:spPr>
        <p:txBody>
          <a:bodyPr wrap="square" lIns="0" tIns="0" rIns="0" bIns="0" rtlCol="0" anchor="t"/>
          <a:lstStyle/>
          <a:p>
            <a:pPr marL="0" indent="0">
              <a:buNone/>
            </a:pPr>
            <a:r>
              <a:rPr lang="en-US" sz="1100" kern="0" spc="220" dirty="0">
                <a:solidFill>
                  <a:srgbClr val="828C9A"/>
                </a:solidFill>
                <a:latin typeface="Barlow Condensed" pitchFamily="34" charset="0"/>
                <a:ea typeface="Barlow Condensed" pitchFamily="34" charset="-122"/>
                <a:cs typeface="Barlow Condensed" pitchFamily="34" charset="-120"/>
              </a:rPr>
              <a:t>COMPANY</a:t>
            </a:r>
            <a:endParaRPr lang="en-US" sz="1100" dirty="0"/>
          </a:p>
        </p:txBody>
      </p:sp>
      <p:sp>
        <p:nvSpPr>
          <p:cNvPr id="5" name="Text 3"/>
          <p:cNvSpPr txBox="1"/>
          <p:nvPr/>
        </p:nvSpPr>
        <p:spPr>
          <a:xfrm>
            <a:off x="2999232" y="1975104"/>
            <a:ext cx="2560320" cy="237744"/>
          </a:xfrm>
          <a:prstGeom prst="rect">
            <a:avLst/>
          </a:prstGeom>
          <a:noFill/>
          <a:ln/>
        </p:spPr>
        <p:txBody>
          <a:bodyPr wrap="square" lIns="0" tIns="0" rIns="0" bIns="0" rtlCol="0" anchor="t"/>
          <a:lstStyle/>
          <a:p>
            <a:pPr marL="0" indent="0">
              <a:buNone/>
            </a:pPr>
            <a:r>
              <a:rPr lang="en-US" sz="1100" kern="0" spc="220" dirty="0">
                <a:solidFill>
                  <a:srgbClr val="828C9A"/>
                </a:solidFill>
                <a:latin typeface="Barlow Condensed" pitchFamily="34" charset="0"/>
                <a:ea typeface="Barlow Condensed" pitchFamily="34" charset="-122"/>
                <a:cs typeface="Barlow Condensed" pitchFamily="34" charset="-120"/>
              </a:rPr>
              <a:t>WHAT IT IS</a:t>
            </a:r>
            <a:endParaRPr lang="en-US" sz="1100" dirty="0"/>
          </a:p>
        </p:txBody>
      </p:sp>
      <p:sp>
        <p:nvSpPr>
          <p:cNvPr id="6" name="Text 4"/>
          <p:cNvSpPr txBox="1"/>
          <p:nvPr/>
        </p:nvSpPr>
        <p:spPr>
          <a:xfrm>
            <a:off x="5650992" y="1975104"/>
            <a:ext cx="914400" cy="237744"/>
          </a:xfrm>
          <a:prstGeom prst="rect">
            <a:avLst/>
          </a:prstGeom>
          <a:noFill/>
          <a:ln/>
        </p:spPr>
        <p:txBody>
          <a:bodyPr wrap="square" lIns="0" tIns="0" rIns="0" bIns="0" rtlCol="0" anchor="t"/>
          <a:lstStyle/>
          <a:p>
            <a:pPr marL="0" indent="0">
              <a:buNone/>
            </a:pPr>
            <a:r>
              <a:rPr lang="en-US" sz="1100" kern="0" spc="220" dirty="0">
                <a:solidFill>
                  <a:srgbClr val="828C9A"/>
                </a:solidFill>
                <a:latin typeface="Barlow Condensed" pitchFamily="34" charset="0"/>
                <a:ea typeface="Barlow Condensed" pitchFamily="34" charset="-122"/>
                <a:cs typeface="Barlow Condensed" pitchFamily="34" charset="-120"/>
              </a:rPr>
              <a:t>AGE</a:t>
            </a:r>
            <a:endParaRPr lang="en-US" sz="1100" dirty="0"/>
          </a:p>
        </p:txBody>
      </p:sp>
      <p:sp>
        <p:nvSpPr>
          <p:cNvPr id="7" name="Text 5"/>
          <p:cNvSpPr txBox="1"/>
          <p:nvPr/>
        </p:nvSpPr>
        <p:spPr>
          <a:xfrm>
            <a:off x="6656832" y="1975104"/>
            <a:ext cx="1005840" cy="237744"/>
          </a:xfrm>
          <a:prstGeom prst="rect">
            <a:avLst/>
          </a:prstGeom>
          <a:noFill/>
          <a:ln/>
        </p:spPr>
        <p:txBody>
          <a:bodyPr wrap="square" lIns="0" tIns="0" rIns="0" bIns="0" rtlCol="0" anchor="t"/>
          <a:lstStyle/>
          <a:p>
            <a:pPr marL="0" indent="0">
              <a:buNone/>
            </a:pPr>
            <a:r>
              <a:rPr lang="en-US" sz="1100" kern="0" spc="220" dirty="0">
                <a:solidFill>
                  <a:srgbClr val="828C9A"/>
                </a:solidFill>
                <a:latin typeface="Barlow Condensed" pitchFamily="34" charset="0"/>
                <a:ea typeface="Barlow Condensed" pitchFamily="34" charset="-122"/>
                <a:cs typeface="Barlow Condensed" pitchFamily="34" charset="-120"/>
              </a:rPr>
              <a:t>PEOPLE</a:t>
            </a:r>
            <a:endParaRPr lang="en-US" sz="1100" dirty="0"/>
          </a:p>
        </p:txBody>
      </p:sp>
      <p:sp>
        <p:nvSpPr>
          <p:cNvPr id="8" name="Text 6"/>
          <p:cNvSpPr txBox="1"/>
          <p:nvPr/>
        </p:nvSpPr>
        <p:spPr>
          <a:xfrm>
            <a:off x="7754112" y="1975104"/>
            <a:ext cx="1371600" cy="237744"/>
          </a:xfrm>
          <a:prstGeom prst="rect">
            <a:avLst/>
          </a:prstGeom>
          <a:noFill/>
          <a:ln/>
        </p:spPr>
        <p:txBody>
          <a:bodyPr wrap="square" lIns="0" tIns="0" rIns="0" bIns="0" rtlCol="0" anchor="t"/>
          <a:lstStyle/>
          <a:p>
            <a:pPr marL="0" indent="0">
              <a:buNone/>
            </a:pPr>
            <a:r>
              <a:rPr lang="en-US" sz="1100" kern="0" spc="220" dirty="0">
                <a:solidFill>
                  <a:srgbClr val="828C9A"/>
                </a:solidFill>
                <a:latin typeface="Barlow Condensed" pitchFamily="34" charset="0"/>
                <a:ea typeface="Barlow Condensed" pitchFamily="34" charset="-122"/>
                <a:cs typeface="Barlow Condensed" pitchFamily="34" charset="-120"/>
              </a:rPr>
              <a:t>RAISED</a:t>
            </a:r>
            <a:endParaRPr lang="en-US" sz="1100" dirty="0"/>
          </a:p>
        </p:txBody>
      </p:sp>
      <p:sp>
        <p:nvSpPr>
          <p:cNvPr id="9" name="Text 7"/>
          <p:cNvSpPr txBox="1"/>
          <p:nvPr/>
        </p:nvSpPr>
        <p:spPr>
          <a:xfrm>
            <a:off x="9217152" y="1975104"/>
            <a:ext cx="2194560" cy="237744"/>
          </a:xfrm>
          <a:prstGeom prst="rect">
            <a:avLst/>
          </a:prstGeom>
          <a:noFill/>
          <a:ln/>
        </p:spPr>
        <p:txBody>
          <a:bodyPr wrap="square" lIns="0" tIns="0" rIns="0" bIns="0" rtlCol="0" anchor="t"/>
          <a:lstStyle/>
          <a:p>
            <a:pPr marL="0" indent="0">
              <a:buNone/>
            </a:pPr>
            <a:r>
              <a:rPr lang="en-US" sz="1100" kern="0" spc="220" dirty="0">
                <a:solidFill>
                  <a:srgbClr val="828C9A"/>
                </a:solidFill>
                <a:latin typeface="Barlow Condensed" pitchFamily="34" charset="0"/>
                <a:ea typeface="Barlow Condensed" pitchFamily="34" charset="-122"/>
                <a:cs typeface="Barlow Condensed" pitchFamily="34" charset="-120"/>
              </a:rPr>
              <a:t>WHERE IT GOT TO</a:t>
            </a:r>
            <a:endParaRPr lang="en-US" sz="1100" dirty="0"/>
          </a:p>
        </p:txBody>
      </p:sp>
      <p:sp>
        <p:nvSpPr>
          <p:cNvPr id="10" name="Shape 8"/>
          <p:cNvSpPr/>
          <p:nvPr/>
        </p:nvSpPr>
        <p:spPr>
          <a:xfrm>
            <a:off x="713232" y="2249424"/>
            <a:ext cx="10765231" cy="12802"/>
          </a:xfrm>
          <a:prstGeom prst="rect">
            <a:avLst/>
          </a:prstGeom>
          <a:solidFill>
            <a:srgbClr val="262C35"/>
          </a:solidFill>
          <a:ln w="12700">
            <a:solidFill>
              <a:srgbClr val="333333"/>
            </a:solidFill>
            <a:prstDash val="solid"/>
          </a:ln>
        </p:spPr>
      </p:sp>
      <p:sp>
        <p:nvSpPr>
          <p:cNvPr id="11" name="Shape 9"/>
          <p:cNvSpPr/>
          <p:nvPr/>
        </p:nvSpPr>
        <p:spPr>
          <a:xfrm>
            <a:off x="603504" y="2304288"/>
            <a:ext cx="10984687" cy="950976"/>
          </a:xfrm>
          <a:prstGeom prst="rect">
            <a:avLst/>
          </a:prstGeom>
          <a:solidFill>
            <a:srgbClr val="171A20"/>
          </a:solidFill>
          <a:ln w="12700">
            <a:solidFill>
              <a:srgbClr val="333333"/>
            </a:solidFill>
            <a:prstDash val="solid"/>
          </a:ln>
        </p:spPr>
      </p:sp>
      <p:sp>
        <p:nvSpPr>
          <p:cNvPr id="12" name="Text 10"/>
          <p:cNvSpPr txBox="1"/>
          <p:nvPr/>
        </p:nvSpPr>
        <p:spPr>
          <a:xfrm>
            <a:off x="713232" y="2359152"/>
            <a:ext cx="2194560" cy="310896"/>
          </a:xfrm>
          <a:prstGeom prst="rect">
            <a:avLst/>
          </a:prstGeom>
          <a:noFill/>
          <a:ln/>
        </p:spPr>
        <p:txBody>
          <a:bodyPr wrap="square" lIns="0" tIns="0" rIns="0" bIns="0" rtlCol="0" anchor="t"/>
          <a:lstStyle/>
          <a:p>
            <a:pPr marL="0" indent="0">
              <a:buNone/>
            </a:pPr>
            <a:r>
              <a:rPr lang="en-US" sz="1600" dirty="0">
                <a:solidFill>
                  <a:srgbClr val="F2F4F7"/>
                </a:solidFill>
                <a:latin typeface="Barlow Condensed" pitchFamily="34" charset="0"/>
                <a:ea typeface="Barlow Condensed" pitchFamily="34" charset="-122"/>
                <a:cs typeface="Barlow Condensed" pitchFamily="34" charset="-120"/>
              </a:rPr>
              <a:t>Sponsoo</a:t>
            </a:r>
            <a:endParaRPr lang="en-US" sz="1600" dirty="0"/>
          </a:p>
        </p:txBody>
      </p:sp>
      <p:sp>
        <p:nvSpPr>
          <p:cNvPr id="13" name="Text 11"/>
          <p:cNvSpPr txBox="1"/>
          <p:nvPr/>
        </p:nvSpPr>
        <p:spPr>
          <a:xfrm>
            <a:off x="2999232" y="2359152"/>
            <a:ext cx="2560320" cy="310896"/>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Marketplace, same model</a:t>
            </a:r>
            <a:endParaRPr lang="en-US" sz="1250" dirty="0"/>
          </a:p>
        </p:txBody>
      </p:sp>
      <p:sp>
        <p:nvSpPr>
          <p:cNvPr id="14" name="Text 12"/>
          <p:cNvSpPr txBox="1"/>
          <p:nvPr/>
        </p:nvSpPr>
        <p:spPr>
          <a:xfrm>
            <a:off x="5650992" y="2359152"/>
            <a:ext cx="914400" cy="310896"/>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11 yrs</a:t>
            </a:r>
            <a:endParaRPr lang="en-US" sz="1250" dirty="0"/>
          </a:p>
        </p:txBody>
      </p:sp>
      <p:sp>
        <p:nvSpPr>
          <p:cNvPr id="15" name="Text 13"/>
          <p:cNvSpPr txBox="1"/>
          <p:nvPr/>
        </p:nvSpPr>
        <p:spPr>
          <a:xfrm>
            <a:off x="6656832" y="2359152"/>
            <a:ext cx="1005840" cy="310896"/>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13</a:t>
            </a:r>
            <a:endParaRPr lang="en-US" sz="1250" dirty="0"/>
          </a:p>
        </p:txBody>
      </p:sp>
      <p:sp>
        <p:nvSpPr>
          <p:cNvPr id="16" name="Text 14"/>
          <p:cNvSpPr txBox="1"/>
          <p:nvPr/>
        </p:nvSpPr>
        <p:spPr>
          <a:xfrm>
            <a:off x="7754112" y="2359152"/>
            <a:ext cx="1371600" cy="310896"/>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€2.17M</a:t>
            </a:r>
            <a:endParaRPr lang="en-US" sz="1250" dirty="0"/>
          </a:p>
        </p:txBody>
      </p:sp>
      <p:sp>
        <p:nvSpPr>
          <p:cNvPr id="17" name="Text 15"/>
          <p:cNvSpPr txBox="1"/>
          <p:nvPr/>
        </p:nvSpPr>
        <p:spPr>
          <a:xfrm>
            <a:off x="9217152" y="2359152"/>
            <a:ext cx="2194560" cy="310896"/>
          </a:xfrm>
          <a:prstGeom prst="rect">
            <a:avLst/>
          </a:prstGeom>
          <a:noFill/>
          <a:ln/>
        </p:spPr>
        <p:txBody>
          <a:bodyPr wrap="square" lIns="0" tIns="0" rIns="0" bIns="0" rtlCol="0" anchor="t"/>
          <a:lstStyle/>
          <a:p>
            <a:pPr marL="0" indent="0">
              <a:buNone/>
            </a:pPr>
            <a:r>
              <a:rPr lang="en-US" sz="1250" dirty="0">
                <a:solidFill>
                  <a:srgbClr val="AEB6C2"/>
                </a:solidFill>
                <a:latin typeface="Barlow" pitchFamily="34" charset="0"/>
                <a:ea typeface="Barlow" pitchFamily="34" charset="-122"/>
                <a:cs typeface="Barlow" pitchFamily="34" charset="-120"/>
              </a:rPr>
              <a:t>Total equity zero</a:t>
            </a:r>
            <a:endParaRPr lang="en-US" sz="1250" dirty="0"/>
          </a:p>
        </p:txBody>
      </p:sp>
      <p:sp>
        <p:nvSpPr>
          <p:cNvPr id="18" name="Text 16"/>
          <p:cNvSpPr txBox="1"/>
          <p:nvPr/>
        </p:nvSpPr>
        <p:spPr>
          <a:xfrm>
            <a:off x="713232" y="2834640"/>
            <a:ext cx="2194560" cy="310896"/>
          </a:xfrm>
          <a:prstGeom prst="rect">
            <a:avLst/>
          </a:prstGeom>
          <a:noFill/>
          <a:ln/>
        </p:spPr>
        <p:txBody>
          <a:bodyPr wrap="square" lIns="0" tIns="0" rIns="0" bIns="0" rtlCol="0" anchor="t"/>
          <a:lstStyle/>
          <a:p>
            <a:pPr marL="0" indent="0">
              <a:buNone/>
            </a:pPr>
            <a:r>
              <a:rPr lang="en-US" sz="1600" dirty="0">
                <a:solidFill>
                  <a:srgbClr val="F2F4F7"/>
                </a:solidFill>
                <a:latin typeface="Barlow Condensed" pitchFamily="34" charset="0"/>
                <a:ea typeface="Barlow Condensed" pitchFamily="34" charset="-122"/>
                <a:cs typeface="Barlow Condensed" pitchFamily="34" charset="-120"/>
              </a:rPr>
              <a:t>OpenSponsorship</a:t>
            </a:r>
            <a:endParaRPr lang="en-US" sz="1600" dirty="0"/>
          </a:p>
        </p:txBody>
      </p:sp>
      <p:sp>
        <p:nvSpPr>
          <p:cNvPr id="19" name="Text 17"/>
          <p:cNvSpPr txBox="1"/>
          <p:nvPr/>
        </p:nvSpPr>
        <p:spPr>
          <a:xfrm>
            <a:off x="2999232" y="2834640"/>
            <a:ext cx="2560320" cy="310896"/>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Marketplace, same model</a:t>
            </a:r>
            <a:endParaRPr lang="en-US" sz="1250" dirty="0"/>
          </a:p>
        </p:txBody>
      </p:sp>
      <p:sp>
        <p:nvSpPr>
          <p:cNvPr id="20" name="Text 18"/>
          <p:cNvSpPr txBox="1"/>
          <p:nvPr/>
        </p:nvSpPr>
        <p:spPr>
          <a:xfrm>
            <a:off x="5650992" y="2834640"/>
            <a:ext cx="914400" cy="310896"/>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12 yrs</a:t>
            </a:r>
            <a:endParaRPr lang="en-US" sz="1250" dirty="0"/>
          </a:p>
        </p:txBody>
      </p:sp>
      <p:sp>
        <p:nvSpPr>
          <p:cNvPr id="21" name="Text 19"/>
          <p:cNvSpPr txBox="1"/>
          <p:nvPr/>
        </p:nvSpPr>
        <p:spPr>
          <a:xfrm>
            <a:off x="6656832" y="2834640"/>
            <a:ext cx="1005840" cy="310896"/>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23</a:t>
            </a:r>
            <a:endParaRPr lang="en-US" sz="1250" dirty="0"/>
          </a:p>
        </p:txBody>
      </p:sp>
      <p:sp>
        <p:nvSpPr>
          <p:cNvPr id="22" name="Text 20"/>
          <p:cNvSpPr txBox="1"/>
          <p:nvPr/>
        </p:nvSpPr>
        <p:spPr>
          <a:xfrm>
            <a:off x="7754112" y="2834640"/>
            <a:ext cx="1371600" cy="310896"/>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€7.6M</a:t>
            </a:r>
            <a:endParaRPr lang="en-US" sz="1250" dirty="0"/>
          </a:p>
        </p:txBody>
      </p:sp>
      <p:sp>
        <p:nvSpPr>
          <p:cNvPr id="23" name="Text 21"/>
          <p:cNvSpPr txBox="1"/>
          <p:nvPr/>
        </p:nvSpPr>
        <p:spPr>
          <a:xfrm>
            <a:off x="9217152" y="2834640"/>
            <a:ext cx="2194560" cy="310896"/>
          </a:xfrm>
          <a:prstGeom prst="rect">
            <a:avLst/>
          </a:prstGeom>
          <a:noFill/>
          <a:ln/>
        </p:spPr>
        <p:txBody>
          <a:bodyPr wrap="square" lIns="0" tIns="0" rIns="0" bIns="0" rtlCol="0" anchor="t"/>
          <a:lstStyle/>
          <a:p>
            <a:pPr marL="0" indent="0">
              <a:buNone/>
            </a:pPr>
            <a:r>
              <a:rPr lang="en-US" sz="1250" dirty="0">
                <a:solidFill>
                  <a:srgbClr val="AEB6C2"/>
                </a:solidFill>
                <a:latin typeface="Barlow" pitchFamily="34" charset="0"/>
                <a:ea typeface="Barlow" pitchFamily="34" charset="-122"/>
                <a:cs typeface="Barlow" pitchFamily="34" charset="-120"/>
              </a:rPr>
              <a:t>Still private</a:t>
            </a:r>
            <a:endParaRPr lang="en-US" sz="1250" dirty="0"/>
          </a:p>
        </p:txBody>
      </p:sp>
      <p:sp>
        <p:nvSpPr>
          <p:cNvPr id="24" name="Text 22"/>
          <p:cNvSpPr txBox="1"/>
          <p:nvPr/>
        </p:nvSpPr>
        <p:spPr>
          <a:xfrm>
            <a:off x="713232" y="3310128"/>
            <a:ext cx="2194560" cy="310896"/>
          </a:xfrm>
          <a:prstGeom prst="rect">
            <a:avLst/>
          </a:prstGeom>
          <a:noFill/>
          <a:ln/>
        </p:spPr>
        <p:txBody>
          <a:bodyPr wrap="square" lIns="0" tIns="0" rIns="0" bIns="0" rtlCol="0" anchor="t"/>
          <a:lstStyle/>
          <a:p>
            <a:pPr marL="0" indent="0">
              <a:buNone/>
            </a:pPr>
            <a:r>
              <a:rPr lang="en-US" sz="1600" dirty="0">
                <a:solidFill>
                  <a:srgbClr val="F2F4F7"/>
                </a:solidFill>
                <a:latin typeface="Barlow Condensed" pitchFamily="34" charset="0"/>
                <a:ea typeface="Barlow Condensed" pitchFamily="34" charset="-122"/>
                <a:cs typeface="Barlow Condensed" pitchFamily="34" charset="-120"/>
              </a:rPr>
              <a:t>Hookit</a:t>
            </a:r>
            <a:endParaRPr lang="en-US" sz="1600" dirty="0"/>
          </a:p>
        </p:txBody>
      </p:sp>
      <p:sp>
        <p:nvSpPr>
          <p:cNvPr id="25" name="Text 23"/>
          <p:cNvSpPr txBox="1"/>
          <p:nvPr/>
        </p:nvSpPr>
        <p:spPr>
          <a:xfrm>
            <a:off x="2999232" y="3310128"/>
            <a:ext cx="2560320" cy="310896"/>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Sponsorship data</a:t>
            </a:r>
            <a:endParaRPr lang="en-US" sz="1250" dirty="0"/>
          </a:p>
        </p:txBody>
      </p:sp>
      <p:sp>
        <p:nvSpPr>
          <p:cNvPr id="26" name="Text 24"/>
          <p:cNvSpPr txBox="1"/>
          <p:nvPr/>
        </p:nvSpPr>
        <p:spPr>
          <a:xfrm>
            <a:off x="5650992" y="3310128"/>
            <a:ext cx="914400" cy="310896"/>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18 yrs</a:t>
            </a:r>
            <a:endParaRPr lang="en-US" sz="1250" dirty="0"/>
          </a:p>
        </p:txBody>
      </p:sp>
      <p:sp>
        <p:nvSpPr>
          <p:cNvPr id="27" name="Text 25"/>
          <p:cNvSpPr txBox="1"/>
          <p:nvPr/>
        </p:nvSpPr>
        <p:spPr>
          <a:xfrm>
            <a:off x="6656832" y="3310128"/>
            <a:ext cx="1005840" cy="310896"/>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47</a:t>
            </a:r>
            <a:endParaRPr lang="en-US" sz="1250" dirty="0"/>
          </a:p>
        </p:txBody>
      </p:sp>
      <p:sp>
        <p:nvSpPr>
          <p:cNvPr id="28" name="Text 26"/>
          <p:cNvSpPr txBox="1"/>
          <p:nvPr/>
        </p:nvSpPr>
        <p:spPr>
          <a:xfrm>
            <a:off x="7754112" y="3310128"/>
            <a:ext cx="1371600" cy="310896"/>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€21.5M</a:t>
            </a:r>
            <a:endParaRPr lang="en-US" sz="1250" dirty="0"/>
          </a:p>
        </p:txBody>
      </p:sp>
      <p:sp>
        <p:nvSpPr>
          <p:cNvPr id="29" name="Text 27"/>
          <p:cNvSpPr txBox="1"/>
          <p:nvPr/>
        </p:nvSpPr>
        <p:spPr>
          <a:xfrm>
            <a:off x="9217152" y="3310128"/>
            <a:ext cx="2194560" cy="310896"/>
          </a:xfrm>
          <a:prstGeom prst="rect">
            <a:avLst/>
          </a:prstGeom>
          <a:noFill/>
          <a:ln/>
        </p:spPr>
        <p:txBody>
          <a:bodyPr wrap="square" lIns="0" tIns="0" rIns="0" bIns="0" rtlCol="0" anchor="t"/>
          <a:lstStyle/>
          <a:p>
            <a:pPr marL="0" indent="0">
              <a:buNone/>
            </a:pPr>
            <a:r>
              <a:rPr lang="en-US" sz="1250" dirty="0">
                <a:solidFill>
                  <a:srgbClr val="AEB6C2"/>
                </a:solidFill>
                <a:latin typeface="Barlow" pitchFamily="34" charset="0"/>
                <a:ea typeface="Barlow" pitchFamily="34" charset="-122"/>
                <a:cs typeface="Barlow" pitchFamily="34" charset="-120"/>
              </a:rPr>
              <a:t>Sold</a:t>
            </a:r>
            <a:endParaRPr lang="en-US" sz="1250" dirty="0"/>
          </a:p>
        </p:txBody>
      </p:sp>
      <p:sp>
        <p:nvSpPr>
          <p:cNvPr id="30" name="Text 28"/>
          <p:cNvSpPr txBox="1"/>
          <p:nvPr/>
        </p:nvSpPr>
        <p:spPr>
          <a:xfrm>
            <a:off x="713232" y="3785616"/>
            <a:ext cx="2194560" cy="310896"/>
          </a:xfrm>
          <a:prstGeom prst="rect">
            <a:avLst/>
          </a:prstGeom>
          <a:noFill/>
          <a:ln/>
        </p:spPr>
        <p:txBody>
          <a:bodyPr wrap="square" lIns="0" tIns="0" rIns="0" bIns="0" rtlCol="0" anchor="t"/>
          <a:lstStyle/>
          <a:p>
            <a:pPr marL="0" indent="0">
              <a:buNone/>
            </a:pPr>
            <a:r>
              <a:rPr lang="en-US" sz="1600" dirty="0">
                <a:solidFill>
                  <a:srgbClr val="F2F4F7"/>
                </a:solidFill>
                <a:latin typeface="Barlow Condensed" pitchFamily="34" charset="0"/>
                <a:ea typeface="Barlow Condensed" pitchFamily="34" charset="-122"/>
                <a:cs typeface="Barlow Condensed" pitchFamily="34" charset="-120"/>
              </a:rPr>
              <a:t>SponsorUnited</a:t>
            </a:r>
            <a:endParaRPr lang="en-US" sz="1600" dirty="0"/>
          </a:p>
        </p:txBody>
      </p:sp>
      <p:sp>
        <p:nvSpPr>
          <p:cNvPr id="31" name="Text 29"/>
          <p:cNvSpPr txBox="1"/>
          <p:nvPr/>
        </p:nvSpPr>
        <p:spPr>
          <a:xfrm>
            <a:off x="2999232" y="3785616"/>
            <a:ext cx="2560320" cy="310896"/>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Sponsorship data, enterprise</a:t>
            </a:r>
            <a:endParaRPr lang="en-US" sz="1250" dirty="0"/>
          </a:p>
        </p:txBody>
      </p:sp>
      <p:sp>
        <p:nvSpPr>
          <p:cNvPr id="32" name="Text 30"/>
          <p:cNvSpPr txBox="1"/>
          <p:nvPr/>
        </p:nvSpPr>
        <p:spPr>
          <a:xfrm>
            <a:off x="5650992" y="3785616"/>
            <a:ext cx="914400" cy="310896"/>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9 yrs</a:t>
            </a:r>
            <a:endParaRPr lang="en-US" sz="1250" dirty="0"/>
          </a:p>
        </p:txBody>
      </p:sp>
      <p:sp>
        <p:nvSpPr>
          <p:cNvPr id="33" name="Text 31"/>
          <p:cNvSpPr txBox="1"/>
          <p:nvPr/>
        </p:nvSpPr>
        <p:spPr>
          <a:xfrm>
            <a:off x="6656832" y="3785616"/>
            <a:ext cx="1005840" cy="310896"/>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355</a:t>
            </a:r>
            <a:endParaRPr lang="en-US" sz="1250" dirty="0"/>
          </a:p>
        </p:txBody>
      </p:sp>
      <p:sp>
        <p:nvSpPr>
          <p:cNvPr id="34" name="Text 32"/>
          <p:cNvSpPr txBox="1"/>
          <p:nvPr/>
        </p:nvSpPr>
        <p:spPr>
          <a:xfrm>
            <a:off x="7754112" y="3785616"/>
            <a:ext cx="1371600" cy="310896"/>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€38.8M</a:t>
            </a:r>
            <a:endParaRPr lang="en-US" sz="1250" dirty="0"/>
          </a:p>
        </p:txBody>
      </p:sp>
      <p:sp>
        <p:nvSpPr>
          <p:cNvPr id="35" name="Text 33"/>
          <p:cNvSpPr txBox="1"/>
          <p:nvPr/>
        </p:nvSpPr>
        <p:spPr>
          <a:xfrm>
            <a:off x="9217152" y="3785616"/>
            <a:ext cx="2194560" cy="310896"/>
          </a:xfrm>
          <a:prstGeom prst="rect">
            <a:avLst/>
          </a:prstGeom>
          <a:noFill/>
          <a:ln/>
        </p:spPr>
        <p:txBody>
          <a:bodyPr wrap="square" lIns="0" tIns="0" rIns="0" bIns="0" rtlCol="0" anchor="t"/>
          <a:lstStyle/>
          <a:p>
            <a:pPr marL="0" indent="0">
              <a:buNone/>
            </a:pPr>
            <a:r>
              <a:rPr lang="en-US" sz="1250" dirty="0">
                <a:solidFill>
                  <a:srgbClr val="AEB6C2"/>
                </a:solidFill>
                <a:latin typeface="Barlow" pitchFamily="34" charset="0"/>
                <a:ea typeface="Barlow" pitchFamily="34" charset="-122"/>
                <a:cs typeface="Barlow" pitchFamily="34" charset="-120"/>
              </a:rPr>
              <a:t>A different business</a:t>
            </a:r>
            <a:endParaRPr lang="en-US" sz="1250" dirty="0"/>
          </a:p>
        </p:txBody>
      </p:sp>
      <p:sp>
        <p:nvSpPr>
          <p:cNvPr id="36" name="Text 34"/>
          <p:cNvSpPr txBox="1"/>
          <p:nvPr/>
        </p:nvSpPr>
        <p:spPr>
          <a:xfrm>
            <a:off x="713232" y="4389120"/>
            <a:ext cx="10765231" cy="512064"/>
          </a:xfrm>
          <a:prstGeom prst="rect">
            <a:avLst/>
          </a:prstGeom>
          <a:noFill/>
          <a:ln/>
        </p:spPr>
        <p:txBody>
          <a:bodyPr wrap="square" lIns="0" tIns="0" rIns="0" bIns="0" rtlCol="0" anchor="t"/>
          <a:lstStyle/>
          <a:p>
            <a:pPr marL="0" indent="0">
              <a:lnSpc>
                <a:spcPts val="1800"/>
              </a:lnSpc>
              <a:buNone/>
            </a:pPr>
            <a:r>
              <a:rPr lang="en-US" sz="1350" dirty="0">
                <a:solidFill>
                  <a:srgbClr val="AEB6C2"/>
                </a:solidFill>
                <a:latin typeface="Barlow" pitchFamily="34" charset="0"/>
                <a:ea typeface="Barlow" pitchFamily="34" charset="-122"/>
                <a:cs typeface="Barlow" pitchFamily="34" charset="-120"/>
              </a:rPr>
              <a:t>The one that got large sells data to agencies and rights holders, and never executes a deal. 355 people is what enterprise sales costs, and it is the reason nobody runs this motion down at a €2,000 sponsorship.</a:t>
            </a:r>
            <a:endParaRPr lang="en-US" sz="1350" dirty="0"/>
          </a:p>
        </p:txBody>
      </p:sp>
      <p:sp>
        <p:nvSpPr>
          <p:cNvPr id="37" name="Shape 35"/>
          <p:cNvSpPr/>
          <p:nvPr/>
        </p:nvSpPr>
        <p:spPr>
          <a:xfrm>
            <a:off x="713232" y="5010912"/>
            <a:ext cx="10765231" cy="1024128"/>
          </a:xfrm>
          <a:prstGeom prst="roundRect">
            <a:avLst>
              <a:gd name="adj" fmla="val 3571"/>
            </a:avLst>
          </a:prstGeom>
          <a:solidFill>
            <a:srgbClr val="1F242C"/>
          </a:solidFill>
          <a:ln w="9525">
            <a:solidFill>
              <a:srgbClr val="262C35"/>
            </a:solidFill>
            <a:prstDash val="solid"/>
          </a:ln>
        </p:spPr>
      </p:sp>
      <p:sp>
        <p:nvSpPr>
          <p:cNvPr id="38" name="Text 36"/>
          <p:cNvSpPr txBox="1"/>
          <p:nvPr/>
        </p:nvSpPr>
        <p:spPr>
          <a:xfrm>
            <a:off x="987552" y="5193792"/>
            <a:ext cx="2377440" cy="237744"/>
          </a:xfrm>
          <a:prstGeom prst="rect">
            <a:avLst/>
          </a:prstGeom>
          <a:noFill/>
          <a:ln/>
        </p:spPr>
        <p:txBody>
          <a:bodyPr wrap="square" lIns="0" tIns="0" rIns="0" bIns="0" rtlCol="0" anchor="t"/>
          <a:lstStyle/>
          <a:p>
            <a:pPr marL="0" indent="0">
              <a:buNone/>
            </a:pPr>
            <a:r>
              <a:rPr lang="en-US" sz="1350" kern="0" spc="240" dirty="0">
                <a:solidFill>
                  <a:srgbClr val="FFB020"/>
                </a:solidFill>
                <a:latin typeface="Barlow Condensed" pitchFamily="34" charset="0"/>
                <a:ea typeface="Barlow Condensed" pitchFamily="34" charset="-122"/>
                <a:cs typeface="Barlow Condensed" pitchFamily="34" charset="-120"/>
              </a:rPr>
              <a:t>THE SECOND PAYER</a:t>
            </a:r>
            <a:endParaRPr lang="en-US" sz="1350" dirty="0"/>
          </a:p>
        </p:txBody>
      </p:sp>
      <p:sp>
        <p:nvSpPr>
          <p:cNvPr id="39" name="Text 37"/>
          <p:cNvSpPr txBox="1"/>
          <p:nvPr/>
        </p:nvSpPr>
        <p:spPr>
          <a:xfrm>
            <a:off x="3639312" y="5157216"/>
            <a:ext cx="7564831" cy="768096"/>
          </a:xfrm>
          <a:prstGeom prst="rect">
            <a:avLst/>
          </a:prstGeom>
          <a:noFill/>
          <a:ln/>
        </p:spPr>
        <p:txBody>
          <a:bodyPr wrap="square" lIns="0" tIns="0" rIns="0" bIns="0" rtlCol="0" anchor="t"/>
          <a:lstStyle/>
          <a:p>
            <a:pPr marL="0" indent="0">
              <a:lnSpc>
                <a:spcPts val="1800"/>
              </a:lnSpc>
              <a:buNone/>
            </a:pPr>
            <a:r>
              <a:rPr lang="en-US" sz="1350" dirty="0">
                <a:solidFill>
                  <a:srgbClr val="AEB6C2"/>
                </a:solidFill>
                <a:latin typeface="Barlow" pitchFamily="34" charset="0"/>
                <a:ea typeface="Barlow" pitchFamily="34" charset="-122"/>
                <a:cs typeface="Barlow" pitchFamily="34" charset="-120"/>
              </a:rPr>
              <a:t>Fan subscriptions are 48% of our Y7 revenue, and none of these four has that stream at all. If it works, the economics are not Sponsoo's. If it does not, they are, and this is Sponsoo with eleven fewer years of relationships. The plan prices both cases.</a:t>
            </a:r>
            <a:endParaRPr lang="en-US" sz="1350" dirty="0"/>
          </a:p>
        </p:txBody>
      </p:sp>
      <p:sp>
        <p:nvSpPr>
          <p:cNvPr id="40" name="Text 38"/>
          <p:cNvSpPr txBox="1"/>
          <p:nvPr/>
        </p:nvSpPr>
        <p:spPr>
          <a:xfrm>
            <a:off x="713232" y="6382512"/>
            <a:ext cx="9667951" cy="274320"/>
          </a:xfrm>
          <a:prstGeom prst="rect">
            <a:avLst/>
          </a:prstGeom>
          <a:noFill/>
          <a:ln/>
        </p:spPr>
        <p:txBody>
          <a:bodyPr wrap="square" lIns="0" tIns="0" rIns="0" bIns="0" rtlCol="0" anchor="t"/>
          <a:lstStyle/>
          <a:p>
            <a:pPr marL="0" indent="0">
              <a:buNone/>
            </a:pPr>
            <a:r>
              <a:rPr lang="en-US" sz="950" dirty="0">
                <a:solidFill>
                  <a:srgbClr val="828C9A"/>
                </a:solidFill>
                <a:latin typeface="Barlow" pitchFamily="34" charset="0"/>
                <a:ea typeface="Barlow" pitchFamily="34" charset="-122"/>
                <a:cs typeface="Barlow" pitchFamily="34" charset="-120"/>
              </a:rPr>
              <a:t>PitchBook company profiles, retrieved 1 October 2026, reported in euros.</a:t>
            </a:r>
            <a:endParaRPr lang="en-US" sz="950" dirty="0"/>
          </a:p>
        </p:txBody>
      </p:sp>
      <p:sp>
        <p:nvSpPr>
          <p:cNvPr id="41"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REVENUE MODEL</a:t>
            </a:r>
            <a:endParaRPr lang="en-US" sz="1250" dirty="0"/>
          </a:p>
        </p:txBody>
      </p:sp>
      <p:sp>
        <p:nvSpPr>
          <p:cNvPr id="3" name="Text 1"/>
          <p:cNvSpPr txBox="1"/>
          <p:nvPr/>
        </p:nvSpPr>
        <p:spPr>
          <a:xfrm>
            <a:off x="713232" y="786384"/>
            <a:ext cx="10765231" cy="868680"/>
          </a:xfrm>
          <a:prstGeom prst="rect">
            <a:avLst/>
          </a:prstGeom>
          <a:noFill/>
          <a:ln/>
        </p:spPr>
        <p:txBody>
          <a:bodyPr wrap="square" lIns="0" tIns="0" rIns="0" bIns="0" rtlCol="0" anchor="t"/>
          <a:lstStyle/>
          <a:p>
            <a:pPr marL="0" indent="0">
              <a:lnSpc>
                <a:spcPts val="3800"/>
              </a:lnSpc>
              <a:buNone/>
            </a:pPr>
            <a:r>
              <a:rPr lang="en-US" sz="3600" dirty="0">
                <a:solidFill>
                  <a:srgbClr val="F2F4F7"/>
                </a:solidFill>
                <a:latin typeface="Barlow Condensed" pitchFamily="34" charset="0"/>
                <a:ea typeface="Barlow Condensed" pitchFamily="34" charset="-122"/>
                <a:cs typeface="Barlow Condensed" pitchFamily="34" charset="-120"/>
              </a:rPr>
              <a:t>The business changes shape as it grows</a:t>
            </a:r>
            <a:endParaRPr lang="en-US" sz="3600" dirty="0"/>
          </a:p>
        </p:txBody>
      </p:sp>
      <p:graphicFrame>
        <p:nvGraphicFramePr>
          <p:cNvPr id="4" name="Chart 0"/>
          <p:cNvGraphicFramePr/>
          <p:nvPr/>
        </p:nvGraphicFramePr>
        <p:xfrm>
          <a:off x="713232" y="1901952"/>
          <a:ext cx="758952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412480" y="2103120"/>
            <a:ext cx="3065983" cy="1234440"/>
          </a:xfrm>
          <a:prstGeom prst="roundRect">
            <a:avLst>
              <a:gd name="adj" fmla="val 2963"/>
            </a:avLst>
          </a:prstGeom>
          <a:solidFill>
            <a:srgbClr val="171A20"/>
          </a:solidFill>
          <a:ln w="9525">
            <a:solidFill>
              <a:srgbClr val="262C35"/>
            </a:solidFill>
            <a:prstDash val="solid"/>
          </a:ln>
        </p:spPr>
      </p:sp>
      <p:sp>
        <p:nvSpPr>
          <p:cNvPr id="6" name="Text 3"/>
          <p:cNvSpPr txBox="1"/>
          <p:nvPr/>
        </p:nvSpPr>
        <p:spPr>
          <a:xfrm>
            <a:off x="8686800" y="2267712"/>
            <a:ext cx="731520" cy="237744"/>
          </a:xfrm>
          <a:prstGeom prst="rect">
            <a:avLst/>
          </a:prstGeom>
          <a:noFill/>
          <a:ln/>
        </p:spPr>
        <p:txBody>
          <a:bodyPr wrap="square" lIns="0" tIns="0" rIns="0" bIns="0" rtlCol="0" anchor="t"/>
          <a:lstStyle/>
          <a:p>
            <a:pPr marL="0" indent="0">
              <a:buNone/>
            </a:pPr>
            <a:r>
              <a:rPr lang="en-US" sz="1200" dirty="0">
                <a:solidFill>
                  <a:srgbClr val="828C9A"/>
                </a:solidFill>
                <a:latin typeface="Barlow Condensed" pitchFamily="34" charset="0"/>
                <a:ea typeface="Barlow Condensed" pitchFamily="34" charset="-122"/>
                <a:cs typeface="Barlow Condensed" pitchFamily="34" charset="-120"/>
              </a:rPr>
              <a:t>Y2</a:t>
            </a:r>
            <a:endParaRPr lang="en-US" sz="1200" dirty="0"/>
          </a:p>
        </p:txBody>
      </p:sp>
      <p:sp>
        <p:nvSpPr>
          <p:cNvPr id="7" name="Text 4"/>
          <p:cNvSpPr txBox="1"/>
          <p:nvPr/>
        </p:nvSpPr>
        <p:spPr>
          <a:xfrm>
            <a:off x="8686800" y="2468880"/>
            <a:ext cx="1463040" cy="457200"/>
          </a:xfrm>
          <a:prstGeom prst="rect">
            <a:avLst/>
          </a:prstGeom>
          <a:noFill/>
          <a:ln/>
        </p:spPr>
        <p:txBody>
          <a:bodyPr wrap="square" lIns="0" tIns="0" rIns="0" bIns="0" rtlCol="0" anchor="t"/>
          <a:lstStyle/>
          <a:p>
            <a:pPr marL="0" indent="0">
              <a:lnSpc>
                <a:spcPts val="3400"/>
              </a:lnSpc>
              <a:buNone/>
            </a:pPr>
            <a:r>
              <a:rPr lang="en-US" sz="3400" dirty="0">
                <a:solidFill>
                  <a:srgbClr val="FFB020"/>
                </a:solidFill>
                <a:latin typeface="Barlow Condensed" pitchFamily="34" charset="0"/>
                <a:ea typeface="Barlow Condensed" pitchFamily="34" charset="-122"/>
                <a:cs typeface="Barlow Condensed" pitchFamily="34" charset="-120"/>
              </a:rPr>
              <a:t>75%</a:t>
            </a:r>
            <a:endParaRPr lang="en-US" sz="3400" dirty="0"/>
          </a:p>
        </p:txBody>
      </p:sp>
      <p:sp>
        <p:nvSpPr>
          <p:cNvPr id="8" name="Text 5"/>
          <p:cNvSpPr txBox="1"/>
          <p:nvPr/>
        </p:nvSpPr>
        <p:spPr>
          <a:xfrm>
            <a:off x="8686800" y="2907792"/>
            <a:ext cx="2535631" cy="384048"/>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of revenue is fan subscriptions, the year the thesis is tested</a:t>
            </a:r>
            <a:endParaRPr lang="en-US" sz="1150" dirty="0"/>
          </a:p>
        </p:txBody>
      </p:sp>
      <p:sp>
        <p:nvSpPr>
          <p:cNvPr id="9" name="Shape 6"/>
          <p:cNvSpPr/>
          <p:nvPr/>
        </p:nvSpPr>
        <p:spPr>
          <a:xfrm>
            <a:off x="8412480" y="3566160"/>
            <a:ext cx="3065983" cy="1234440"/>
          </a:xfrm>
          <a:prstGeom prst="roundRect">
            <a:avLst>
              <a:gd name="adj" fmla="val 2963"/>
            </a:avLst>
          </a:prstGeom>
          <a:solidFill>
            <a:srgbClr val="171A20"/>
          </a:solidFill>
          <a:ln w="9525">
            <a:solidFill>
              <a:srgbClr val="262C35"/>
            </a:solidFill>
            <a:prstDash val="solid"/>
          </a:ln>
        </p:spPr>
      </p:sp>
      <p:sp>
        <p:nvSpPr>
          <p:cNvPr id="10" name="Text 7"/>
          <p:cNvSpPr txBox="1"/>
          <p:nvPr/>
        </p:nvSpPr>
        <p:spPr>
          <a:xfrm>
            <a:off x="8686800" y="3730752"/>
            <a:ext cx="731520" cy="237744"/>
          </a:xfrm>
          <a:prstGeom prst="rect">
            <a:avLst/>
          </a:prstGeom>
          <a:noFill/>
          <a:ln/>
        </p:spPr>
        <p:txBody>
          <a:bodyPr wrap="square" lIns="0" tIns="0" rIns="0" bIns="0" rtlCol="0" anchor="t"/>
          <a:lstStyle/>
          <a:p>
            <a:pPr marL="0" indent="0">
              <a:buNone/>
            </a:pPr>
            <a:r>
              <a:rPr lang="en-US" sz="1200" dirty="0">
                <a:solidFill>
                  <a:srgbClr val="828C9A"/>
                </a:solidFill>
                <a:latin typeface="Barlow Condensed" pitchFamily="34" charset="0"/>
                <a:ea typeface="Barlow Condensed" pitchFamily="34" charset="-122"/>
                <a:cs typeface="Barlow Condensed" pitchFamily="34" charset="-120"/>
              </a:rPr>
              <a:t>Y7</a:t>
            </a:r>
            <a:endParaRPr lang="en-US" sz="1200" dirty="0"/>
          </a:p>
        </p:txBody>
      </p:sp>
      <p:sp>
        <p:nvSpPr>
          <p:cNvPr id="11" name="Text 8"/>
          <p:cNvSpPr txBox="1"/>
          <p:nvPr/>
        </p:nvSpPr>
        <p:spPr>
          <a:xfrm>
            <a:off x="8686800" y="3931920"/>
            <a:ext cx="1463040" cy="457200"/>
          </a:xfrm>
          <a:prstGeom prst="rect">
            <a:avLst/>
          </a:prstGeom>
          <a:noFill/>
          <a:ln/>
        </p:spPr>
        <p:txBody>
          <a:bodyPr wrap="square" lIns="0" tIns="0" rIns="0" bIns="0" rtlCol="0" anchor="t"/>
          <a:lstStyle/>
          <a:p>
            <a:pPr marL="0" indent="0">
              <a:lnSpc>
                <a:spcPts val="3400"/>
              </a:lnSpc>
              <a:buNone/>
            </a:pPr>
            <a:r>
              <a:rPr lang="en-US" sz="3400" dirty="0">
                <a:solidFill>
                  <a:srgbClr val="FFB020"/>
                </a:solidFill>
                <a:latin typeface="Barlow Condensed" pitchFamily="34" charset="0"/>
                <a:ea typeface="Barlow Condensed" pitchFamily="34" charset="-122"/>
                <a:cs typeface="Barlow Condensed" pitchFamily="34" charset="-120"/>
              </a:rPr>
              <a:t>48%</a:t>
            </a:r>
            <a:endParaRPr lang="en-US" sz="3400" dirty="0"/>
          </a:p>
        </p:txBody>
      </p:sp>
      <p:sp>
        <p:nvSpPr>
          <p:cNvPr id="12" name="Text 9"/>
          <p:cNvSpPr txBox="1"/>
          <p:nvPr/>
        </p:nvSpPr>
        <p:spPr>
          <a:xfrm>
            <a:off x="8686800" y="4370832"/>
            <a:ext cx="2535631" cy="384048"/>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still fan, with sponsorship and SaaS compounding behind it</a:t>
            </a:r>
            <a:endParaRPr lang="en-US" sz="1150" dirty="0"/>
          </a:p>
        </p:txBody>
      </p:sp>
      <p:sp>
        <p:nvSpPr>
          <p:cNvPr id="13" name="Shape 10"/>
          <p:cNvSpPr/>
          <p:nvPr/>
        </p:nvSpPr>
        <p:spPr>
          <a:xfrm>
            <a:off x="8412480" y="5029200"/>
            <a:ext cx="3065983" cy="502920"/>
          </a:xfrm>
          <a:prstGeom prst="roundRect">
            <a:avLst>
              <a:gd name="adj" fmla="val 7273"/>
            </a:avLst>
          </a:prstGeom>
          <a:solidFill>
            <a:srgbClr val="1F242C"/>
          </a:solidFill>
          <a:ln w="9525">
            <a:solidFill>
              <a:srgbClr val="262C35"/>
            </a:solidFill>
            <a:prstDash val="solid"/>
          </a:ln>
        </p:spPr>
      </p:sp>
      <p:sp>
        <p:nvSpPr>
          <p:cNvPr id="14" name="Text 11"/>
          <p:cNvSpPr txBox="1"/>
          <p:nvPr/>
        </p:nvSpPr>
        <p:spPr>
          <a:xfrm>
            <a:off x="8686800" y="5138928"/>
            <a:ext cx="2926080" cy="292608"/>
          </a:xfrm>
          <a:prstGeom prst="rect">
            <a:avLst/>
          </a:prstGeom>
          <a:noFill/>
          <a:ln/>
        </p:spPr>
        <p:txBody>
          <a:bodyPr wrap="square" lIns="0" tIns="0" rIns="0" bIns="0" rtlCol="0" anchor="t"/>
          <a:lstStyle/>
          <a:p>
            <a:pPr marL="0" indent="0">
              <a:buNone/>
            </a:pPr>
            <a:r>
              <a:rPr lang="en-US" sz="1700" dirty="0">
                <a:solidFill>
                  <a:srgbClr val="F2F4F7"/>
                </a:solidFill>
                <a:latin typeface="Barlow Condensed" pitchFamily="34" charset="0"/>
                <a:ea typeface="Barlow Condensed" pitchFamily="34" charset="-122"/>
                <a:cs typeface="Barlow Condensed" pitchFamily="34" charset="-120"/>
              </a:rPr>
              <a:t>€3.01M total at Y7</a:t>
            </a:r>
            <a:endParaRPr lang="en-US" sz="1700" dirty="0"/>
          </a:p>
        </p:txBody>
      </p:sp>
      <p:sp>
        <p:nvSpPr>
          <p:cNvPr id="15" name="Text 12"/>
          <p:cNvSpPr txBox="1"/>
          <p:nvPr/>
        </p:nvSpPr>
        <p:spPr>
          <a:xfrm>
            <a:off x="713232" y="6382512"/>
            <a:ext cx="9667951" cy="274320"/>
          </a:xfrm>
          <a:prstGeom prst="rect">
            <a:avLst/>
          </a:prstGeom>
          <a:noFill/>
          <a:ln/>
        </p:spPr>
        <p:txBody>
          <a:bodyPr wrap="square" lIns="0" tIns="0" rIns="0" bIns="0" rtlCol="0" anchor="t"/>
          <a:lstStyle/>
          <a:p>
            <a:pPr marL="0" indent="0">
              <a:buNone/>
            </a:pPr>
            <a:r>
              <a:rPr lang="en-US" sz="950" dirty="0">
                <a:solidFill>
                  <a:srgbClr val="828C9A"/>
                </a:solidFill>
                <a:latin typeface="Barlow" pitchFamily="34" charset="0"/>
                <a:ea typeface="Barlow" pitchFamily="34" charset="-122"/>
                <a:cs typeface="Barlow" pitchFamily="34" charset="-120"/>
              </a:rPr>
              <a:t>Stride financial model. Y1 to Y7, net revenue after the athlete's share.</a:t>
            </a:r>
            <a:endParaRPr lang="en-US" sz="95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GO TO MARKET</a:t>
            </a:r>
            <a:endParaRPr lang="en-US" sz="1250" dirty="0"/>
          </a:p>
        </p:txBody>
      </p:sp>
      <p:sp>
        <p:nvSpPr>
          <p:cNvPr id="3" name="Text 1"/>
          <p:cNvSpPr txBox="1"/>
          <p:nvPr/>
        </p:nvSpPr>
        <p:spPr>
          <a:xfrm>
            <a:off x="713232" y="786384"/>
            <a:ext cx="10765231" cy="868680"/>
          </a:xfrm>
          <a:prstGeom prst="rect">
            <a:avLst/>
          </a:prstGeom>
          <a:noFill/>
          <a:ln/>
        </p:spPr>
        <p:txBody>
          <a:bodyPr wrap="square" lIns="0" tIns="0" rIns="0" bIns="0" rtlCol="0" anchor="t"/>
          <a:lstStyle/>
          <a:p>
            <a:pPr marL="0" indent="0">
              <a:lnSpc>
                <a:spcPts val="3800"/>
              </a:lnSpc>
              <a:buNone/>
            </a:pPr>
            <a:r>
              <a:rPr lang="en-US" sz="3600" dirty="0">
                <a:solidFill>
                  <a:srgbClr val="F2F4F7"/>
                </a:solidFill>
                <a:latin typeface="Barlow Condensed" pitchFamily="34" charset="0"/>
                <a:ea typeface="Barlow Condensed" pitchFamily="34" charset="-122"/>
                <a:cs typeface="Barlow Condensed" pitchFamily="34" charset="-120"/>
              </a:rPr>
              <a:t>Year one, concretely</a:t>
            </a:r>
            <a:endParaRPr lang="en-US" sz="3600" dirty="0"/>
          </a:p>
        </p:txBody>
      </p:sp>
      <p:sp>
        <p:nvSpPr>
          <p:cNvPr id="4" name="Shape 2"/>
          <p:cNvSpPr/>
          <p:nvPr/>
        </p:nvSpPr>
        <p:spPr>
          <a:xfrm>
            <a:off x="713232" y="1956816"/>
            <a:ext cx="2519858" cy="2286000"/>
          </a:xfrm>
          <a:prstGeom prst="roundRect">
            <a:avLst>
              <a:gd name="adj" fmla="val 1600"/>
            </a:avLst>
          </a:prstGeom>
          <a:solidFill>
            <a:srgbClr val="171A20"/>
          </a:solidFill>
          <a:ln w="9525">
            <a:solidFill>
              <a:srgbClr val="262C35"/>
            </a:solidFill>
            <a:prstDash val="solid"/>
          </a:ln>
        </p:spPr>
      </p:sp>
      <p:sp>
        <p:nvSpPr>
          <p:cNvPr id="5" name="Text 3"/>
          <p:cNvSpPr txBox="1"/>
          <p:nvPr/>
        </p:nvSpPr>
        <p:spPr>
          <a:xfrm>
            <a:off x="969264" y="2176272"/>
            <a:ext cx="2007794" cy="868680"/>
          </a:xfrm>
          <a:prstGeom prst="rect">
            <a:avLst/>
          </a:prstGeom>
          <a:noFill/>
          <a:ln/>
        </p:spPr>
        <p:txBody>
          <a:bodyPr wrap="square" lIns="0" tIns="0" rIns="0" bIns="0" rtlCol="0" anchor="t"/>
          <a:lstStyle/>
          <a:p>
            <a:pPr marL="0" indent="0">
              <a:lnSpc>
                <a:spcPts val="5400"/>
              </a:lnSpc>
              <a:buNone/>
            </a:pPr>
            <a:r>
              <a:rPr lang="en-US" sz="5400" dirty="0">
                <a:solidFill>
                  <a:srgbClr val="F2F4F7"/>
                </a:solidFill>
                <a:latin typeface="Barlow Condensed" pitchFamily="34" charset="0"/>
                <a:ea typeface="Barlow Condensed" pitchFamily="34" charset="-122"/>
                <a:cs typeface="Barlow Condensed" pitchFamily="34" charset="-120"/>
              </a:rPr>
              <a:t>250</a:t>
            </a:r>
            <a:endParaRPr lang="en-US" sz="5400" dirty="0"/>
          </a:p>
        </p:txBody>
      </p:sp>
      <p:sp>
        <p:nvSpPr>
          <p:cNvPr id="6" name="Text 4"/>
          <p:cNvSpPr txBox="1"/>
          <p:nvPr/>
        </p:nvSpPr>
        <p:spPr>
          <a:xfrm>
            <a:off x="969264" y="3054096"/>
            <a:ext cx="2007794" cy="438912"/>
          </a:xfrm>
          <a:prstGeom prst="rect">
            <a:avLst/>
          </a:prstGeom>
          <a:noFill/>
          <a:ln/>
        </p:spPr>
        <p:txBody>
          <a:bodyPr wrap="square" lIns="0" tIns="0" rIns="0" bIns="0" rtlCol="0" anchor="t"/>
          <a:lstStyle/>
          <a:p>
            <a:pPr marL="0" indent="0">
              <a:lnSpc>
                <a:spcPts val="1500"/>
              </a:lnSpc>
              <a:buNone/>
            </a:pPr>
            <a:r>
              <a:rPr lang="en-US" sz="1300" kern="0" spc="220" dirty="0">
                <a:solidFill>
                  <a:srgbClr val="828C9A"/>
                </a:solidFill>
                <a:latin typeface="Barlow Condensed" pitchFamily="34" charset="0"/>
                <a:ea typeface="Barlow Condensed" pitchFamily="34" charset="-122"/>
                <a:cs typeface="Barlow Condensed" pitchFamily="34" charset="-120"/>
              </a:rPr>
              <a:t>ATHLETES</a:t>
            </a:r>
            <a:endParaRPr lang="en-US" sz="1300" dirty="0"/>
          </a:p>
        </p:txBody>
      </p:sp>
      <p:sp>
        <p:nvSpPr>
          <p:cNvPr id="7" name="Text 5"/>
          <p:cNvSpPr txBox="1"/>
          <p:nvPr/>
        </p:nvSpPr>
        <p:spPr>
          <a:xfrm>
            <a:off x="969264" y="3547872"/>
            <a:ext cx="2007794" cy="640080"/>
          </a:xfrm>
          <a:prstGeom prst="rect">
            <a:avLst/>
          </a:prstGeom>
          <a:noFill/>
          <a:ln/>
        </p:spPr>
        <p:txBody>
          <a:bodyPr wrap="square" lIns="0" tIns="0" rIns="0" bIns="0" rtlCol="0" anchor="t"/>
          <a:lstStyle/>
          <a:p>
            <a:pPr marL="0" indent="0">
              <a:lnSpc>
                <a:spcPts val="1600"/>
              </a:lnSpc>
              <a:buNone/>
            </a:pPr>
            <a:r>
              <a:rPr lang="en-US" sz="1200" dirty="0">
                <a:solidFill>
                  <a:srgbClr val="AEB6C2"/>
                </a:solidFill>
                <a:latin typeface="Barlow" pitchFamily="34" charset="0"/>
                <a:ea typeface="Barlow" pitchFamily="34" charset="-122"/>
                <a:cs typeface="Barlow" pitchFamily="34" charset="-120"/>
              </a:rPr>
              <a:t>recruited from 1,250 applications, in two or three niche Spanish sports</a:t>
            </a:r>
            <a:endParaRPr lang="en-US" sz="1200" dirty="0"/>
          </a:p>
        </p:txBody>
      </p:sp>
      <p:sp>
        <p:nvSpPr>
          <p:cNvPr id="8" name="Shape 6"/>
          <p:cNvSpPr/>
          <p:nvPr/>
        </p:nvSpPr>
        <p:spPr>
          <a:xfrm>
            <a:off x="3461690" y="1956816"/>
            <a:ext cx="2519858" cy="2286000"/>
          </a:xfrm>
          <a:prstGeom prst="roundRect">
            <a:avLst>
              <a:gd name="adj" fmla="val 1600"/>
            </a:avLst>
          </a:prstGeom>
          <a:solidFill>
            <a:srgbClr val="171A20"/>
          </a:solidFill>
          <a:ln w="9525">
            <a:solidFill>
              <a:srgbClr val="262C35"/>
            </a:solidFill>
            <a:prstDash val="solid"/>
          </a:ln>
        </p:spPr>
      </p:sp>
      <p:sp>
        <p:nvSpPr>
          <p:cNvPr id="9" name="Text 7"/>
          <p:cNvSpPr txBox="1"/>
          <p:nvPr/>
        </p:nvSpPr>
        <p:spPr>
          <a:xfrm>
            <a:off x="3717722" y="2176272"/>
            <a:ext cx="2007794" cy="868680"/>
          </a:xfrm>
          <a:prstGeom prst="rect">
            <a:avLst/>
          </a:prstGeom>
          <a:noFill/>
          <a:ln/>
        </p:spPr>
        <p:txBody>
          <a:bodyPr wrap="square" lIns="0" tIns="0" rIns="0" bIns="0" rtlCol="0" anchor="t"/>
          <a:lstStyle/>
          <a:p>
            <a:pPr marL="0" indent="0">
              <a:lnSpc>
                <a:spcPts val="5400"/>
              </a:lnSpc>
              <a:buNone/>
            </a:pPr>
            <a:r>
              <a:rPr lang="en-US" sz="5400" dirty="0">
                <a:solidFill>
                  <a:srgbClr val="F2F4F7"/>
                </a:solidFill>
                <a:latin typeface="Barlow Condensed" pitchFamily="34" charset="0"/>
                <a:ea typeface="Barlow Condensed" pitchFamily="34" charset="-122"/>
                <a:cs typeface="Barlow Condensed" pitchFamily="34" charset="-120"/>
              </a:rPr>
              <a:t>20</a:t>
            </a:r>
            <a:endParaRPr lang="en-US" sz="5400" dirty="0"/>
          </a:p>
        </p:txBody>
      </p:sp>
      <p:sp>
        <p:nvSpPr>
          <p:cNvPr id="10" name="Text 8"/>
          <p:cNvSpPr txBox="1"/>
          <p:nvPr/>
        </p:nvSpPr>
        <p:spPr>
          <a:xfrm>
            <a:off x="3717722" y="3054096"/>
            <a:ext cx="2007794" cy="438912"/>
          </a:xfrm>
          <a:prstGeom prst="rect">
            <a:avLst/>
          </a:prstGeom>
          <a:noFill/>
          <a:ln/>
        </p:spPr>
        <p:txBody>
          <a:bodyPr wrap="square" lIns="0" tIns="0" rIns="0" bIns="0" rtlCol="0" anchor="t"/>
          <a:lstStyle/>
          <a:p>
            <a:pPr marL="0" indent="0">
              <a:lnSpc>
                <a:spcPts val="1500"/>
              </a:lnSpc>
              <a:buNone/>
            </a:pPr>
            <a:r>
              <a:rPr lang="en-US" sz="1300" kern="0" spc="220" dirty="0">
                <a:solidFill>
                  <a:srgbClr val="828C9A"/>
                </a:solidFill>
                <a:latin typeface="Barlow Condensed" pitchFamily="34" charset="0"/>
                <a:ea typeface="Barlow Condensed" pitchFamily="34" charset="-122"/>
                <a:cs typeface="Barlow Condensed" pitchFamily="34" charset="-120"/>
              </a:rPr>
              <a:t>SPONSOR CONVERSATIONS</a:t>
            </a:r>
            <a:endParaRPr lang="en-US" sz="1300" dirty="0"/>
          </a:p>
        </p:txBody>
      </p:sp>
      <p:sp>
        <p:nvSpPr>
          <p:cNvPr id="11" name="Text 9"/>
          <p:cNvSpPr txBox="1"/>
          <p:nvPr/>
        </p:nvSpPr>
        <p:spPr>
          <a:xfrm>
            <a:off x="3717722" y="3547872"/>
            <a:ext cx="2007794" cy="640080"/>
          </a:xfrm>
          <a:prstGeom prst="rect">
            <a:avLst/>
          </a:prstGeom>
          <a:noFill/>
          <a:ln/>
        </p:spPr>
        <p:txBody>
          <a:bodyPr wrap="square" lIns="0" tIns="0" rIns="0" bIns="0" rtlCol="0" anchor="t"/>
          <a:lstStyle/>
          <a:p>
            <a:pPr marL="0" indent="0">
              <a:lnSpc>
                <a:spcPts val="1600"/>
              </a:lnSpc>
              <a:buNone/>
            </a:pPr>
            <a:r>
              <a:rPr lang="en-US" sz="1200" dirty="0">
                <a:solidFill>
                  <a:srgbClr val="AEB6C2"/>
                </a:solidFill>
                <a:latin typeface="Barlow" pitchFamily="34" charset="0"/>
                <a:ea typeface="Barlow" pitchFamily="34" charset="-122"/>
                <a:cs typeface="Barlow" pitchFamily="34" charset="-120"/>
              </a:rPr>
              <a:t>which are the first sales as much as the research, closing about 15 deals</a:t>
            </a:r>
            <a:endParaRPr lang="en-US" sz="1200" dirty="0"/>
          </a:p>
        </p:txBody>
      </p:sp>
      <p:sp>
        <p:nvSpPr>
          <p:cNvPr id="12" name="Shape 10"/>
          <p:cNvSpPr/>
          <p:nvPr/>
        </p:nvSpPr>
        <p:spPr>
          <a:xfrm>
            <a:off x="6210148" y="1956816"/>
            <a:ext cx="2519858" cy="2286000"/>
          </a:xfrm>
          <a:prstGeom prst="roundRect">
            <a:avLst>
              <a:gd name="adj" fmla="val 1600"/>
            </a:avLst>
          </a:prstGeom>
          <a:solidFill>
            <a:srgbClr val="171A20"/>
          </a:solidFill>
          <a:ln w="9525">
            <a:solidFill>
              <a:srgbClr val="262C35"/>
            </a:solidFill>
            <a:prstDash val="solid"/>
          </a:ln>
        </p:spPr>
      </p:sp>
      <p:sp>
        <p:nvSpPr>
          <p:cNvPr id="13" name="Text 11"/>
          <p:cNvSpPr txBox="1"/>
          <p:nvPr/>
        </p:nvSpPr>
        <p:spPr>
          <a:xfrm>
            <a:off x="6466180" y="2176272"/>
            <a:ext cx="2007794" cy="868680"/>
          </a:xfrm>
          <a:prstGeom prst="rect">
            <a:avLst/>
          </a:prstGeom>
          <a:noFill/>
          <a:ln/>
        </p:spPr>
        <p:txBody>
          <a:bodyPr wrap="square" lIns="0" tIns="0" rIns="0" bIns="0" rtlCol="0" anchor="t"/>
          <a:lstStyle/>
          <a:p>
            <a:pPr marL="0" indent="0">
              <a:lnSpc>
                <a:spcPts val="5400"/>
              </a:lnSpc>
              <a:buNone/>
            </a:pPr>
            <a:r>
              <a:rPr lang="en-US" sz="5400" dirty="0">
                <a:solidFill>
                  <a:srgbClr val="F2F4F7"/>
                </a:solidFill>
                <a:latin typeface="Barlow Condensed" pitchFamily="34" charset="0"/>
                <a:ea typeface="Barlow Condensed" pitchFamily="34" charset="-122"/>
                <a:cs typeface="Barlow Condensed" pitchFamily="34" charset="-120"/>
              </a:rPr>
              <a:t>1</a:t>
            </a:r>
            <a:endParaRPr lang="en-US" sz="5400" dirty="0"/>
          </a:p>
        </p:txBody>
      </p:sp>
      <p:sp>
        <p:nvSpPr>
          <p:cNvPr id="14" name="Text 12"/>
          <p:cNvSpPr txBox="1"/>
          <p:nvPr/>
        </p:nvSpPr>
        <p:spPr>
          <a:xfrm>
            <a:off x="6466180" y="3054096"/>
            <a:ext cx="2007794" cy="438912"/>
          </a:xfrm>
          <a:prstGeom prst="rect">
            <a:avLst/>
          </a:prstGeom>
          <a:noFill/>
          <a:ln/>
        </p:spPr>
        <p:txBody>
          <a:bodyPr wrap="square" lIns="0" tIns="0" rIns="0" bIns="0" rtlCol="0" anchor="t"/>
          <a:lstStyle/>
          <a:p>
            <a:pPr marL="0" indent="0">
              <a:lnSpc>
                <a:spcPts val="1500"/>
              </a:lnSpc>
              <a:buNone/>
            </a:pPr>
            <a:r>
              <a:rPr lang="en-US" sz="1300" kern="0" spc="220" dirty="0">
                <a:solidFill>
                  <a:srgbClr val="828C9A"/>
                </a:solidFill>
                <a:latin typeface="Barlow Condensed" pitchFamily="34" charset="0"/>
                <a:ea typeface="Barlow Condensed" pitchFamily="34" charset="-122"/>
                <a:cs typeface="Barlow Condensed" pitchFamily="34" charset="-120"/>
              </a:rPr>
              <a:t>SALARY</a:t>
            </a:r>
            <a:endParaRPr lang="en-US" sz="1300" dirty="0"/>
          </a:p>
        </p:txBody>
      </p:sp>
      <p:sp>
        <p:nvSpPr>
          <p:cNvPr id="15" name="Text 13"/>
          <p:cNvSpPr txBox="1"/>
          <p:nvPr/>
        </p:nvSpPr>
        <p:spPr>
          <a:xfrm>
            <a:off x="6466180" y="3547872"/>
            <a:ext cx="2007794" cy="640080"/>
          </a:xfrm>
          <a:prstGeom prst="rect">
            <a:avLst/>
          </a:prstGeom>
          <a:noFill/>
          <a:ln/>
        </p:spPr>
        <p:txBody>
          <a:bodyPr wrap="square" lIns="0" tIns="0" rIns="0" bIns="0" rtlCol="0" anchor="t"/>
          <a:lstStyle/>
          <a:p>
            <a:pPr marL="0" indent="0">
              <a:lnSpc>
                <a:spcPts val="1600"/>
              </a:lnSpc>
              <a:buNone/>
            </a:pPr>
            <a:r>
              <a:rPr lang="en-US" sz="1200" dirty="0">
                <a:solidFill>
                  <a:srgbClr val="AEB6C2"/>
                </a:solidFill>
                <a:latin typeface="Barlow" pitchFamily="34" charset="0"/>
                <a:ea typeface="Barlow" pitchFamily="34" charset="-122"/>
                <a:cs typeface="Barlow" pitchFamily="34" charset="-120"/>
              </a:rPr>
              <a:t>mine, plus a named athlete partner on 5% equity rather than cash</a:t>
            </a:r>
            <a:endParaRPr lang="en-US" sz="1200" dirty="0"/>
          </a:p>
        </p:txBody>
      </p:sp>
      <p:sp>
        <p:nvSpPr>
          <p:cNvPr id="16" name="Shape 14"/>
          <p:cNvSpPr/>
          <p:nvPr/>
        </p:nvSpPr>
        <p:spPr>
          <a:xfrm>
            <a:off x="8958605" y="1956816"/>
            <a:ext cx="2519858" cy="2286000"/>
          </a:xfrm>
          <a:prstGeom prst="roundRect">
            <a:avLst>
              <a:gd name="adj" fmla="val 1600"/>
            </a:avLst>
          </a:prstGeom>
          <a:solidFill>
            <a:srgbClr val="171A20"/>
          </a:solidFill>
          <a:ln w="9525">
            <a:solidFill>
              <a:srgbClr val="262C35"/>
            </a:solidFill>
            <a:prstDash val="solid"/>
          </a:ln>
        </p:spPr>
      </p:sp>
      <p:sp>
        <p:nvSpPr>
          <p:cNvPr id="17" name="Text 15"/>
          <p:cNvSpPr txBox="1"/>
          <p:nvPr/>
        </p:nvSpPr>
        <p:spPr>
          <a:xfrm>
            <a:off x="9214637" y="2176272"/>
            <a:ext cx="2007794" cy="868680"/>
          </a:xfrm>
          <a:prstGeom prst="rect">
            <a:avLst/>
          </a:prstGeom>
          <a:noFill/>
          <a:ln/>
        </p:spPr>
        <p:txBody>
          <a:bodyPr wrap="square" lIns="0" tIns="0" rIns="0" bIns="0" rtlCol="0" anchor="t"/>
          <a:lstStyle/>
          <a:p>
            <a:pPr marL="0" indent="0">
              <a:lnSpc>
                <a:spcPts val="5400"/>
              </a:lnSpc>
              <a:buNone/>
            </a:pPr>
            <a:r>
              <a:rPr lang="en-US" sz="5400" dirty="0">
                <a:solidFill>
                  <a:srgbClr val="FFB020"/>
                </a:solidFill>
                <a:latin typeface="Barlow Condensed" pitchFamily="34" charset="0"/>
                <a:ea typeface="Barlow Condensed" pitchFamily="34" charset="-122"/>
                <a:cs typeface="Barlow Condensed" pitchFamily="34" charset="-120"/>
              </a:rPr>
              <a:t>€113k</a:t>
            </a:r>
            <a:endParaRPr lang="en-US" sz="5400" dirty="0"/>
          </a:p>
        </p:txBody>
      </p:sp>
      <p:sp>
        <p:nvSpPr>
          <p:cNvPr id="18" name="Text 16"/>
          <p:cNvSpPr txBox="1"/>
          <p:nvPr/>
        </p:nvSpPr>
        <p:spPr>
          <a:xfrm>
            <a:off x="9214637" y="3054096"/>
            <a:ext cx="2007794" cy="438912"/>
          </a:xfrm>
          <a:prstGeom prst="rect">
            <a:avLst/>
          </a:prstGeom>
          <a:noFill/>
          <a:ln/>
        </p:spPr>
        <p:txBody>
          <a:bodyPr wrap="square" lIns="0" tIns="0" rIns="0" bIns="0" rtlCol="0" anchor="t"/>
          <a:lstStyle/>
          <a:p>
            <a:pPr marL="0" indent="0">
              <a:lnSpc>
                <a:spcPts val="1500"/>
              </a:lnSpc>
              <a:buNone/>
            </a:pPr>
            <a:r>
              <a:rPr lang="en-US" sz="1300" kern="0" spc="220" dirty="0">
                <a:solidFill>
                  <a:srgbClr val="828C9A"/>
                </a:solidFill>
                <a:latin typeface="Barlow Condensed" pitchFamily="34" charset="0"/>
                <a:ea typeface="Barlow Condensed" pitchFamily="34" charset="-122"/>
                <a:cs typeface="Barlow Condensed" pitchFamily="34" charset="-120"/>
              </a:rPr>
              <a:t>OF CASH</a:t>
            </a:r>
            <a:endParaRPr lang="en-US" sz="1300" dirty="0"/>
          </a:p>
        </p:txBody>
      </p:sp>
      <p:sp>
        <p:nvSpPr>
          <p:cNvPr id="19" name="Text 17"/>
          <p:cNvSpPr txBox="1"/>
          <p:nvPr/>
        </p:nvSpPr>
        <p:spPr>
          <a:xfrm>
            <a:off x="9214637" y="3547872"/>
            <a:ext cx="2007794" cy="640080"/>
          </a:xfrm>
          <a:prstGeom prst="rect">
            <a:avLst/>
          </a:prstGeom>
          <a:noFill/>
          <a:ln/>
        </p:spPr>
        <p:txBody>
          <a:bodyPr wrap="square" lIns="0" tIns="0" rIns="0" bIns="0" rtlCol="0" anchor="t"/>
          <a:lstStyle/>
          <a:p>
            <a:pPr marL="0" indent="0">
              <a:lnSpc>
                <a:spcPts val="1600"/>
              </a:lnSpc>
              <a:buNone/>
            </a:pPr>
            <a:r>
              <a:rPr lang="en-US" sz="1200" dirty="0">
                <a:solidFill>
                  <a:srgbClr val="AEB6C2"/>
                </a:solidFill>
                <a:latin typeface="Barlow" pitchFamily="34" charset="0"/>
                <a:ea typeface="Barlow" pitchFamily="34" charset="-122"/>
                <a:cs typeface="Barlow" pitchFamily="34" charset="-120"/>
              </a:rPr>
              <a:t>two thirds of it available as a non-dilutive ENISA loan</a:t>
            </a:r>
            <a:endParaRPr lang="en-US" sz="1200" dirty="0"/>
          </a:p>
        </p:txBody>
      </p:sp>
      <p:sp>
        <p:nvSpPr>
          <p:cNvPr id="20" name="Shape 18"/>
          <p:cNvSpPr/>
          <p:nvPr/>
        </p:nvSpPr>
        <p:spPr>
          <a:xfrm>
            <a:off x="713232" y="4425696"/>
            <a:ext cx="10765231" cy="1097280"/>
          </a:xfrm>
          <a:prstGeom prst="roundRect">
            <a:avLst>
              <a:gd name="adj" fmla="val 3333"/>
            </a:avLst>
          </a:prstGeom>
          <a:solidFill>
            <a:srgbClr val="171A20"/>
          </a:solidFill>
          <a:ln w="9525">
            <a:solidFill>
              <a:srgbClr val="262C35"/>
            </a:solidFill>
            <a:prstDash val="solid"/>
          </a:ln>
        </p:spPr>
      </p:sp>
      <p:sp>
        <p:nvSpPr>
          <p:cNvPr id="21" name="Text 19"/>
          <p:cNvSpPr txBox="1"/>
          <p:nvPr/>
        </p:nvSpPr>
        <p:spPr>
          <a:xfrm>
            <a:off x="987552" y="4608576"/>
            <a:ext cx="4572000" cy="237744"/>
          </a:xfrm>
          <a:prstGeom prst="rect">
            <a:avLst/>
          </a:prstGeom>
          <a:noFill/>
          <a:ln/>
        </p:spPr>
        <p:txBody>
          <a:bodyPr wrap="square" lIns="0" tIns="0" rIns="0" bIns="0" rtlCol="0" anchor="t"/>
          <a:lstStyle/>
          <a:p>
            <a:pPr marL="0" indent="0">
              <a:buNone/>
            </a:pPr>
            <a:r>
              <a:rPr lang="en-US" sz="1300" kern="0" spc="220" dirty="0">
                <a:solidFill>
                  <a:srgbClr val="FFB020"/>
                </a:solidFill>
                <a:latin typeface="Barlow Condensed" pitchFamily="34" charset="0"/>
                <a:ea typeface="Barlow Condensed" pitchFamily="34" charset="-122"/>
                <a:cs typeface="Barlow Condensed" pitchFamily="34" charset="-120"/>
              </a:rPr>
              <a:t>THE SEQUENCE IS THE OPPOSITE OF THE OBVIOUS ONE</a:t>
            </a:r>
            <a:endParaRPr lang="en-US" sz="1300" dirty="0"/>
          </a:p>
        </p:txBody>
      </p:sp>
      <p:sp>
        <p:nvSpPr>
          <p:cNvPr id="22" name="Text 20"/>
          <p:cNvSpPr txBox="1"/>
          <p:nvPr/>
        </p:nvSpPr>
        <p:spPr>
          <a:xfrm>
            <a:off x="987552" y="4882896"/>
            <a:ext cx="10216591" cy="621792"/>
          </a:xfrm>
          <a:prstGeom prst="rect">
            <a:avLst/>
          </a:prstGeom>
          <a:noFill/>
          <a:ln/>
        </p:spPr>
        <p:txBody>
          <a:bodyPr wrap="square" lIns="0" tIns="0" rIns="0" bIns="0" rtlCol="0" anchor="t"/>
          <a:lstStyle/>
          <a:p>
            <a:pPr marL="0" indent="0">
              <a:lnSpc>
                <a:spcPts val="1700"/>
              </a:lnSpc>
              <a:buNone/>
            </a:pPr>
            <a:r>
              <a:rPr lang="en-US" sz="1300" dirty="0">
                <a:solidFill>
                  <a:srgbClr val="AEB6C2"/>
                </a:solidFill>
                <a:latin typeface="Barlow" pitchFamily="34" charset="0"/>
                <a:ea typeface="Barlow" pitchFamily="34" charset="-122"/>
                <a:cs typeface="Barlow" pitchFamily="34" charset="-120"/>
              </a:rPr>
              <a:t>Build the payment rail and sponsorship billing first, and the fan tier last. Commission is invoiced against a signed deal: it needs no content moderation, no minors safeguarding and no media egress, so it is the cheapest of the three to build and the only one that earns inside the first year.</a:t>
            </a:r>
            <a:endParaRPr lang="en-US" sz="130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OPERATIONS AND PEOPLE</a:t>
            </a:r>
            <a:endParaRPr lang="en-US" sz="1250" dirty="0"/>
          </a:p>
        </p:txBody>
      </p:sp>
      <p:sp>
        <p:nvSpPr>
          <p:cNvPr id="3" name="Text 1"/>
          <p:cNvSpPr txBox="1"/>
          <p:nvPr/>
        </p:nvSpPr>
        <p:spPr>
          <a:xfrm>
            <a:off x="713232" y="786384"/>
            <a:ext cx="10765231" cy="868680"/>
          </a:xfrm>
          <a:prstGeom prst="rect">
            <a:avLst/>
          </a:prstGeom>
          <a:noFill/>
          <a:ln/>
        </p:spPr>
        <p:txBody>
          <a:bodyPr wrap="square" lIns="0" tIns="0" rIns="0" bIns="0" rtlCol="0" anchor="t"/>
          <a:lstStyle/>
          <a:p>
            <a:pPr marL="0" indent="0">
              <a:lnSpc>
                <a:spcPts val="3800"/>
              </a:lnSpc>
              <a:buNone/>
            </a:pPr>
            <a:r>
              <a:rPr lang="en-US" sz="3600" dirty="0">
                <a:solidFill>
                  <a:srgbClr val="F2F4F7"/>
                </a:solidFill>
                <a:latin typeface="Barlow Condensed" pitchFamily="34" charset="0"/>
                <a:ea typeface="Barlow Condensed" pitchFamily="34" charset="-122"/>
                <a:cs typeface="Barlow Condensed" pitchFamily="34" charset="-120"/>
              </a:rPr>
              <a:t>One human step in the chain, and a team sized to what I can actually run</a:t>
            </a:r>
            <a:endParaRPr lang="en-US" sz="3600" dirty="0"/>
          </a:p>
        </p:txBody>
      </p:sp>
      <p:sp>
        <p:nvSpPr>
          <p:cNvPr id="4" name="Shape 2"/>
          <p:cNvSpPr/>
          <p:nvPr/>
        </p:nvSpPr>
        <p:spPr>
          <a:xfrm>
            <a:off x="713232" y="1938528"/>
            <a:ext cx="5120640" cy="2103120"/>
          </a:xfrm>
          <a:prstGeom prst="roundRect">
            <a:avLst>
              <a:gd name="adj" fmla="val 1739"/>
            </a:avLst>
          </a:prstGeom>
          <a:solidFill>
            <a:srgbClr val="171A20"/>
          </a:solidFill>
          <a:ln w="9525">
            <a:solidFill>
              <a:srgbClr val="262C35"/>
            </a:solidFill>
            <a:prstDash val="solid"/>
          </a:ln>
        </p:spPr>
      </p:sp>
      <p:sp>
        <p:nvSpPr>
          <p:cNvPr id="5" name="Text 3"/>
          <p:cNvSpPr txBox="1"/>
          <p:nvPr/>
        </p:nvSpPr>
        <p:spPr>
          <a:xfrm>
            <a:off x="987552" y="2139696"/>
            <a:ext cx="4572000" cy="237744"/>
          </a:xfrm>
          <a:prstGeom prst="rect">
            <a:avLst/>
          </a:prstGeom>
          <a:noFill/>
          <a:ln/>
        </p:spPr>
        <p:txBody>
          <a:bodyPr wrap="square" lIns="0" tIns="0" rIns="0" bIns="0" rtlCol="0" anchor="t"/>
          <a:lstStyle/>
          <a:p>
            <a:pPr marL="0" indent="0">
              <a:buNone/>
            </a:pPr>
            <a:r>
              <a:rPr lang="en-US" sz="1200" kern="0" spc="240" dirty="0">
                <a:solidFill>
                  <a:srgbClr val="828C9A"/>
                </a:solidFill>
                <a:latin typeface="Barlow Condensed" pitchFamily="34" charset="0"/>
                <a:ea typeface="Barlow Condensed" pitchFamily="34" charset="-122"/>
                <a:cs typeface="Barlow Condensed" pitchFamily="34" charset="-120"/>
              </a:rPr>
              <a:t>WHAT IS SUBCONTRACTED</a:t>
            </a:r>
            <a:endParaRPr lang="en-US" sz="1200" dirty="0"/>
          </a:p>
        </p:txBody>
      </p:sp>
      <p:sp>
        <p:nvSpPr>
          <p:cNvPr id="6" name="Text 4"/>
          <p:cNvSpPr txBox="1"/>
          <p:nvPr/>
        </p:nvSpPr>
        <p:spPr>
          <a:xfrm>
            <a:off x="987552" y="2450592"/>
            <a:ext cx="1828800" cy="274320"/>
          </a:xfrm>
          <a:prstGeom prst="rect">
            <a:avLst/>
          </a:prstGeom>
          <a:noFill/>
          <a:ln/>
        </p:spPr>
        <p:txBody>
          <a:bodyPr wrap="square" lIns="0" tIns="0" rIns="0" bIns="0" rtlCol="0" anchor="t"/>
          <a:lstStyle/>
          <a:p>
            <a:pPr marL="0" indent="0">
              <a:buNone/>
            </a:pPr>
            <a:r>
              <a:rPr lang="en-US" sz="1500" dirty="0">
                <a:solidFill>
                  <a:srgbClr val="F2F4F7"/>
                </a:solidFill>
                <a:latin typeface="Barlow Condensed" pitchFamily="34" charset="0"/>
                <a:ea typeface="Barlow Condensed" pitchFamily="34" charset="-122"/>
                <a:cs typeface="Barlow Condensed" pitchFamily="34" charset="-120"/>
              </a:rPr>
              <a:t>Stripe Connect</a:t>
            </a:r>
            <a:endParaRPr lang="en-US" sz="1500" dirty="0"/>
          </a:p>
        </p:txBody>
      </p:sp>
      <p:sp>
        <p:nvSpPr>
          <p:cNvPr id="7" name="Text 5"/>
          <p:cNvSpPr txBox="1"/>
          <p:nvPr/>
        </p:nvSpPr>
        <p:spPr>
          <a:xfrm>
            <a:off x="2907792" y="2487168"/>
            <a:ext cx="2834640" cy="365760"/>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Payments, KYC and payouts in 30+ countries</a:t>
            </a:r>
            <a:endParaRPr lang="en-US" sz="1150" dirty="0"/>
          </a:p>
        </p:txBody>
      </p:sp>
      <p:sp>
        <p:nvSpPr>
          <p:cNvPr id="8" name="Text 6"/>
          <p:cNvSpPr txBox="1"/>
          <p:nvPr/>
        </p:nvSpPr>
        <p:spPr>
          <a:xfrm>
            <a:off x="987552" y="2926080"/>
            <a:ext cx="1828800" cy="274320"/>
          </a:xfrm>
          <a:prstGeom prst="rect">
            <a:avLst/>
          </a:prstGeom>
          <a:noFill/>
          <a:ln/>
        </p:spPr>
        <p:txBody>
          <a:bodyPr wrap="square" lIns="0" tIns="0" rIns="0" bIns="0" rtlCol="0" anchor="t"/>
          <a:lstStyle/>
          <a:p>
            <a:pPr marL="0" indent="0">
              <a:buNone/>
            </a:pPr>
            <a:r>
              <a:rPr lang="en-US" sz="1500" dirty="0">
                <a:solidFill>
                  <a:srgbClr val="F2F4F7"/>
                </a:solidFill>
                <a:latin typeface="Barlow Condensed" pitchFamily="34" charset="0"/>
                <a:ea typeface="Barlow Condensed" pitchFamily="34" charset="-122"/>
                <a:cs typeface="Barlow Condensed" pitchFamily="34" charset="-120"/>
              </a:rPr>
              <a:t>AWS</a:t>
            </a:r>
            <a:endParaRPr lang="en-US" sz="1500" dirty="0"/>
          </a:p>
        </p:txBody>
      </p:sp>
      <p:sp>
        <p:nvSpPr>
          <p:cNvPr id="9" name="Text 7"/>
          <p:cNvSpPr txBox="1"/>
          <p:nvPr/>
        </p:nvSpPr>
        <p:spPr>
          <a:xfrm>
            <a:off x="2907792" y="2962656"/>
            <a:ext cx="2834640" cy="365760"/>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Compute, database and media processing</a:t>
            </a:r>
            <a:endParaRPr lang="en-US" sz="1150" dirty="0"/>
          </a:p>
        </p:txBody>
      </p:sp>
      <p:sp>
        <p:nvSpPr>
          <p:cNvPr id="10" name="Text 8"/>
          <p:cNvSpPr txBox="1"/>
          <p:nvPr/>
        </p:nvSpPr>
        <p:spPr>
          <a:xfrm>
            <a:off x="987552" y="3401568"/>
            <a:ext cx="1828800" cy="274320"/>
          </a:xfrm>
          <a:prstGeom prst="rect">
            <a:avLst/>
          </a:prstGeom>
          <a:noFill/>
          <a:ln/>
        </p:spPr>
        <p:txBody>
          <a:bodyPr wrap="square" lIns="0" tIns="0" rIns="0" bIns="0" rtlCol="0" anchor="t"/>
          <a:lstStyle/>
          <a:p>
            <a:pPr marL="0" indent="0">
              <a:buNone/>
            </a:pPr>
            <a:r>
              <a:rPr lang="en-US" sz="1500" dirty="0">
                <a:solidFill>
                  <a:srgbClr val="F2F4F7"/>
                </a:solidFill>
                <a:latin typeface="Barlow Condensed" pitchFamily="34" charset="0"/>
                <a:ea typeface="Barlow Condensed" pitchFamily="34" charset="-122"/>
                <a:cs typeface="Barlow Condensed" pitchFamily="34" charset="-120"/>
              </a:rPr>
              <a:t>Zero-egress CDN</a:t>
            </a:r>
            <a:endParaRPr lang="en-US" sz="1500" dirty="0"/>
          </a:p>
        </p:txBody>
      </p:sp>
      <p:sp>
        <p:nvSpPr>
          <p:cNvPr id="11" name="Text 9"/>
          <p:cNvSpPr txBox="1"/>
          <p:nvPr/>
        </p:nvSpPr>
        <p:spPr>
          <a:xfrm>
            <a:off x="2907792" y="3438144"/>
            <a:ext cx="2834640" cy="365760"/>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Media delivery, the cost that decides viability</a:t>
            </a:r>
            <a:endParaRPr lang="en-US" sz="1150" dirty="0"/>
          </a:p>
        </p:txBody>
      </p:sp>
      <p:sp>
        <p:nvSpPr>
          <p:cNvPr id="12" name="Shape 10"/>
          <p:cNvSpPr/>
          <p:nvPr/>
        </p:nvSpPr>
        <p:spPr>
          <a:xfrm>
            <a:off x="6108192" y="1938528"/>
            <a:ext cx="5370271" cy="2103120"/>
          </a:xfrm>
          <a:prstGeom prst="roundRect">
            <a:avLst>
              <a:gd name="adj" fmla="val 1739"/>
            </a:avLst>
          </a:prstGeom>
          <a:solidFill>
            <a:srgbClr val="171A20"/>
          </a:solidFill>
          <a:ln w="9525">
            <a:solidFill>
              <a:srgbClr val="262C35"/>
            </a:solidFill>
            <a:prstDash val="solid"/>
          </a:ln>
        </p:spPr>
      </p:sp>
      <p:sp>
        <p:nvSpPr>
          <p:cNvPr id="13" name="Text 11"/>
          <p:cNvSpPr txBox="1"/>
          <p:nvPr/>
        </p:nvSpPr>
        <p:spPr>
          <a:xfrm>
            <a:off x="6382512" y="2139696"/>
            <a:ext cx="3657600" cy="237744"/>
          </a:xfrm>
          <a:prstGeom prst="rect">
            <a:avLst/>
          </a:prstGeom>
          <a:noFill/>
          <a:ln/>
        </p:spPr>
        <p:txBody>
          <a:bodyPr wrap="square" lIns="0" tIns="0" rIns="0" bIns="0" rtlCol="0" anchor="t"/>
          <a:lstStyle/>
          <a:p>
            <a:pPr marL="0" indent="0">
              <a:buNone/>
            </a:pPr>
            <a:r>
              <a:rPr lang="en-US" sz="1200" kern="0" spc="240" dirty="0">
                <a:solidFill>
                  <a:srgbClr val="828C9A"/>
                </a:solidFill>
                <a:latin typeface="Barlow Condensed" pitchFamily="34" charset="0"/>
                <a:ea typeface="Barlow Condensed" pitchFamily="34" charset="-122"/>
                <a:cs typeface="Barlow Condensed" pitchFamily="34" charset="-120"/>
              </a:rPr>
              <a:t>HEADCOUNT</a:t>
            </a:r>
            <a:endParaRPr lang="en-US" sz="1200" dirty="0"/>
          </a:p>
        </p:txBody>
      </p:sp>
      <p:sp>
        <p:nvSpPr>
          <p:cNvPr id="14" name="Shape 12"/>
          <p:cNvSpPr/>
          <p:nvPr/>
        </p:nvSpPr>
        <p:spPr>
          <a:xfrm>
            <a:off x="6382512" y="3509010"/>
            <a:ext cx="566928" cy="57150"/>
          </a:xfrm>
          <a:prstGeom prst="rect">
            <a:avLst/>
          </a:prstGeom>
          <a:solidFill>
            <a:srgbClr val="262C35"/>
          </a:solidFill>
          <a:ln w="12700">
            <a:solidFill>
              <a:srgbClr val="333333"/>
            </a:solidFill>
            <a:prstDash val="solid"/>
          </a:ln>
        </p:spPr>
      </p:sp>
      <p:sp>
        <p:nvSpPr>
          <p:cNvPr id="15" name="Text 13"/>
          <p:cNvSpPr txBox="1"/>
          <p:nvPr/>
        </p:nvSpPr>
        <p:spPr>
          <a:xfrm>
            <a:off x="6272784" y="3584448"/>
            <a:ext cx="786384" cy="274320"/>
          </a:xfrm>
          <a:prstGeom prst="rect">
            <a:avLst/>
          </a:prstGeom>
          <a:noFill/>
          <a:ln/>
        </p:spPr>
        <p:txBody>
          <a:bodyPr wrap="square" lIns="0" tIns="0" rIns="0" bIns="0" rtlCol="0" anchor="t"/>
          <a:lstStyle/>
          <a:p>
            <a:pPr marL="0" indent="0" algn="ctr">
              <a:buNone/>
            </a:pPr>
            <a:r>
              <a:rPr lang="en-US" sz="1700" dirty="0">
                <a:solidFill>
                  <a:srgbClr val="F2F4F7"/>
                </a:solidFill>
                <a:latin typeface="Barlow Condensed" pitchFamily="34" charset="0"/>
                <a:ea typeface="Barlow Condensed" pitchFamily="34" charset="-122"/>
                <a:cs typeface="Barlow Condensed" pitchFamily="34" charset="-120"/>
              </a:rPr>
              <a:t>1</a:t>
            </a:r>
            <a:endParaRPr lang="en-US" sz="1700" dirty="0"/>
          </a:p>
        </p:txBody>
      </p:sp>
      <p:sp>
        <p:nvSpPr>
          <p:cNvPr id="16" name="Text 14"/>
          <p:cNvSpPr txBox="1"/>
          <p:nvPr/>
        </p:nvSpPr>
        <p:spPr>
          <a:xfrm>
            <a:off x="6272784" y="3822192"/>
            <a:ext cx="786384" cy="201168"/>
          </a:xfrm>
          <a:prstGeom prst="rect">
            <a:avLst/>
          </a:prstGeom>
          <a:noFill/>
          <a:ln/>
        </p:spPr>
        <p:txBody>
          <a:bodyPr wrap="square" lIns="0" tIns="0" rIns="0" bIns="0" rtlCol="0" anchor="t"/>
          <a:lstStyle/>
          <a:p>
            <a:pPr marL="0" indent="0" algn="ctr">
              <a:buNone/>
            </a:pPr>
            <a:r>
              <a:rPr lang="en-US" sz="1100" kern="0" spc="160" dirty="0">
                <a:solidFill>
                  <a:srgbClr val="828C9A"/>
                </a:solidFill>
                <a:latin typeface="Barlow Condensed" pitchFamily="34" charset="0"/>
                <a:ea typeface="Barlow Condensed" pitchFamily="34" charset="-122"/>
                <a:cs typeface="Barlow Condensed" pitchFamily="34" charset="-120"/>
              </a:rPr>
              <a:t>Y1</a:t>
            </a:r>
            <a:endParaRPr lang="en-US" sz="1100" dirty="0"/>
          </a:p>
        </p:txBody>
      </p:sp>
      <p:sp>
        <p:nvSpPr>
          <p:cNvPr id="17" name="Shape 15"/>
          <p:cNvSpPr/>
          <p:nvPr/>
        </p:nvSpPr>
        <p:spPr>
          <a:xfrm>
            <a:off x="7616952" y="3451860"/>
            <a:ext cx="566928" cy="114300"/>
          </a:xfrm>
          <a:prstGeom prst="rect">
            <a:avLst/>
          </a:prstGeom>
          <a:solidFill>
            <a:srgbClr val="262C35"/>
          </a:solidFill>
          <a:ln w="12700">
            <a:solidFill>
              <a:srgbClr val="333333"/>
            </a:solidFill>
            <a:prstDash val="solid"/>
          </a:ln>
        </p:spPr>
      </p:sp>
      <p:sp>
        <p:nvSpPr>
          <p:cNvPr id="18" name="Text 16"/>
          <p:cNvSpPr txBox="1"/>
          <p:nvPr/>
        </p:nvSpPr>
        <p:spPr>
          <a:xfrm>
            <a:off x="7507224" y="3584448"/>
            <a:ext cx="786384" cy="274320"/>
          </a:xfrm>
          <a:prstGeom prst="rect">
            <a:avLst/>
          </a:prstGeom>
          <a:noFill/>
          <a:ln/>
        </p:spPr>
        <p:txBody>
          <a:bodyPr wrap="square" lIns="0" tIns="0" rIns="0" bIns="0" rtlCol="0" anchor="t"/>
          <a:lstStyle/>
          <a:p>
            <a:pPr marL="0" indent="0" algn="ctr">
              <a:buNone/>
            </a:pPr>
            <a:r>
              <a:rPr lang="en-US" sz="1700" dirty="0">
                <a:solidFill>
                  <a:srgbClr val="F2F4F7"/>
                </a:solidFill>
                <a:latin typeface="Barlow Condensed" pitchFamily="34" charset="0"/>
                <a:ea typeface="Barlow Condensed" pitchFamily="34" charset="-122"/>
                <a:cs typeface="Barlow Condensed" pitchFamily="34" charset="-120"/>
              </a:rPr>
              <a:t>2</a:t>
            </a:r>
            <a:endParaRPr lang="en-US" sz="1700" dirty="0"/>
          </a:p>
        </p:txBody>
      </p:sp>
      <p:sp>
        <p:nvSpPr>
          <p:cNvPr id="19" name="Text 17"/>
          <p:cNvSpPr txBox="1"/>
          <p:nvPr/>
        </p:nvSpPr>
        <p:spPr>
          <a:xfrm>
            <a:off x="7507224" y="3822192"/>
            <a:ext cx="786384" cy="201168"/>
          </a:xfrm>
          <a:prstGeom prst="rect">
            <a:avLst/>
          </a:prstGeom>
          <a:noFill/>
          <a:ln/>
        </p:spPr>
        <p:txBody>
          <a:bodyPr wrap="square" lIns="0" tIns="0" rIns="0" bIns="0" rtlCol="0" anchor="t"/>
          <a:lstStyle/>
          <a:p>
            <a:pPr marL="0" indent="0" algn="ctr">
              <a:buNone/>
            </a:pPr>
            <a:r>
              <a:rPr lang="en-US" sz="1100" kern="0" spc="160" dirty="0">
                <a:solidFill>
                  <a:srgbClr val="828C9A"/>
                </a:solidFill>
                <a:latin typeface="Barlow Condensed" pitchFamily="34" charset="0"/>
                <a:ea typeface="Barlow Condensed" pitchFamily="34" charset="-122"/>
                <a:cs typeface="Barlow Condensed" pitchFamily="34" charset="-120"/>
              </a:rPr>
              <a:t>Y4</a:t>
            </a:r>
            <a:endParaRPr lang="en-US" sz="1100" dirty="0"/>
          </a:p>
        </p:txBody>
      </p:sp>
      <p:sp>
        <p:nvSpPr>
          <p:cNvPr id="20" name="Shape 18"/>
          <p:cNvSpPr/>
          <p:nvPr/>
        </p:nvSpPr>
        <p:spPr>
          <a:xfrm>
            <a:off x="8851392" y="2994660"/>
            <a:ext cx="566928" cy="571500"/>
          </a:xfrm>
          <a:prstGeom prst="rect">
            <a:avLst/>
          </a:prstGeom>
          <a:solidFill>
            <a:srgbClr val="262C35"/>
          </a:solidFill>
          <a:ln w="12700">
            <a:solidFill>
              <a:srgbClr val="333333"/>
            </a:solidFill>
            <a:prstDash val="solid"/>
          </a:ln>
        </p:spPr>
      </p:sp>
      <p:sp>
        <p:nvSpPr>
          <p:cNvPr id="21" name="Text 19"/>
          <p:cNvSpPr txBox="1"/>
          <p:nvPr/>
        </p:nvSpPr>
        <p:spPr>
          <a:xfrm>
            <a:off x="8741664" y="3584448"/>
            <a:ext cx="786384" cy="274320"/>
          </a:xfrm>
          <a:prstGeom prst="rect">
            <a:avLst/>
          </a:prstGeom>
          <a:noFill/>
          <a:ln/>
        </p:spPr>
        <p:txBody>
          <a:bodyPr wrap="square" lIns="0" tIns="0" rIns="0" bIns="0" rtlCol="0" anchor="t"/>
          <a:lstStyle/>
          <a:p>
            <a:pPr marL="0" indent="0" algn="ctr">
              <a:buNone/>
            </a:pPr>
            <a:r>
              <a:rPr lang="en-US" sz="1700" dirty="0">
                <a:solidFill>
                  <a:srgbClr val="F2F4F7"/>
                </a:solidFill>
                <a:latin typeface="Barlow Condensed" pitchFamily="34" charset="0"/>
                <a:ea typeface="Barlow Condensed" pitchFamily="34" charset="-122"/>
                <a:cs typeface="Barlow Condensed" pitchFamily="34" charset="-120"/>
              </a:rPr>
              <a:t>10</a:t>
            </a:r>
            <a:endParaRPr lang="en-US" sz="1700" dirty="0"/>
          </a:p>
        </p:txBody>
      </p:sp>
      <p:sp>
        <p:nvSpPr>
          <p:cNvPr id="22" name="Text 20"/>
          <p:cNvSpPr txBox="1"/>
          <p:nvPr/>
        </p:nvSpPr>
        <p:spPr>
          <a:xfrm>
            <a:off x="8741664" y="3822192"/>
            <a:ext cx="786384" cy="201168"/>
          </a:xfrm>
          <a:prstGeom prst="rect">
            <a:avLst/>
          </a:prstGeom>
          <a:noFill/>
          <a:ln/>
        </p:spPr>
        <p:txBody>
          <a:bodyPr wrap="square" lIns="0" tIns="0" rIns="0" bIns="0" rtlCol="0" anchor="t"/>
          <a:lstStyle/>
          <a:p>
            <a:pPr marL="0" indent="0" algn="ctr">
              <a:buNone/>
            </a:pPr>
            <a:r>
              <a:rPr lang="en-US" sz="1100" kern="0" spc="160" dirty="0">
                <a:solidFill>
                  <a:srgbClr val="828C9A"/>
                </a:solidFill>
                <a:latin typeface="Barlow Condensed" pitchFamily="34" charset="0"/>
                <a:ea typeface="Barlow Condensed" pitchFamily="34" charset="-122"/>
                <a:cs typeface="Barlow Condensed" pitchFamily="34" charset="-120"/>
              </a:rPr>
              <a:t>Y7</a:t>
            </a:r>
            <a:endParaRPr lang="en-US" sz="1100" dirty="0"/>
          </a:p>
        </p:txBody>
      </p:sp>
      <p:sp>
        <p:nvSpPr>
          <p:cNvPr id="23" name="Shape 21"/>
          <p:cNvSpPr/>
          <p:nvPr/>
        </p:nvSpPr>
        <p:spPr>
          <a:xfrm>
            <a:off x="10085832" y="2651760"/>
            <a:ext cx="566928" cy="914400"/>
          </a:xfrm>
          <a:prstGeom prst="rect">
            <a:avLst/>
          </a:prstGeom>
          <a:solidFill>
            <a:srgbClr val="FFB020"/>
          </a:solidFill>
          <a:ln w="12700">
            <a:solidFill>
              <a:srgbClr val="333333"/>
            </a:solidFill>
            <a:prstDash val="solid"/>
          </a:ln>
        </p:spPr>
      </p:sp>
      <p:sp>
        <p:nvSpPr>
          <p:cNvPr id="24" name="Text 22"/>
          <p:cNvSpPr txBox="1"/>
          <p:nvPr/>
        </p:nvSpPr>
        <p:spPr>
          <a:xfrm>
            <a:off x="9976104" y="3584448"/>
            <a:ext cx="786384" cy="274320"/>
          </a:xfrm>
          <a:prstGeom prst="rect">
            <a:avLst/>
          </a:prstGeom>
          <a:noFill/>
          <a:ln/>
        </p:spPr>
        <p:txBody>
          <a:bodyPr wrap="square" lIns="0" tIns="0" rIns="0" bIns="0" rtlCol="0" anchor="t"/>
          <a:lstStyle/>
          <a:p>
            <a:pPr marL="0" indent="0" algn="ctr">
              <a:buNone/>
            </a:pPr>
            <a:r>
              <a:rPr lang="en-US" sz="1700" dirty="0">
                <a:solidFill>
                  <a:srgbClr val="F2F4F7"/>
                </a:solidFill>
                <a:latin typeface="Barlow Condensed" pitchFamily="34" charset="0"/>
                <a:ea typeface="Barlow Condensed" pitchFamily="34" charset="-122"/>
                <a:cs typeface="Barlow Condensed" pitchFamily="34" charset="-120"/>
              </a:rPr>
              <a:t>16</a:t>
            </a:r>
            <a:endParaRPr lang="en-US" sz="1700" dirty="0"/>
          </a:p>
        </p:txBody>
      </p:sp>
      <p:sp>
        <p:nvSpPr>
          <p:cNvPr id="25" name="Text 23"/>
          <p:cNvSpPr txBox="1"/>
          <p:nvPr/>
        </p:nvSpPr>
        <p:spPr>
          <a:xfrm>
            <a:off x="9976104" y="3822192"/>
            <a:ext cx="786384" cy="201168"/>
          </a:xfrm>
          <a:prstGeom prst="rect">
            <a:avLst/>
          </a:prstGeom>
          <a:noFill/>
          <a:ln/>
        </p:spPr>
        <p:txBody>
          <a:bodyPr wrap="square" lIns="0" tIns="0" rIns="0" bIns="0" rtlCol="0" anchor="t"/>
          <a:lstStyle/>
          <a:p>
            <a:pPr marL="0" indent="0" algn="ctr">
              <a:buNone/>
            </a:pPr>
            <a:r>
              <a:rPr lang="en-US" sz="1100" kern="0" spc="160" dirty="0">
                <a:solidFill>
                  <a:srgbClr val="828C9A"/>
                </a:solidFill>
                <a:latin typeface="Barlow Condensed" pitchFamily="34" charset="0"/>
                <a:ea typeface="Barlow Condensed" pitchFamily="34" charset="-122"/>
                <a:cs typeface="Barlow Condensed" pitchFamily="34" charset="-120"/>
              </a:rPr>
              <a:t>Y10</a:t>
            </a:r>
            <a:endParaRPr lang="en-US" sz="1100" dirty="0"/>
          </a:p>
        </p:txBody>
      </p:sp>
      <p:sp>
        <p:nvSpPr>
          <p:cNvPr id="26" name="Text 24"/>
          <p:cNvSpPr txBox="1"/>
          <p:nvPr/>
        </p:nvSpPr>
        <p:spPr>
          <a:xfrm>
            <a:off x="713232" y="4187952"/>
            <a:ext cx="10765231" cy="640080"/>
          </a:xfrm>
          <a:prstGeom prst="rect">
            <a:avLst/>
          </a:prstGeom>
          <a:noFill/>
          <a:ln/>
        </p:spPr>
        <p:txBody>
          <a:bodyPr wrap="square" lIns="0" tIns="0" rIns="0" bIns="0" rtlCol="0" anchor="t"/>
          <a:lstStyle/>
          <a:p>
            <a:pPr marL="0" indent="0">
              <a:lnSpc>
                <a:spcPts val="1900"/>
              </a:lnSpc>
              <a:buNone/>
            </a:pPr>
            <a:r>
              <a:rPr lang="en-US" sz="1400" dirty="0">
                <a:solidFill>
                  <a:srgbClr val="AEB6C2"/>
                </a:solidFill>
                <a:latin typeface="Barlow" pitchFamily="34" charset="0"/>
                <a:ea typeface="Barlow" pitchFamily="34" charset="-122"/>
                <a:cs typeface="Barlow" pitchFamily="34" charset="-120"/>
              </a:rPr>
              <a:t>The only human step in the value chain is admission review, and it scales with applications rather than with transactions. That is why sixteen people can run this. Sponsoo took eleven years to reach thirteen, so the comparison is deliberate rather than optimistic.</a:t>
            </a:r>
            <a:endParaRPr lang="en-US" sz="1400" dirty="0"/>
          </a:p>
        </p:txBody>
      </p:sp>
      <p:sp>
        <p:nvSpPr>
          <p:cNvPr id="27" name="Shape 25"/>
          <p:cNvSpPr/>
          <p:nvPr/>
        </p:nvSpPr>
        <p:spPr>
          <a:xfrm>
            <a:off x="713232" y="4828032"/>
            <a:ext cx="10765231" cy="859536"/>
          </a:xfrm>
          <a:prstGeom prst="roundRect">
            <a:avLst>
              <a:gd name="adj" fmla="val 4255"/>
            </a:avLst>
          </a:prstGeom>
          <a:solidFill>
            <a:srgbClr val="1F242C"/>
          </a:solidFill>
          <a:ln w="9525">
            <a:solidFill>
              <a:srgbClr val="262C35"/>
            </a:solidFill>
            <a:prstDash val="solid"/>
          </a:ln>
        </p:spPr>
      </p:sp>
      <p:sp>
        <p:nvSpPr>
          <p:cNvPr id="28" name="Text 26"/>
          <p:cNvSpPr txBox="1"/>
          <p:nvPr/>
        </p:nvSpPr>
        <p:spPr>
          <a:xfrm>
            <a:off x="987552" y="5029200"/>
            <a:ext cx="3840480" cy="237744"/>
          </a:xfrm>
          <a:prstGeom prst="rect">
            <a:avLst/>
          </a:prstGeom>
          <a:noFill/>
          <a:ln/>
        </p:spPr>
        <p:txBody>
          <a:bodyPr wrap="square" lIns="0" tIns="0" rIns="0" bIns="0" rtlCol="0" anchor="t"/>
          <a:lstStyle/>
          <a:p>
            <a:pPr marL="0" indent="0">
              <a:buNone/>
            </a:pPr>
            <a:r>
              <a:rPr lang="en-US" sz="1250" kern="0" spc="220" dirty="0">
                <a:solidFill>
                  <a:srgbClr val="FF8A3D"/>
                </a:solidFill>
                <a:latin typeface="Barlow Condensed" pitchFamily="34" charset="0"/>
                <a:ea typeface="Barlow Condensed" pitchFamily="34" charset="-122"/>
                <a:cs typeface="Barlow Condensed" pitchFamily="34" charset="-120"/>
              </a:rPr>
              <a:t>THE ASSUMPTION I AM MOST EXPOSED ON</a:t>
            </a:r>
            <a:endParaRPr lang="en-US" sz="1250" dirty="0"/>
          </a:p>
        </p:txBody>
      </p:sp>
      <p:sp>
        <p:nvSpPr>
          <p:cNvPr id="29" name="Text 27"/>
          <p:cNvSpPr txBox="1"/>
          <p:nvPr/>
        </p:nvSpPr>
        <p:spPr>
          <a:xfrm>
            <a:off x="5010912" y="4992624"/>
            <a:ext cx="6284671" cy="603504"/>
          </a:xfrm>
          <a:prstGeom prst="rect">
            <a:avLst/>
          </a:prstGeom>
          <a:noFill/>
          <a:ln/>
        </p:spPr>
        <p:txBody>
          <a:bodyPr wrap="square" lIns="0" tIns="0" rIns="0" bIns="0" rtlCol="0" anchor="t"/>
          <a:lstStyle/>
          <a:p>
            <a:pPr marL="0" indent="0">
              <a:lnSpc>
                <a:spcPts val="1700"/>
              </a:lnSpc>
              <a:buNone/>
            </a:pPr>
            <a:r>
              <a:rPr lang="en-US" sz="1250" dirty="0">
                <a:solidFill>
                  <a:srgbClr val="AEB6C2"/>
                </a:solidFill>
                <a:latin typeface="Barlow" pitchFamily="34" charset="0"/>
                <a:ea typeface="Barlow" pitchFamily="34" charset="-122"/>
                <a:cs typeface="Barlow" pitchFamily="34" charset="-120"/>
              </a:rPr>
              <a:t>€301k of revenue per employee at Y7, against a private B2B SaaS median of €135k. If I am wrong, the first thing to give is headcount, which means slower growth rather than a cash crisis.</a:t>
            </a:r>
            <a:endParaRPr lang="en-US" sz="1250" dirty="0"/>
          </a:p>
        </p:txBody>
      </p:sp>
      <p:sp>
        <p:nvSpPr>
          <p:cNvPr id="30"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FINANCIAL PLAN</a:t>
            </a:r>
            <a:endParaRPr lang="en-US" sz="1250" dirty="0"/>
          </a:p>
        </p:txBody>
      </p:sp>
      <p:sp>
        <p:nvSpPr>
          <p:cNvPr id="3" name="Text 1"/>
          <p:cNvSpPr txBox="1"/>
          <p:nvPr/>
        </p:nvSpPr>
        <p:spPr>
          <a:xfrm>
            <a:off x="713232" y="786384"/>
            <a:ext cx="10765231" cy="868680"/>
          </a:xfrm>
          <a:prstGeom prst="rect">
            <a:avLst/>
          </a:prstGeom>
          <a:noFill/>
          <a:ln/>
        </p:spPr>
        <p:txBody>
          <a:bodyPr wrap="square" lIns="0" tIns="0" rIns="0" bIns="0" rtlCol="0" anchor="t"/>
          <a:lstStyle/>
          <a:p>
            <a:pPr marL="0" indent="0">
              <a:lnSpc>
                <a:spcPts val="3800"/>
              </a:lnSpc>
              <a:buNone/>
            </a:pPr>
            <a:r>
              <a:rPr lang="en-US" sz="3600" dirty="0">
                <a:solidFill>
                  <a:srgbClr val="F2F4F7"/>
                </a:solidFill>
                <a:latin typeface="Barlow Condensed" pitchFamily="34" charset="0"/>
                <a:ea typeface="Barlow Condensed" pitchFamily="34" charset="-122"/>
                <a:cs typeface="Barlow Condensed" pitchFamily="34" charset="-120"/>
              </a:rPr>
              <a:t>Loss-making for four years, and the losses are small</a:t>
            </a:r>
            <a:endParaRPr lang="en-US" sz="3600" dirty="0"/>
          </a:p>
        </p:txBody>
      </p:sp>
      <p:graphicFrame>
        <p:nvGraphicFramePr>
          <p:cNvPr id="4" name="Chart 0"/>
          <p:cNvGraphicFramePr/>
          <p:nvPr/>
        </p:nvGraphicFramePr>
        <p:xfrm>
          <a:off x="713232" y="1920240"/>
          <a:ext cx="758952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8503920" y="1993392"/>
            <a:ext cx="3108960" cy="219456"/>
          </a:xfrm>
          <a:prstGeom prst="rect">
            <a:avLst/>
          </a:prstGeom>
          <a:noFill/>
          <a:ln/>
        </p:spPr>
        <p:txBody>
          <a:bodyPr wrap="square" lIns="0" tIns="0" rIns="0" bIns="0" rtlCol="0" anchor="t"/>
          <a:lstStyle/>
          <a:p>
            <a:pPr marL="0" indent="0">
              <a:buNone/>
            </a:pPr>
            <a:r>
              <a:rPr lang="en-US" sz="1100" kern="0" spc="220" dirty="0">
                <a:solidFill>
                  <a:srgbClr val="828C9A"/>
                </a:solidFill>
                <a:latin typeface="Barlow Condensed" pitchFamily="34" charset="0"/>
                <a:ea typeface="Barlow Condensed" pitchFamily="34" charset="-122"/>
                <a:cs typeface="Barlow Condensed" pitchFamily="34" charset="-120"/>
              </a:rPr>
              <a:t>EBITDA POSITIVE</a:t>
            </a:r>
            <a:endParaRPr lang="en-US" sz="1100" dirty="0"/>
          </a:p>
        </p:txBody>
      </p:sp>
      <p:sp>
        <p:nvSpPr>
          <p:cNvPr id="6" name="Text 3"/>
          <p:cNvSpPr txBox="1"/>
          <p:nvPr/>
        </p:nvSpPr>
        <p:spPr>
          <a:xfrm>
            <a:off x="8503920" y="2212848"/>
            <a:ext cx="3108960" cy="457200"/>
          </a:xfrm>
          <a:prstGeom prst="rect">
            <a:avLst/>
          </a:prstGeom>
          <a:noFill/>
          <a:ln/>
        </p:spPr>
        <p:txBody>
          <a:bodyPr wrap="square" lIns="0" tIns="0" rIns="0" bIns="0" rtlCol="0" anchor="t"/>
          <a:lstStyle/>
          <a:p>
            <a:pPr marL="0" indent="0">
              <a:lnSpc>
                <a:spcPts val="3200"/>
              </a:lnSpc>
              <a:buNone/>
            </a:pPr>
            <a:r>
              <a:rPr lang="en-US" sz="3200" dirty="0">
                <a:solidFill>
                  <a:srgbClr val="3FCF8E"/>
                </a:solidFill>
                <a:latin typeface="Barlow Condensed" pitchFamily="34" charset="0"/>
                <a:ea typeface="Barlow Condensed" pitchFamily="34" charset="-122"/>
                <a:cs typeface="Barlow Condensed" pitchFamily="34" charset="-120"/>
              </a:rPr>
              <a:t>Y4</a:t>
            </a:r>
            <a:endParaRPr lang="en-US" sz="3200" dirty="0"/>
          </a:p>
        </p:txBody>
      </p:sp>
      <p:sp>
        <p:nvSpPr>
          <p:cNvPr id="7" name="Text 4"/>
          <p:cNvSpPr txBox="1"/>
          <p:nvPr/>
        </p:nvSpPr>
        <p:spPr>
          <a:xfrm>
            <a:off x="8503920" y="2779776"/>
            <a:ext cx="3108960" cy="219456"/>
          </a:xfrm>
          <a:prstGeom prst="rect">
            <a:avLst/>
          </a:prstGeom>
          <a:noFill/>
          <a:ln/>
        </p:spPr>
        <p:txBody>
          <a:bodyPr wrap="square" lIns="0" tIns="0" rIns="0" bIns="0" rtlCol="0" anchor="t"/>
          <a:lstStyle/>
          <a:p>
            <a:pPr marL="0" indent="0">
              <a:buNone/>
            </a:pPr>
            <a:r>
              <a:rPr lang="en-US" sz="1100" kern="0" spc="220" dirty="0">
                <a:solidFill>
                  <a:srgbClr val="828C9A"/>
                </a:solidFill>
                <a:latin typeface="Barlow Condensed" pitchFamily="34" charset="0"/>
                <a:ea typeface="Barlow Condensed" pitchFamily="34" charset="-122"/>
                <a:cs typeface="Barlow Condensed" pitchFamily="34" charset="-120"/>
              </a:rPr>
              <a:t>CASH POSITIVE</a:t>
            </a:r>
            <a:endParaRPr lang="en-US" sz="1100" dirty="0"/>
          </a:p>
        </p:txBody>
      </p:sp>
      <p:sp>
        <p:nvSpPr>
          <p:cNvPr id="8" name="Text 5"/>
          <p:cNvSpPr txBox="1"/>
          <p:nvPr/>
        </p:nvSpPr>
        <p:spPr>
          <a:xfrm>
            <a:off x="8503920" y="2999232"/>
            <a:ext cx="3108960" cy="457200"/>
          </a:xfrm>
          <a:prstGeom prst="rect">
            <a:avLst/>
          </a:prstGeom>
          <a:noFill/>
          <a:ln/>
        </p:spPr>
        <p:txBody>
          <a:bodyPr wrap="square" lIns="0" tIns="0" rIns="0" bIns="0" rtlCol="0" anchor="t"/>
          <a:lstStyle/>
          <a:p>
            <a:pPr marL="0" indent="0">
              <a:lnSpc>
                <a:spcPts val="3200"/>
              </a:lnSpc>
              <a:buNone/>
            </a:pPr>
            <a:r>
              <a:rPr lang="en-US" sz="3200" dirty="0">
                <a:solidFill>
                  <a:srgbClr val="3FCF8E"/>
                </a:solidFill>
                <a:latin typeface="Barlow Condensed" pitchFamily="34" charset="0"/>
                <a:ea typeface="Barlow Condensed" pitchFamily="34" charset="-122"/>
                <a:cs typeface="Barlow Condensed" pitchFamily="34" charset="-120"/>
              </a:rPr>
              <a:t>Y5</a:t>
            </a:r>
            <a:endParaRPr lang="en-US" sz="3200" dirty="0"/>
          </a:p>
        </p:txBody>
      </p:sp>
      <p:sp>
        <p:nvSpPr>
          <p:cNvPr id="9" name="Text 6"/>
          <p:cNvSpPr txBox="1"/>
          <p:nvPr/>
        </p:nvSpPr>
        <p:spPr>
          <a:xfrm>
            <a:off x="8503920" y="3566160"/>
            <a:ext cx="3108960" cy="219456"/>
          </a:xfrm>
          <a:prstGeom prst="rect">
            <a:avLst/>
          </a:prstGeom>
          <a:noFill/>
          <a:ln/>
        </p:spPr>
        <p:txBody>
          <a:bodyPr wrap="square" lIns="0" tIns="0" rIns="0" bIns="0" rtlCol="0" anchor="t"/>
          <a:lstStyle/>
          <a:p>
            <a:pPr marL="0" indent="0">
              <a:buNone/>
            </a:pPr>
            <a:r>
              <a:rPr lang="en-US" sz="1100" kern="0" spc="220" dirty="0">
                <a:solidFill>
                  <a:srgbClr val="828C9A"/>
                </a:solidFill>
                <a:latin typeface="Barlow Condensed" pitchFamily="34" charset="0"/>
                <a:ea typeface="Barlow Condensed" pitchFamily="34" charset="-122"/>
                <a:cs typeface="Barlow Condensed" pitchFamily="34" charset="-120"/>
              </a:rPr>
              <a:t>Y7 EBITDA MARGIN</a:t>
            </a:r>
            <a:endParaRPr lang="en-US" sz="1100" dirty="0"/>
          </a:p>
        </p:txBody>
      </p:sp>
      <p:sp>
        <p:nvSpPr>
          <p:cNvPr id="10" name="Text 7"/>
          <p:cNvSpPr txBox="1"/>
          <p:nvPr/>
        </p:nvSpPr>
        <p:spPr>
          <a:xfrm>
            <a:off x="8503920" y="3785616"/>
            <a:ext cx="3108960" cy="457200"/>
          </a:xfrm>
          <a:prstGeom prst="rect">
            <a:avLst/>
          </a:prstGeom>
          <a:noFill/>
          <a:ln/>
        </p:spPr>
        <p:txBody>
          <a:bodyPr wrap="square" lIns="0" tIns="0" rIns="0" bIns="0" rtlCol="0" anchor="t"/>
          <a:lstStyle/>
          <a:p>
            <a:pPr marL="0" indent="0">
              <a:lnSpc>
                <a:spcPts val="3200"/>
              </a:lnSpc>
              <a:buNone/>
            </a:pPr>
            <a:r>
              <a:rPr lang="en-US" sz="3200" dirty="0">
                <a:solidFill>
                  <a:srgbClr val="F2F4F7"/>
                </a:solidFill>
                <a:latin typeface="Barlow Condensed" pitchFamily="34" charset="0"/>
                <a:ea typeface="Barlow Condensed" pitchFamily="34" charset="-122"/>
                <a:cs typeface="Barlow Condensed" pitchFamily="34" charset="-120"/>
              </a:rPr>
              <a:t>24.7%</a:t>
            </a:r>
            <a:endParaRPr lang="en-US" sz="3200" dirty="0"/>
          </a:p>
        </p:txBody>
      </p:sp>
      <p:sp>
        <p:nvSpPr>
          <p:cNvPr id="11" name="Text 8"/>
          <p:cNvSpPr txBox="1"/>
          <p:nvPr/>
        </p:nvSpPr>
        <p:spPr>
          <a:xfrm>
            <a:off x="8503920" y="4352544"/>
            <a:ext cx="3108960" cy="219456"/>
          </a:xfrm>
          <a:prstGeom prst="rect">
            <a:avLst/>
          </a:prstGeom>
          <a:noFill/>
          <a:ln/>
        </p:spPr>
        <p:txBody>
          <a:bodyPr wrap="square" lIns="0" tIns="0" rIns="0" bIns="0" rtlCol="0" anchor="t"/>
          <a:lstStyle/>
          <a:p>
            <a:pPr marL="0" indent="0">
              <a:buNone/>
            </a:pPr>
            <a:r>
              <a:rPr lang="en-US" sz="1100" kern="0" spc="220" dirty="0">
                <a:solidFill>
                  <a:srgbClr val="828C9A"/>
                </a:solidFill>
                <a:latin typeface="Barlow Condensed" pitchFamily="34" charset="0"/>
                <a:ea typeface="Barlow Condensed" pitchFamily="34" charset="-122"/>
                <a:cs typeface="Barlow Condensed" pitchFamily="34" charset="-120"/>
              </a:rPr>
              <a:t>Y10 NET REVENUE</a:t>
            </a:r>
            <a:endParaRPr lang="en-US" sz="1100" dirty="0"/>
          </a:p>
        </p:txBody>
      </p:sp>
      <p:sp>
        <p:nvSpPr>
          <p:cNvPr id="12" name="Text 9"/>
          <p:cNvSpPr txBox="1"/>
          <p:nvPr/>
        </p:nvSpPr>
        <p:spPr>
          <a:xfrm>
            <a:off x="8503920" y="4572000"/>
            <a:ext cx="3108960" cy="457200"/>
          </a:xfrm>
          <a:prstGeom prst="rect">
            <a:avLst/>
          </a:prstGeom>
          <a:noFill/>
          <a:ln/>
        </p:spPr>
        <p:txBody>
          <a:bodyPr wrap="square" lIns="0" tIns="0" rIns="0" bIns="0" rtlCol="0" anchor="t"/>
          <a:lstStyle/>
          <a:p>
            <a:pPr marL="0" indent="0">
              <a:lnSpc>
                <a:spcPts val="3200"/>
              </a:lnSpc>
              <a:buNone/>
            </a:pPr>
            <a:r>
              <a:rPr lang="en-US" sz="3200" dirty="0">
                <a:solidFill>
                  <a:srgbClr val="F2F4F7"/>
                </a:solidFill>
                <a:latin typeface="Barlow Condensed" pitchFamily="34" charset="0"/>
                <a:ea typeface="Barlow Condensed" pitchFamily="34" charset="-122"/>
                <a:cs typeface="Barlow Condensed" pitchFamily="34" charset="-120"/>
              </a:rPr>
              <a:t>€5.25M</a:t>
            </a:r>
            <a:endParaRPr lang="en-US" sz="3200" dirty="0"/>
          </a:p>
        </p:txBody>
      </p:sp>
      <p:sp>
        <p:nvSpPr>
          <p:cNvPr id="13" name="Text 10"/>
          <p:cNvSpPr txBox="1"/>
          <p:nvPr/>
        </p:nvSpPr>
        <p:spPr>
          <a:xfrm>
            <a:off x="713232" y="5193792"/>
            <a:ext cx="10765231" cy="457200"/>
          </a:xfrm>
          <a:prstGeom prst="rect">
            <a:avLst/>
          </a:prstGeom>
          <a:noFill/>
          <a:ln/>
        </p:spPr>
        <p:txBody>
          <a:bodyPr wrap="square" lIns="0" tIns="0" rIns="0" bIns="0" rtlCol="0" anchor="t"/>
          <a:lstStyle/>
          <a:p>
            <a:pPr marL="0" indent="0">
              <a:lnSpc>
                <a:spcPts val="2200"/>
              </a:lnSpc>
              <a:buNone/>
            </a:pPr>
            <a:r>
              <a:rPr lang="en-US" sz="1350" dirty="0">
                <a:solidFill>
                  <a:srgbClr val="828C9A"/>
                </a:solidFill>
                <a:latin typeface="Barlow" pitchFamily="34" charset="0"/>
                <a:ea typeface="Barlow" pitchFamily="34" charset="-122"/>
                <a:cs typeface="Barlow" pitchFamily="34" charset="-120"/>
              </a:rPr>
              <a:t>Gross margin climbs from 63% to 70%, not the SaaS 80%, because the payment rail is real.</a:t>
            </a:r>
            <a:endParaRPr lang="en-US" sz="1350" dirty="0"/>
          </a:p>
        </p:txBody>
      </p:sp>
      <p:sp>
        <p:nvSpPr>
          <p:cNvPr id="14" name="Text 11"/>
          <p:cNvSpPr txBox="1"/>
          <p:nvPr/>
        </p:nvSpPr>
        <p:spPr>
          <a:xfrm>
            <a:off x="713232" y="6382512"/>
            <a:ext cx="9667951" cy="274320"/>
          </a:xfrm>
          <a:prstGeom prst="rect">
            <a:avLst/>
          </a:prstGeom>
          <a:noFill/>
          <a:ln/>
        </p:spPr>
        <p:txBody>
          <a:bodyPr wrap="square" lIns="0" tIns="0" rIns="0" bIns="0" rtlCol="0" anchor="t"/>
          <a:lstStyle/>
          <a:p>
            <a:pPr marL="0" indent="0">
              <a:buNone/>
            </a:pPr>
            <a:r>
              <a:rPr lang="en-US" sz="950" dirty="0">
                <a:solidFill>
                  <a:srgbClr val="828C9A"/>
                </a:solidFill>
                <a:latin typeface="Barlow" pitchFamily="34" charset="0"/>
                <a:ea typeface="Barlow" pitchFamily="34" charset="-122"/>
                <a:cs typeface="Barlow" pitchFamily="34" charset="-120"/>
              </a:rPr>
              <a:t>Stride financial model, base case. Three scenarios are modelled; the pessimistic case still breaks even in Y5.</a:t>
            </a:r>
            <a:endParaRPr lang="en-US" sz="95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THE ASK</a:t>
            </a:r>
            <a:endParaRPr lang="en-US" sz="1250" dirty="0"/>
          </a:p>
        </p:txBody>
      </p:sp>
      <p:sp>
        <p:nvSpPr>
          <p:cNvPr id="3" name="Text 1"/>
          <p:cNvSpPr txBox="1"/>
          <p:nvPr/>
        </p:nvSpPr>
        <p:spPr>
          <a:xfrm>
            <a:off x="713232" y="786384"/>
            <a:ext cx="7315200" cy="731520"/>
          </a:xfrm>
          <a:prstGeom prst="rect">
            <a:avLst/>
          </a:prstGeom>
          <a:noFill/>
          <a:ln/>
        </p:spPr>
        <p:txBody>
          <a:bodyPr wrap="square" lIns="0" tIns="0" rIns="0" bIns="0" rtlCol="0" anchor="t"/>
          <a:lstStyle/>
          <a:p>
            <a:pPr marL="0" indent="0">
              <a:buNone/>
            </a:pPr>
            <a:r>
              <a:rPr lang="en-US" sz="4400" dirty="0">
                <a:solidFill>
                  <a:srgbClr val="F2F4F7"/>
                </a:solidFill>
                <a:latin typeface="Barlow Condensed" pitchFamily="34" charset="0"/>
                <a:ea typeface="Barlow Condensed" pitchFamily="34" charset="-122"/>
                <a:cs typeface="Barlow Condensed" pitchFamily="34" charset="-120"/>
              </a:rPr>
              <a:t>€150k at €1.8M pre-money</a:t>
            </a:r>
            <a:endParaRPr lang="en-US" sz="4400" dirty="0"/>
          </a:p>
        </p:txBody>
      </p:sp>
      <p:sp>
        <p:nvSpPr>
          <p:cNvPr id="4" name="Text 2"/>
          <p:cNvSpPr txBox="1"/>
          <p:nvPr/>
        </p:nvSpPr>
        <p:spPr>
          <a:xfrm>
            <a:off x="713232" y="1536192"/>
            <a:ext cx="7680960" cy="365760"/>
          </a:xfrm>
          <a:prstGeom prst="rect">
            <a:avLst/>
          </a:prstGeom>
          <a:noFill/>
          <a:ln/>
        </p:spPr>
        <p:txBody>
          <a:bodyPr wrap="square" lIns="0" tIns="0" rIns="0" bIns="0" rtlCol="0" anchor="t"/>
          <a:lstStyle/>
          <a:p>
            <a:pPr marL="0" indent="0">
              <a:lnSpc>
                <a:spcPts val="2200"/>
              </a:lnSpc>
              <a:buNone/>
            </a:pPr>
            <a:r>
              <a:rPr lang="en-US" sz="1500" dirty="0">
                <a:solidFill>
                  <a:srgbClr val="AEB6C2"/>
                </a:solidFill>
                <a:latin typeface="Barlow" pitchFamily="34" charset="0"/>
                <a:ea typeface="Barlow" pitchFamily="34" charset="-122"/>
                <a:cs typeface="Barlow" pitchFamily="34" charset="-120"/>
              </a:rPr>
              <a:t>The first of two tranches, and the round that clears the worst point in the cash curve</a:t>
            </a:r>
            <a:endParaRPr lang="en-US" sz="1500" dirty="0"/>
          </a:p>
        </p:txBody>
      </p:sp>
      <p:graphicFrame>
        <p:nvGraphicFramePr>
          <p:cNvPr id="5" name="Chart 0"/>
          <p:cNvGraphicFramePr/>
          <p:nvPr/>
        </p:nvGraphicFramePr>
        <p:xfrm>
          <a:off x="713232" y="2148840"/>
          <a:ext cx="667512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2130552" y="4572000"/>
            <a:ext cx="2377440" cy="219456"/>
          </a:xfrm>
          <a:prstGeom prst="rect">
            <a:avLst/>
          </a:prstGeom>
          <a:noFill/>
          <a:ln/>
        </p:spPr>
        <p:txBody>
          <a:bodyPr wrap="square" lIns="0" tIns="0" rIns="0" bIns="0" rtlCol="0" anchor="t"/>
          <a:lstStyle/>
          <a:p>
            <a:pPr marL="0" indent="0">
              <a:buNone/>
            </a:pPr>
            <a:r>
              <a:rPr lang="en-US" sz="1150" kern="0" spc="160" dirty="0">
                <a:solidFill>
                  <a:srgbClr val="F2555A"/>
                </a:solidFill>
                <a:latin typeface="Barlow Condensed" pitchFamily="34" charset="0"/>
                <a:ea typeface="Barlow Condensed" pitchFamily="34" charset="-122"/>
                <a:cs typeface="Barlow Condensed" pitchFamily="34" charset="-120"/>
              </a:rPr>
              <a:t>TROUGH €296k IN Y3</a:t>
            </a:r>
            <a:endParaRPr lang="en-US" sz="1150" dirty="0"/>
          </a:p>
        </p:txBody>
      </p:sp>
      <p:sp>
        <p:nvSpPr>
          <p:cNvPr id="7" name="Shape 4"/>
          <p:cNvSpPr/>
          <p:nvPr/>
        </p:nvSpPr>
        <p:spPr>
          <a:xfrm>
            <a:off x="7863840" y="2148840"/>
            <a:ext cx="3614623" cy="896112"/>
          </a:xfrm>
          <a:prstGeom prst="roundRect">
            <a:avLst>
              <a:gd name="adj" fmla="val 4082"/>
            </a:avLst>
          </a:prstGeom>
          <a:solidFill>
            <a:srgbClr val="171A20"/>
          </a:solidFill>
          <a:ln w="9525">
            <a:solidFill>
              <a:srgbClr val="262C35"/>
            </a:solidFill>
            <a:prstDash val="solid"/>
          </a:ln>
        </p:spPr>
      </p:sp>
      <p:sp>
        <p:nvSpPr>
          <p:cNvPr id="8" name="Text 5"/>
          <p:cNvSpPr txBox="1"/>
          <p:nvPr/>
        </p:nvSpPr>
        <p:spPr>
          <a:xfrm>
            <a:off x="8119872" y="2276856"/>
            <a:ext cx="2926080" cy="201168"/>
          </a:xfrm>
          <a:prstGeom prst="rect">
            <a:avLst/>
          </a:prstGeom>
          <a:noFill/>
          <a:ln/>
        </p:spPr>
        <p:txBody>
          <a:bodyPr wrap="square" lIns="0" tIns="0" rIns="0" bIns="0" rtlCol="0" anchor="t"/>
          <a:lstStyle/>
          <a:p>
            <a:pPr marL="0" indent="0">
              <a:buNone/>
            </a:pPr>
            <a:r>
              <a:rPr lang="en-US" sz="1050" kern="0" spc="220" dirty="0">
                <a:solidFill>
                  <a:srgbClr val="828C9A"/>
                </a:solidFill>
                <a:latin typeface="Barlow Condensed" pitchFamily="34" charset="0"/>
                <a:ea typeface="Barlow Condensed" pitchFamily="34" charset="-122"/>
                <a:cs typeface="Barlow Condensed" pitchFamily="34" charset="-120"/>
              </a:rPr>
              <a:t>TOTAL REQUIREMENT</a:t>
            </a:r>
            <a:endParaRPr lang="en-US" sz="1050" dirty="0"/>
          </a:p>
        </p:txBody>
      </p:sp>
      <p:sp>
        <p:nvSpPr>
          <p:cNvPr id="9" name="Text 6"/>
          <p:cNvSpPr txBox="1"/>
          <p:nvPr/>
        </p:nvSpPr>
        <p:spPr>
          <a:xfrm>
            <a:off x="8119872" y="2459736"/>
            <a:ext cx="1463040" cy="384048"/>
          </a:xfrm>
          <a:prstGeom prst="rect">
            <a:avLst/>
          </a:prstGeom>
          <a:noFill/>
          <a:ln/>
        </p:spPr>
        <p:txBody>
          <a:bodyPr wrap="square" lIns="0" tIns="0" rIns="0" bIns="0" rtlCol="0" anchor="t"/>
          <a:lstStyle/>
          <a:p>
            <a:pPr marL="0" indent="0">
              <a:lnSpc>
                <a:spcPts val="2700"/>
              </a:lnSpc>
              <a:buNone/>
            </a:pPr>
            <a:r>
              <a:rPr lang="en-US" sz="2700" dirty="0">
                <a:solidFill>
                  <a:srgbClr val="F2F4F7"/>
                </a:solidFill>
                <a:latin typeface="Barlow Condensed" pitchFamily="34" charset="0"/>
                <a:ea typeface="Barlow Condensed" pitchFamily="34" charset="-122"/>
                <a:cs typeface="Barlow Condensed" pitchFamily="34" charset="-120"/>
              </a:rPr>
              <a:t>€414k</a:t>
            </a:r>
            <a:endParaRPr lang="en-US" sz="2700" dirty="0"/>
          </a:p>
        </p:txBody>
      </p:sp>
      <p:sp>
        <p:nvSpPr>
          <p:cNvPr id="10" name="Text 7"/>
          <p:cNvSpPr txBox="1"/>
          <p:nvPr/>
        </p:nvSpPr>
        <p:spPr>
          <a:xfrm>
            <a:off x="9528048" y="2423160"/>
            <a:ext cx="1828800" cy="603504"/>
          </a:xfrm>
          <a:prstGeom prst="rect">
            <a:avLst/>
          </a:prstGeom>
          <a:noFill/>
          <a:ln/>
        </p:spPr>
        <p:txBody>
          <a:bodyPr wrap="square" lIns="0" tIns="0" rIns="0" bIns="0" rtlCol="0" anchor="t"/>
          <a:lstStyle/>
          <a:p>
            <a:pPr marL="0" indent="0">
              <a:lnSpc>
                <a:spcPts val="1400"/>
              </a:lnSpc>
              <a:buNone/>
            </a:pPr>
            <a:r>
              <a:rPr lang="en-US" sz="1050" dirty="0">
                <a:solidFill>
                  <a:srgbClr val="828C9A"/>
                </a:solidFill>
                <a:latin typeface="Barlow" pitchFamily="34" charset="0"/>
                <a:ea typeface="Barlow" pitchFamily="34" charset="-122"/>
                <a:cs typeface="Barlow" pitchFamily="34" charset="-120"/>
              </a:rPr>
              <a:t>the €296k trough plus a 40% buffer</a:t>
            </a:r>
            <a:endParaRPr lang="en-US" sz="1050" dirty="0"/>
          </a:p>
        </p:txBody>
      </p:sp>
      <p:sp>
        <p:nvSpPr>
          <p:cNvPr id="11" name="Shape 8"/>
          <p:cNvSpPr/>
          <p:nvPr/>
        </p:nvSpPr>
        <p:spPr>
          <a:xfrm>
            <a:off x="7863840" y="3172968"/>
            <a:ext cx="3614623" cy="896112"/>
          </a:xfrm>
          <a:prstGeom prst="roundRect">
            <a:avLst>
              <a:gd name="adj" fmla="val 4082"/>
            </a:avLst>
          </a:prstGeom>
          <a:solidFill>
            <a:srgbClr val="1F242C"/>
          </a:solidFill>
          <a:ln w="9525">
            <a:solidFill>
              <a:srgbClr val="262C35"/>
            </a:solidFill>
            <a:prstDash val="solid"/>
          </a:ln>
        </p:spPr>
      </p:sp>
      <p:sp>
        <p:nvSpPr>
          <p:cNvPr id="12" name="Text 9"/>
          <p:cNvSpPr txBox="1"/>
          <p:nvPr/>
        </p:nvSpPr>
        <p:spPr>
          <a:xfrm>
            <a:off x="8119872" y="3300984"/>
            <a:ext cx="2926080" cy="201168"/>
          </a:xfrm>
          <a:prstGeom prst="rect">
            <a:avLst/>
          </a:prstGeom>
          <a:noFill/>
          <a:ln/>
        </p:spPr>
        <p:txBody>
          <a:bodyPr wrap="square" lIns="0" tIns="0" rIns="0" bIns="0" rtlCol="0" anchor="t"/>
          <a:lstStyle/>
          <a:p>
            <a:pPr marL="0" indent="0">
              <a:buNone/>
            </a:pPr>
            <a:r>
              <a:rPr lang="en-US" sz="1050" kern="0" spc="220" dirty="0">
                <a:solidFill>
                  <a:srgbClr val="828C9A"/>
                </a:solidFill>
                <a:latin typeface="Barlow Condensed" pitchFamily="34" charset="0"/>
                <a:ea typeface="Barlow Condensed" pitchFamily="34" charset="-122"/>
                <a:cs typeface="Barlow Condensed" pitchFamily="34" charset="-120"/>
              </a:rPr>
              <a:t>NOW</a:t>
            </a:r>
            <a:endParaRPr lang="en-US" sz="1050" dirty="0"/>
          </a:p>
        </p:txBody>
      </p:sp>
      <p:sp>
        <p:nvSpPr>
          <p:cNvPr id="13" name="Text 10"/>
          <p:cNvSpPr txBox="1"/>
          <p:nvPr/>
        </p:nvSpPr>
        <p:spPr>
          <a:xfrm>
            <a:off x="8119872" y="3483864"/>
            <a:ext cx="1463040" cy="384048"/>
          </a:xfrm>
          <a:prstGeom prst="rect">
            <a:avLst/>
          </a:prstGeom>
          <a:noFill/>
          <a:ln/>
        </p:spPr>
        <p:txBody>
          <a:bodyPr wrap="square" lIns="0" tIns="0" rIns="0" bIns="0" rtlCol="0" anchor="t"/>
          <a:lstStyle/>
          <a:p>
            <a:pPr marL="0" indent="0">
              <a:lnSpc>
                <a:spcPts val="2700"/>
              </a:lnSpc>
              <a:buNone/>
            </a:pPr>
            <a:r>
              <a:rPr lang="en-US" sz="2700" dirty="0">
                <a:solidFill>
                  <a:srgbClr val="FFB020"/>
                </a:solidFill>
                <a:latin typeface="Barlow Condensed" pitchFamily="34" charset="0"/>
                <a:ea typeface="Barlow Condensed" pitchFamily="34" charset="-122"/>
                <a:cs typeface="Barlow Condensed" pitchFamily="34" charset="-120"/>
              </a:rPr>
              <a:t>€150k</a:t>
            </a:r>
            <a:endParaRPr lang="en-US" sz="2700" dirty="0"/>
          </a:p>
        </p:txBody>
      </p:sp>
      <p:sp>
        <p:nvSpPr>
          <p:cNvPr id="14" name="Text 11"/>
          <p:cNvSpPr txBox="1"/>
          <p:nvPr/>
        </p:nvSpPr>
        <p:spPr>
          <a:xfrm>
            <a:off x="9528048" y="3447288"/>
            <a:ext cx="1828800" cy="603504"/>
          </a:xfrm>
          <a:prstGeom prst="rect">
            <a:avLst/>
          </a:prstGeom>
          <a:noFill/>
          <a:ln/>
        </p:spPr>
        <p:txBody>
          <a:bodyPr wrap="square" lIns="0" tIns="0" rIns="0" bIns="0" rtlCol="0" anchor="t"/>
          <a:lstStyle/>
          <a:p>
            <a:pPr marL="0" indent="0">
              <a:lnSpc>
                <a:spcPts val="1400"/>
              </a:lnSpc>
              <a:buNone/>
            </a:pPr>
            <a:r>
              <a:rPr lang="en-US" sz="1050" dirty="0">
                <a:solidFill>
                  <a:srgbClr val="828C9A"/>
                </a:solidFill>
                <a:latin typeface="Barlow" pitchFamily="34" charset="0"/>
                <a:ea typeface="Barlow" pitchFamily="34" charset="-122"/>
                <a:cs typeface="Barlow" pitchFamily="34" charset="-120"/>
              </a:rPr>
              <a:t>equity, which also unlocks €75k of non-dilutive ENISA debt</a:t>
            </a:r>
            <a:endParaRPr lang="en-US" sz="1050" dirty="0"/>
          </a:p>
        </p:txBody>
      </p:sp>
      <p:sp>
        <p:nvSpPr>
          <p:cNvPr id="15" name="Shape 12"/>
          <p:cNvSpPr/>
          <p:nvPr/>
        </p:nvSpPr>
        <p:spPr>
          <a:xfrm>
            <a:off x="7863840" y="4197096"/>
            <a:ext cx="3614623" cy="896112"/>
          </a:xfrm>
          <a:prstGeom prst="roundRect">
            <a:avLst>
              <a:gd name="adj" fmla="val 4082"/>
            </a:avLst>
          </a:prstGeom>
          <a:solidFill>
            <a:srgbClr val="171A20"/>
          </a:solidFill>
          <a:ln w="9525">
            <a:solidFill>
              <a:srgbClr val="262C35"/>
            </a:solidFill>
            <a:prstDash val="solid"/>
          </a:ln>
        </p:spPr>
      </p:sp>
      <p:sp>
        <p:nvSpPr>
          <p:cNvPr id="16" name="Text 13"/>
          <p:cNvSpPr txBox="1"/>
          <p:nvPr/>
        </p:nvSpPr>
        <p:spPr>
          <a:xfrm>
            <a:off x="8119872" y="4325112"/>
            <a:ext cx="2926080" cy="201168"/>
          </a:xfrm>
          <a:prstGeom prst="rect">
            <a:avLst/>
          </a:prstGeom>
          <a:noFill/>
          <a:ln/>
        </p:spPr>
        <p:txBody>
          <a:bodyPr wrap="square" lIns="0" tIns="0" rIns="0" bIns="0" rtlCol="0" anchor="t"/>
          <a:lstStyle/>
          <a:p>
            <a:pPr marL="0" indent="0">
              <a:buNone/>
            </a:pPr>
            <a:r>
              <a:rPr lang="en-US" sz="1050" kern="0" spc="220" dirty="0">
                <a:solidFill>
                  <a:srgbClr val="828C9A"/>
                </a:solidFill>
                <a:latin typeface="Barlow Condensed" pitchFamily="34" charset="0"/>
                <a:ea typeface="Barlow Condensed" pitchFamily="34" charset="-122"/>
                <a:cs typeface="Barlow Condensed" pitchFamily="34" charset="-120"/>
              </a:rPr>
              <a:t>IN Y2</a:t>
            </a:r>
            <a:endParaRPr lang="en-US" sz="1050" dirty="0"/>
          </a:p>
        </p:txBody>
      </p:sp>
      <p:sp>
        <p:nvSpPr>
          <p:cNvPr id="17" name="Text 14"/>
          <p:cNvSpPr txBox="1"/>
          <p:nvPr/>
        </p:nvSpPr>
        <p:spPr>
          <a:xfrm>
            <a:off x="8119872" y="4507992"/>
            <a:ext cx="1463040" cy="384048"/>
          </a:xfrm>
          <a:prstGeom prst="rect">
            <a:avLst/>
          </a:prstGeom>
          <a:noFill/>
          <a:ln/>
        </p:spPr>
        <p:txBody>
          <a:bodyPr wrap="square" lIns="0" tIns="0" rIns="0" bIns="0" rtlCol="0" anchor="t"/>
          <a:lstStyle/>
          <a:p>
            <a:pPr marL="0" indent="0">
              <a:lnSpc>
                <a:spcPts val="2700"/>
              </a:lnSpc>
              <a:buNone/>
            </a:pPr>
            <a:r>
              <a:rPr lang="en-US" sz="2700" dirty="0">
                <a:solidFill>
                  <a:srgbClr val="F2F4F7"/>
                </a:solidFill>
                <a:latin typeface="Barlow Condensed" pitchFamily="34" charset="0"/>
                <a:ea typeface="Barlow Condensed" pitchFamily="34" charset="-122"/>
                <a:cs typeface="Barlow Condensed" pitchFamily="34" charset="-120"/>
              </a:rPr>
              <a:t>€250k</a:t>
            </a:r>
            <a:endParaRPr lang="en-US" sz="2700" dirty="0"/>
          </a:p>
        </p:txBody>
      </p:sp>
      <p:sp>
        <p:nvSpPr>
          <p:cNvPr id="18" name="Text 15"/>
          <p:cNvSpPr txBox="1"/>
          <p:nvPr/>
        </p:nvSpPr>
        <p:spPr>
          <a:xfrm>
            <a:off x="9528048" y="4471416"/>
            <a:ext cx="1828800" cy="603504"/>
          </a:xfrm>
          <a:prstGeom prst="rect">
            <a:avLst/>
          </a:prstGeom>
          <a:noFill/>
          <a:ln/>
        </p:spPr>
        <p:txBody>
          <a:bodyPr wrap="square" lIns="0" tIns="0" rIns="0" bIns="0" rtlCol="0" anchor="t"/>
          <a:lstStyle/>
          <a:p>
            <a:pPr marL="0" indent="0">
              <a:lnSpc>
                <a:spcPts val="1400"/>
              </a:lnSpc>
              <a:buNone/>
            </a:pPr>
            <a:r>
              <a:rPr lang="en-US" sz="1050" dirty="0">
                <a:solidFill>
                  <a:srgbClr val="828C9A"/>
                </a:solidFill>
                <a:latin typeface="Barlow" pitchFamily="34" charset="0"/>
                <a:ea typeface="Barlow" pitchFamily="34" charset="-122"/>
                <a:cs typeface="Barlow" pitchFamily="34" charset="-120"/>
              </a:rPr>
              <a:t>priced against three months of real subscription revenue, not a promise</a:t>
            </a:r>
            <a:endParaRPr lang="en-US" sz="1050" dirty="0"/>
          </a:p>
        </p:txBody>
      </p:sp>
      <p:sp>
        <p:nvSpPr>
          <p:cNvPr id="19" name="Text 16"/>
          <p:cNvSpPr txBox="1"/>
          <p:nvPr/>
        </p:nvSpPr>
        <p:spPr>
          <a:xfrm>
            <a:off x="713232" y="5102352"/>
            <a:ext cx="10765231" cy="548640"/>
          </a:xfrm>
          <a:prstGeom prst="rect">
            <a:avLst/>
          </a:prstGeom>
          <a:noFill/>
          <a:ln/>
        </p:spPr>
        <p:txBody>
          <a:bodyPr wrap="square" lIns="0" tIns="0" rIns="0" bIns="0" rtlCol="0" anchor="t"/>
          <a:lstStyle/>
          <a:p>
            <a:pPr marL="0" indent="0">
              <a:lnSpc>
                <a:spcPts val="1800"/>
              </a:lnSpc>
              <a:buNone/>
            </a:pPr>
            <a:r>
              <a:rPr lang="en-US" sz="1350" dirty="0">
                <a:solidFill>
                  <a:srgbClr val="AEB6C2"/>
                </a:solidFill>
                <a:latin typeface="Barlow" pitchFamily="34" charset="0"/>
                <a:ea typeface="Barlow" pitchFamily="34" charset="-122"/>
                <a:cs typeface="Barlow" pitchFamily="34" charset="-120"/>
              </a:rPr>
              <a:t>Staging it costs about two points of equity and buys the right to price the second tranche on evidence. A plan whose survival does not depend on the next round arriving on schedule is a stronger one to raise against.</a:t>
            </a:r>
            <a:endParaRPr lang="en-US" sz="135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13232" y="1234440"/>
            <a:ext cx="10765231" cy="274320"/>
          </a:xfrm>
          <a:prstGeom prst="rect">
            <a:avLst/>
          </a:prstGeom>
          <a:noFill/>
          <a:ln/>
        </p:spPr>
        <p:txBody>
          <a:bodyPr wrap="square" lIns="0" tIns="0" rIns="0" bIns="0" rtlCol="0" anchor="t"/>
          <a:lstStyle/>
          <a:p>
            <a:pPr marL="0" indent="0">
              <a:buNone/>
            </a:pPr>
            <a:r>
              <a:rPr lang="en-US" sz="1300" kern="0" spc="320" dirty="0">
                <a:solidFill>
                  <a:srgbClr val="FFB020"/>
                </a:solidFill>
                <a:latin typeface="Barlow Condensed" pitchFamily="34" charset="0"/>
                <a:ea typeface="Barlow Condensed" pitchFamily="34" charset="-122"/>
                <a:cs typeface="Barlow Condensed" pitchFamily="34" charset="-120"/>
              </a:rPr>
              <a:t>ONE ASSUMPTION CARRIES THIS PLAN</a:t>
            </a:r>
            <a:endParaRPr lang="en-US" sz="1300" dirty="0"/>
          </a:p>
        </p:txBody>
      </p:sp>
      <p:sp>
        <p:nvSpPr>
          <p:cNvPr id="3" name="Text 1"/>
          <p:cNvSpPr txBox="1"/>
          <p:nvPr/>
        </p:nvSpPr>
        <p:spPr>
          <a:xfrm>
            <a:off x="713232" y="1664208"/>
            <a:ext cx="8778240" cy="1645920"/>
          </a:xfrm>
          <a:prstGeom prst="rect">
            <a:avLst/>
          </a:prstGeom>
          <a:noFill/>
          <a:ln/>
        </p:spPr>
        <p:txBody>
          <a:bodyPr wrap="square" lIns="0" tIns="0" rIns="0" bIns="0" rtlCol="0" anchor="t"/>
          <a:lstStyle/>
          <a:p>
            <a:pPr marL="0" indent="0">
              <a:lnSpc>
                <a:spcPts val="4800"/>
              </a:lnSpc>
              <a:buNone/>
            </a:pPr>
            <a:r>
              <a:rPr lang="en-US" sz="4400" dirty="0">
                <a:solidFill>
                  <a:srgbClr val="F2F4F7"/>
                </a:solidFill>
                <a:latin typeface="Barlow Condensed" pitchFamily="34" charset="0"/>
                <a:ea typeface="Barlow Condensed" pitchFamily="34" charset="-122"/>
                <a:cs typeface="Barlow Condensed" pitchFamily="34" charset="-120"/>
              </a:rPr>
              <a:t>Will fans of a semi-professional</a:t>
            </a:r>
            <a:endParaRPr lang="en-US" sz="4400" dirty="0"/>
          </a:p>
          <a:p>
            <a:pPr marL="0" indent="0">
              <a:lnSpc>
                <a:spcPts val="4800"/>
              </a:lnSpc>
              <a:buNone/>
            </a:pPr>
            <a:r>
              <a:rPr lang="en-US" sz="4400" dirty="0">
                <a:solidFill>
                  <a:srgbClr val="F2F4F7"/>
                </a:solidFill>
                <a:latin typeface="Barlow Condensed" pitchFamily="34" charset="0"/>
                <a:ea typeface="Barlow Condensed" pitchFamily="34" charset="-122"/>
                <a:cs typeface="Barlow Condensed" pitchFamily="34" charset="-120"/>
              </a:rPr>
              <a:t>athlete actually pay?</a:t>
            </a:r>
            <a:endParaRPr lang="en-US" sz="4400" dirty="0"/>
          </a:p>
        </p:txBody>
      </p:sp>
      <p:sp>
        <p:nvSpPr>
          <p:cNvPr id="4" name="Text 2"/>
          <p:cNvSpPr txBox="1"/>
          <p:nvPr/>
        </p:nvSpPr>
        <p:spPr>
          <a:xfrm>
            <a:off x="713232" y="3401568"/>
            <a:ext cx="8412480" cy="731520"/>
          </a:xfrm>
          <a:prstGeom prst="rect">
            <a:avLst/>
          </a:prstGeom>
          <a:noFill/>
          <a:ln/>
        </p:spPr>
        <p:txBody>
          <a:bodyPr wrap="square" lIns="0" tIns="0" rIns="0" bIns="0" rtlCol="0" anchor="t"/>
          <a:lstStyle/>
          <a:p>
            <a:pPr marL="0" indent="0">
              <a:lnSpc>
                <a:spcPts val="2200"/>
              </a:lnSpc>
              <a:buNone/>
            </a:pPr>
            <a:r>
              <a:rPr lang="en-US" sz="1550" dirty="0">
                <a:solidFill>
                  <a:srgbClr val="AEB6C2"/>
                </a:solidFill>
                <a:latin typeface="Barlow" pitchFamily="34" charset="0"/>
                <a:ea typeface="Barlow" pitchFamily="34" charset="-122"/>
                <a:cs typeface="Barlow" pitchFamily="34" charset="-120"/>
              </a:rPr>
              <a:t>No interview answers it and no amount of further market sizing can. Only three months of real subscription revenue from one anchor athlete settles it, and that is exactly what the pre-seed buys.</a:t>
            </a:r>
            <a:endParaRPr lang="en-US" sz="1550" dirty="0"/>
          </a:p>
        </p:txBody>
      </p:sp>
      <p:sp>
        <p:nvSpPr>
          <p:cNvPr id="5" name="Shape 3"/>
          <p:cNvSpPr/>
          <p:nvPr/>
        </p:nvSpPr>
        <p:spPr>
          <a:xfrm>
            <a:off x="713232" y="4315968"/>
            <a:ext cx="3405530" cy="12802"/>
          </a:xfrm>
          <a:prstGeom prst="rect">
            <a:avLst/>
          </a:prstGeom>
          <a:solidFill>
            <a:srgbClr val="262C35"/>
          </a:solidFill>
          <a:ln w="12700">
            <a:solidFill>
              <a:srgbClr val="333333"/>
            </a:solidFill>
            <a:prstDash val="solid"/>
          </a:ln>
        </p:spPr>
      </p:sp>
      <p:sp>
        <p:nvSpPr>
          <p:cNvPr id="6" name="Text 4"/>
          <p:cNvSpPr txBox="1"/>
          <p:nvPr/>
        </p:nvSpPr>
        <p:spPr>
          <a:xfrm>
            <a:off x="713232" y="4443984"/>
            <a:ext cx="3405530" cy="201168"/>
          </a:xfrm>
          <a:prstGeom prst="rect">
            <a:avLst/>
          </a:prstGeom>
          <a:noFill/>
          <a:ln/>
        </p:spPr>
        <p:txBody>
          <a:bodyPr wrap="square" lIns="0" tIns="0" rIns="0" bIns="0" rtlCol="0" anchor="t"/>
          <a:lstStyle/>
          <a:p>
            <a:pPr marL="0" indent="0">
              <a:buNone/>
            </a:pPr>
            <a:r>
              <a:rPr lang="en-US" sz="1050" kern="0" spc="220" dirty="0">
                <a:solidFill>
                  <a:srgbClr val="828C9A"/>
                </a:solidFill>
                <a:latin typeface="Barlow Condensed" pitchFamily="34" charset="0"/>
                <a:ea typeface="Barlow Condensed" pitchFamily="34" charset="-122"/>
                <a:cs typeface="Barlow Condensed" pitchFamily="34" charset="-120"/>
              </a:rPr>
              <a:t>TESTED FOR</a:t>
            </a:r>
            <a:endParaRPr lang="en-US" sz="1050" dirty="0"/>
          </a:p>
        </p:txBody>
      </p:sp>
      <p:sp>
        <p:nvSpPr>
          <p:cNvPr id="7" name="Text 5"/>
          <p:cNvSpPr txBox="1"/>
          <p:nvPr/>
        </p:nvSpPr>
        <p:spPr>
          <a:xfrm>
            <a:off x="713232" y="4645152"/>
            <a:ext cx="3405530" cy="347472"/>
          </a:xfrm>
          <a:prstGeom prst="rect">
            <a:avLst/>
          </a:prstGeom>
          <a:noFill/>
          <a:ln/>
        </p:spPr>
        <p:txBody>
          <a:bodyPr wrap="square" lIns="0" tIns="0" rIns="0" bIns="0" rtlCol="0" anchor="t"/>
          <a:lstStyle/>
          <a:p>
            <a:pPr marL="0" indent="0">
              <a:buNone/>
            </a:pPr>
            <a:r>
              <a:rPr lang="en-US" sz="2100" dirty="0">
                <a:solidFill>
                  <a:srgbClr val="F2F4F7"/>
                </a:solidFill>
                <a:latin typeface="Barlow Condensed" pitchFamily="34" charset="0"/>
                <a:ea typeface="Barlow Condensed" pitchFamily="34" charset="-122"/>
                <a:cs typeface="Barlow Condensed" pitchFamily="34" charset="-120"/>
              </a:rPr>
              <a:t>€80k and one year</a:t>
            </a:r>
            <a:endParaRPr lang="en-US" sz="2100" dirty="0"/>
          </a:p>
        </p:txBody>
      </p:sp>
      <p:sp>
        <p:nvSpPr>
          <p:cNvPr id="8" name="Text 6"/>
          <p:cNvSpPr txBox="1"/>
          <p:nvPr/>
        </p:nvSpPr>
        <p:spPr>
          <a:xfrm>
            <a:off x="713232" y="5010912"/>
            <a:ext cx="3405530" cy="365760"/>
          </a:xfrm>
          <a:prstGeom prst="rect">
            <a:avLst/>
          </a:prstGeom>
          <a:noFill/>
          <a:ln/>
        </p:spPr>
        <p:txBody>
          <a:bodyPr wrap="square" lIns="0" tIns="0" rIns="0" bIns="0" rtlCol="0" anchor="t"/>
          <a:lstStyle/>
          <a:p>
            <a:pPr marL="0" indent="0">
              <a:lnSpc>
                <a:spcPts val="2200"/>
              </a:lnSpc>
              <a:buNone/>
            </a:pPr>
            <a:r>
              <a:rPr lang="en-US" sz="1150" dirty="0">
                <a:solidFill>
                  <a:srgbClr val="828C9A"/>
                </a:solidFill>
                <a:latin typeface="Barlow" pitchFamily="34" charset="0"/>
                <a:ea typeface="Barlow" pitchFamily="34" charset="-122"/>
                <a:cs typeface="Barlow" pitchFamily="34" charset="-120"/>
              </a:rPr>
              <a:t>rather than €2.6M and four</a:t>
            </a:r>
            <a:endParaRPr lang="en-US" sz="1150" dirty="0"/>
          </a:p>
        </p:txBody>
      </p:sp>
      <p:sp>
        <p:nvSpPr>
          <p:cNvPr id="9" name="Shape 7"/>
          <p:cNvSpPr/>
          <p:nvPr/>
        </p:nvSpPr>
        <p:spPr>
          <a:xfrm>
            <a:off x="4393082" y="4315968"/>
            <a:ext cx="3405530" cy="12802"/>
          </a:xfrm>
          <a:prstGeom prst="rect">
            <a:avLst/>
          </a:prstGeom>
          <a:solidFill>
            <a:srgbClr val="262C35"/>
          </a:solidFill>
          <a:ln w="12700">
            <a:solidFill>
              <a:srgbClr val="333333"/>
            </a:solidFill>
            <a:prstDash val="solid"/>
          </a:ln>
        </p:spPr>
      </p:sp>
      <p:sp>
        <p:nvSpPr>
          <p:cNvPr id="10" name="Text 8"/>
          <p:cNvSpPr txBox="1"/>
          <p:nvPr/>
        </p:nvSpPr>
        <p:spPr>
          <a:xfrm>
            <a:off x="4393082" y="4443984"/>
            <a:ext cx="3405530" cy="201168"/>
          </a:xfrm>
          <a:prstGeom prst="rect">
            <a:avLst/>
          </a:prstGeom>
          <a:noFill/>
          <a:ln/>
        </p:spPr>
        <p:txBody>
          <a:bodyPr wrap="square" lIns="0" tIns="0" rIns="0" bIns="0" rtlCol="0" anchor="t"/>
          <a:lstStyle/>
          <a:p>
            <a:pPr marL="0" indent="0">
              <a:buNone/>
            </a:pPr>
            <a:r>
              <a:rPr lang="en-US" sz="1050" kern="0" spc="220" dirty="0">
                <a:solidFill>
                  <a:srgbClr val="828C9A"/>
                </a:solidFill>
                <a:latin typeface="Barlow Condensed" pitchFamily="34" charset="0"/>
                <a:ea typeface="Barlow Condensed" pitchFamily="34" charset="-122"/>
                <a:cs typeface="Barlow Condensed" pitchFamily="34" charset="-120"/>
              </a:rPr>
              <a:t>IF IT FAILS</a:t>
            </a:r>
            <a:endParaRPr lang="en-US" sz="1050" dirty="0"/>
          </a:p>
        </p:txBody>
      </p:sp>
      <p:sp>
        <p:nvSpPr>
          <p:cNvPr id="11" name="Text 9"/>
          <p:cNvSpPr txBox="1"/>
          <p:nvPr/>
        </p:nvSpPr>
        <p:spPr>
          <a:xfrm>
            <a:off x="4393082" y="4645152"/>
            <a:ext cx="3405530" cy="347472"/>
          </a:xfrm>
          <a:prstGeom prst="rect">
            <a:avLst/>
          </a:prstGeom>
          <a:noFill/>
          <a:ln/>
        </p:spPr>
        <p:txBody>
          <a:bodyPr wrap="square" lIns="0" tIns="0" rIns="0" bIns="0" rtlCol="0" anchor="t"/>
          <a:lstStyle/>
          <a:p>
            <a:pPr marL="0" indent="0">
              <a:buNone/>
            </a:pPr>
            <a:r>
              <a:rPr lang="en-US" sz="2100" dirty="0">
                <a:solidFill>
                  <a:srgbClr val="F2F4F7"/>
                </a:solidFill>
                <a:latin typeface="Barlow Condensed" pitchFamily="34" charset="0"/>
                <a:ea typeface="Barlow Condensed" pitchFamily="34" charset="-122"/>
                <a:cs typeface="Barlow Condensed" pitchFamily="34" charset="-120"/>
              </a:rPr>
              <a:t>A smaller marketplace</a:t>
            </a:r>
            <a:endParaRPr lang="en-US" sz="2100" dirty="0"/>
          </a:p>
        </p:txBody>
      </p:sp>
      <p:sp>
        <p:nvSpPr>
          <p:cNvPr id="12" name="Text 10"/>
          <p:cNvSpPr txBox="1"/>
          <p:nvPr/>
        </p:nvSpPr>
        <p:spPr>
          <a:xfrm>
            <a:off x="4393082" y="5010912"/>
            <a:ext cx="3405530" cy="365760"/>
          </a:xfrm>
          <a:prstGeom prst="rect">
            <a:avLst/>
          </a:prstGeom>
          <a:noFill/>
          <a:ln/>
        </p:spPr>
        <p:txBody>
          <a:bodyPr wrap="square" lIns="0" tIns="0" rIns="0" bIns="0" rtlCol="0" anchor="t"/>
          <a:lstStyle/>
          <a:p>
            <a:pPr marL="0" indent="0">
              <a:lnSpc>
                <a:spcPts val="2200"/>
              </a:lnSpc>
              <a:buNone/>
            </a:pPr>
            <a:r>
              <a:rPr lang="en-US" sz="1150" dirty="0">
                <a:solidFill>
                  <a:srgbClr val="828C9A"/>
                </a:solidFill>
                <a:latin typeface="Barlow" pitchFamily="34" charset="0"/>
                <a:ea typeface="Barlow" pitchFamily="34" charset="-122"/>
                <a:cs typeface="Barlow" pitchFamily="34" charset="-120"/>
              </a:rPr>
              <a:t>viable, but a different company</a:t>
            </a:r>
            <a:endParaRPr lang="en-US" sz="1150" dirty="0"/>
          </a:p>
        </p:txBody>
      </p:sp>
      <p:sp>
        <p:nvSpPr>
          <p:cNvPr id="13" name="Shape 11"/>
          <p:cNvSpPr/>
          <p:nvPr/>
        </p:nvSpPr>
        <p:spPr>
          <a:xfrm>
            <a:off x="8072933" y="4315968"/>
            <a:ext cx="3405530" cy="12802"/>
          </a:xfrm>
          <a:prstGeom prst="rect">
            <a:avLst/>
          </a:prstGeom>
          <a:solidFill>
            <a:srgbClr val="262C35"/>
          </a:solidFill>
          <a:ln w="12700">
            <a:solidFill>
              <a:srgbClr val="333333"/>
            </a:solidFill>
            <a:prstDash val="solid"/>
          </a:ln>
        </p:spPr>
      </p:sp>
      <p:sp>
        <p:nvSpPr>
          <p:cNvPr id="14" name="Text 12"/>
          <p:cNvSpPr txBox="1"/>
          <p:nvPr/>
        </p:nvSpPr>
        <p:spPr>
          <a:xfrm>
            <a:off x="8072933" y="4443984"/>
            <a:ext cx="3405530" cy="201168"/>
          </a:xfrm>
          <a:prstGeom prst="rect">
            <a:avLst/>
          </a:prstGeom>
          <a:noFill/>
          <a:ln/>
        </p:spPr>
        <p:txBody>
          <a:bodyPr wrap="square" lIns="0" tIns="0" rIns="0" bIns="0" rtlCol="0" anchor="t"/>
          <a:lstStyle/>
          <a:p>
            <a:pPr marL="0" indent="0">
              <a:buNone/>
            </a:pPr>
            <a:r>
              <a:rPr lang="en-US" sz="1050" kern="0" spc="220" dirty="0">
                <a:solidFill>
                  <a:srgbClr val="828C9A"/>
                </a:solidFill>
                <a:latin typeface="Barlow Condensed" pitchFamily="34" charset="0"/>
                <a:ea typeface="Barlow Condensed" pitchFamily="34" charset="-122"/>
                <a:cs typeface="Barlow Condensed" pitchFamily="34" charset="-120"/>
              </a:rPr>
              <a:t>EVERYTHING ELSE</a:t>
            </a:r>
            <a:endParaRPr lang="en-US" sz="1050" dirty="0"/>
          </a:p>
        </p:txBody>
      </p:sp>
      <p:sp>
        <p:nvSpPr>
          <p:cNvPr id="15" name="Text 13"/>
          <p:cNvSpPr txBox="1"/>
          <p:nvPr/>
        </p:nvSpPr>
        <p:spPr>
          <a:xfrm>
            <a:off x="8072933" y="4645152"/>
            <a:ext cx="3405530" cy="347472"/>
          </a:xfrm>
          <a:prstGeom prst="rect">
            <a:avLst/>
          </a:prstGeom>
          <a:noFill/>
          <a:ln/>
        </p:spPr>
        <p:txBody>
          <a:bodyPr wrap="square" lIns="0" tIns="0" rIns="0" bIns="0" rtlCol="0" anchor="t"/>
          <a:lstStyle/>
          <a:p>
            <a:pPr marL="0" indent="0">
              <a:buNone/>
            </a:pPr>
            <a:r>
              <a:rPr lang="en-US" sz="2100" dirty="0">
                <a:solidFill>
                  <a:srgbClr val="FFB020"/>
                </a:solidFill>
                <a:latin typeface="Barlow Condensed" pitchFamily="34" charset="0"/>
                <a:ea typeface="Barlow Condensed" pitchFamily="34" charset="-122"/>
                <a:cs typeface="Barlow Condensed" pitchFamily="34" charset="-120"/>
              </a:rPr>
              <a:t>Already done</a:t>
            </a:r>
            <a:endParaRPr lang="en-US" sz="2100" dirty="0"/>
          </a:p>
        </p:txBody>
      </p:sp>
      <p:sp>
        <p:nvSpPr>
          <p:cNvPr id="16" name="Text 14"/>
          <p:cNvSpPr txBox="1"/>
          <p:nvPr/>
        </p:nvSpPr>
        <p:spPr>
          <a:xfrm>
            <a:off x="8072933" y="5010912"/>
            <a:ext cx="3405530" cy="365760"/>
          </a:xfrm>
          <a:prstGeom prst="rect">
            <a:avLst/>
          </a:prstGeom>
          <a:noFill/>
          <a:ln/>
        </p:spPr>
        <p:txBody>
          <a:bodyPr wrap="square" lIns="0" tIns="0" rIns="0" bIns="0" rtlCol="0" anchor="t"/>
          <a:lstStyle/>
          <a:p>
            <a:pPr marL="0" indent="0">
              <a:lnSpc>
                <a:spcPts val="2200"/>
              </a:lnSpc>
              <a:buNone/>
            </a:pPr>
            <a:r>
              <a:rPr lang="en-US" sz="1150" dirty="0">
                <a:solidFill>
                  <a:srgbClr val="828C9A"/>
                </a:solidFill>
                <a:latin typeface="Barlow" pitchFamily="34" charset="0"/>
                <a:ea typeface="Barlow" pitchFamily="34" charset="-122"/>
                <a:cs typeface="Barlow" pitchFamily="34" charset="-120"/>
              </a:rPr>
              <a:t>built, deployed and demonstrable</a:t>
            </a:r>
            <a:endParaRPr lang="en-US" sz="1150" dirty="0"/>
          </a:p>
        </p:txBody>
      </p:sp>
      <p:sp>
        <p:nvSpPr>
          <p:cNvPr id="17" name="Shape 15"/>
          <p:cNvSpPr/>
          <p:nvPr/>
        </p:nvSpPr>
        <p:spPr>
          <a:xfrm>
            <a:off x="713232" y="5856585"/>
            <a:ext cx="156754" cy="25603"/>
          </a:xfrm>
          <a:prstGeom prst="rect">
            <a:avLst/>
          </a:prstGeom>
          <a:solidFill>
            <a:srgbClr val="FFB020"/>
          </a:solidFill>
          <a:ln w="12700">
            <a:solidFill>
              <a:srgbClr val="333333"/>
            </a:solidFill>
            <a:prstDash val="solid"/>
          </a:ln>
        </p:spPr>
      </p:sp>
      <p:sp>
        <p:nvSpPr>
          <p:cNvPr id="18" name="Text 16"/>
          <p:cNvSpPr txBox="1"/>
          <p:nvPr/>
        </p:nvSpPr>
        <p:spPr>
          <a:xfrm>
            <a:off x="954392" y="5715000"/>
            <a:ext cx="3135086" cy="422031"/>
          </a:xfrm>
          <a:prstGeom prst="rect">
            <a:avLst/>
          </a:prstGeom>
          <a:noFill/>
          <a:ln/>
        </p:spPr>
        <p:txBody>
          <a:bodyPr wrap="square" lIns="0" tIns="0" rIns="0" bIns="0" rtlCol="0" anchor="t"/>
          <a:lstStyle/>
          <a:p>
            <a:pPr marL="0" indent="0">
              <a:buNone/>
            </a:pPr>
            <a:r>
              <a:rPr lang="en-US" sz="2400" kern="0" spc="171" dirty="0">
                <a:solidFill>
                  <a:srgbClr val="F2F4F7"/>
                </a:solidFill>
                <a:latin typeface="Barlow Condensed" pitchFamily="34" charset="0"/>
                <a:ea typeface="Barlow Condensed" pitchFamily="34" charset="-122"/>
                <a:cs typeface="Barlow Condensed" pitchFamily="34" charset="-120"/>
              </a:rPr>
              <a:t>STRIDE</a:t>
            </a:r>
            <a:endParaRPr lang="en-US" sz="2400" dirty="0"/>
          </a:p>
        </p:txBody>
      </p:sp>
      <p:sp>
        <p:nvSpPr>
          <p:cNvPr id="19" name="Text 17"/>
          <p:cNvSpPr txBox="1"/>
          <p:nvPr/>
        </p:nvSpPr>
        <p:spPr>
          <a:xfrm>
            <a:off x="7820863" y="5760720"/>
            <a:ext cx="3657600" cy="310896"/>
          </a:xfrm>
          <a:prstGeom prst="rect">
            <a:avLst/>
          </a:prstGeom>
          <a:noFill/>
          <a:ln/>
        </p:spPr>
        <p:txBody>
          <a:bodyPr wrap="square" lIns="0" tIns="0" rIns="0" bIns="0" rtlCol="0" anchor="t"/>
          <a:lstStyle/>
          <a:p>
            <a:pPr marL="0" indent="0" algn="r">
              <a:buNone/>
            </a:pPr>
            <a:r>
              <a:rPr lang="en-US" sz="1600" dirty="0">
                <a:solidFill>
                  <a:srgbClr val="FFB020"/>
                </a:solidFill>
                <a:latin typeface="Barlow Condensed" pitchFamily="34" charset="0"/>
                <a:ea typeface="Barlow Condensed" pitchFamily="34" charset="-122"/>
                <a:cs typeface="Barlow Condensed" pitchFamily="34" charset="-120"/>
              </a:rPr>
              <a:t>stride-demo.onrender.com</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713232" y="2834640"/>
            <a:ext cx="10765231" cy="365760"/>
          </a:xfrm>
          <a:prstGeom prst="rect">
            <a:avLst/>
          </a:prstGeom>
          <a:noFill/>
          <a:ln/>
        </p:spPr>
        <p:txBody>
          <a:bodyPr wrap="square" lIns="0" tIns="0" rIns="0" bIns="0" rtlCol="0" anchor="t"/>
          <a:lstStyle/>
          <a:p>
            <a:pPr marL="0" indent="0">
              <a:buNone/>
            </a:pPr>
            <a:r>
              <a:rPr lang="en-US" sz="1500" kern="0" spc="340" dirty="0">
                <a:solidFill>
                  <a:srgbClr val="FFB020"/>
                </a:solidFill>
                <a:latin typeface="Barlow Condensed" pitchFamily="34" charset="0"/>
                <a:ea typeface="Barlow Condensed" pitchFamily="34" charset="-122"/>
                <a:cs typeface="Barlow Condensed" pitchFamily="34" charset="-120"/>
              </a:rPr>
              <a:t>BACKUP</a:t>
            </a:r>
            <a:endParaRPr lang="en-US" sz="1500" dirty="0"/>
          </a:p>
        </p:txBody>
      </p:sp>
      <p:sp>
        <p:nvSpPr>
          <p:cNvPr id="3" name="Text 1"/>
          <p:cNvSpPr txBox="1"/>
          <p:nvPr/>
        </p:nvSpPr>
        <p:spPr>
          <a:xfrm>
            <a:off x="713232" y="3218688"/>
            <a:ext cx="10765231" cy="731520"/>
          </a:xfrm>
          <a:prstGeom prst="rect">
            <a:avLst/>
          </a:prstGeom>
          <a:noFill/>
          <a:ln/>
        </p:spPr>
        <p:txBody>
          <a:bodyPr wrap="square" lIns="0" tIns="0" rIns="0" bIns="0" rtlCol="0" anchor="t"/>
          <a:lstStyle/>
          <a:p>
            <a:pPr marL="0" indent="0">
              <a:buNone/>
            </a:pPr>
            <a:r>
              <a:rPr lang="en-US" sz="4000" dirty="0">
                <a:solidFill>
                  <a:srgbClr val="F2F4F7"/>
                </a:solidFill>
                <a:latin typeface="Barlow Condensed" pitchFamily="34" charset="0"/>
                <a:ea typeface="Barlow Condensed" pitchFamily="34" charset="-122"/>
                <a:cs typeface="Barlow Condensed" pitchFamily="34" charset="-120"/>
              </a:rPr>
              <a:t>Held for questions</a:t>
            </a:r>
            <a:endParaRPr lang="en-US" sz="4000" dirty="0"/>
          </a:p>
        </p:txBody>
      </p:sp>
      <p:sp>
        <p:nvSpPr>
          <p:cNvPr id="4" name="Text 2"/>
          <p:cNvSpPr txBox="1"/>
          <p:nvPr/>
        </p:nvSpPr>
        <p:spPr>
          <a:xfrm>
            <a:off x="713232" y="3977640"/>
            <a:ext cx="9509760" cy="640080"/>
          </a:xfrm>
          <a:prstGeom prst="rect">
            <a:avLst/>
          </a:prstGeom>
          <a:noFill/>
          <a:ln/>
        </p:spPr>
        <p:txBody>
          <a:bodyPr wrap="square" lIns="0" tIns="0" rIns="0" bIns="0" rtlCol="0" anchor="t"/>
          <a:lstStyle/>
          <a:p>
            <a:pPr marL="0" indent="0">
              <a:lnSpc>
                <a:spcPts val="2200"/>
              </a:lnSpc>
              <a:buNone/>
            </a:pPr>
            <a:r>
              <a:rPr lang="en-US" sz="1400" dirty="0">
                <a:solidFill>
                  <a:srgbClr val="828C9A"/>
                </a:solidFill>
                <a:latin typeface="Barlow" pitchFamily="34" charset="0"/>
                <a:ea typeface="Barlow" pitchFamily="34" charset="-122"/>
                <a:cs typeface="Barlow" pitchFamily="34" charset="-120"/>
              </a:rPr>
              <a:t>The four steps, the matching arithmetic, how we differ from the data companies, pricing, scenarios, risk, valuation and the admission gate.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BACKUP, MECHANICS</a:t>
            </a:r>
            <a:endParaRPr lang="en-US" sz="1250" dirty="0"/>
          </a:p>
        </p:txBody>
      </p:sp>
      <p:sp>
        <p:nvSpPr>
          <p:cNvPr id="3" name="Text 1"/>
          <p:cNvSpPr txBox="1"/>
          <p:nvPr/>
        </p:nvSpPr>
        <p:spPr>
          <a:xfrm>
            <a:off x="713232" y="786384"/>
            <a:ext cx="10765231" cy="685800"/>
          </a:xfrm>
          <a:prstGeom prst="rect">
            <a:avLst/>
          </a:prstGeom>
          <a:noFill/>
          <a:ln/>
        </p:spPr>
        <p:txBody>
          <a:bodyPr wrap="square" lIns="0" tIns="0" rIns="0" bIns="0" rtlCol="0" anchor="t"/>
          <a:lstStyle/>
          <a:p>
            <a:pPr marL="0" indent="0">
              <a:lnSpc>
                <a:spcPts val="3800"/>
              </a:lnSpc>
              <a:buNone/>
            </a:pPr>
            <a:r>
              <a:rPr lang="en-US" sz="3200" dirty="0">
                <a:solidFill>
                  <a:srgbClr val="F2F4F7"/>
                </a:solidFill>
                <a:latin typeface="Barlow Condensed" pitchFamily="34" charset="0"/>
                <a:ea typeface="Barlow Condensed" pitchFamily="34" charset="-122"/>
                <a:cs typeface="Barlow Condensed" pitchFamily="34" charset="-120"/>
              </a:rPr>
              <a:t>Four steps, and a rule that holds all four together</a:t>
            </a:r>
            <a:endParaRPr lang="en-US" sz="3200" dirty="0"/>
          </a:p>
        </p:txBody>
      </p:sp>
      <p:sp>
        <p:nvSpPr>
          <p:cNvPr id="4" name="Text 2"/>
          <p:cNvSpPr txBox="1"/>
          <p:nvPr/>
        </p:nvSpPr>
        <p:spPr>
          <a:xfrm>
            <a:off x="713232" y="1536192"/>
            <a:ext cx="10765231" cy="411480"/>
          </a:xfrm>
          <a:prstGeom prst="rect">
            <a:avLst/>
          </a:prstGeom>
          <a:noFill/>
          <a:ln/>
        </p:spPr>
        <p:txBody>
          <a:bodyPr wrap="square" lIns="0" tIns="0" rIns="0" bIns="0" rtlCol="0" anchor="t"/>
          <a:lstStyle/>
          <a:p>
            <a:pPr marL="0" indent="0">
              <a:lnSpc>
                <a:spcPts val="2200"/>
              </a:lnSpc>
              <a:buNone/>
            </a:pPr>
            <a:r>
              <a:rPr lang="en-US" sz="1400" dirty="0">
                <a:solidFill>
                  <a:srgbClr val="AEB6C2"/>
                </a:solidFill>
                <a:latin typeface="Barlow" pitchFamily="34" charset="0"/>
                <a:ea typeface="Barlow" pitchFamily="34" charset="-122"/>
                <a:cs typeface="Barlow" pitchFamily="34" charset="-120"/>
              </a:rPr>
              <a:t>How an athlete gets in, gets scored, gets matched and gets paid.</a:t>
            </a:r>
            <a:endParaRPr lang="en-US" sz="1400" dirty="0"/>
          </a:p>
        </p:txBody>
      </p:sp>
      <p:sp>
        <p:nvSpPr>
          <p:cNvPr id="5" name="Shape 3"/>
          <p:cNvSpPr/>
          <p:nvPr/>
        </p:nvSpPr>
        <p:spPr>
          <a:xfrm>
            <a:off x="713232" y="2011680"/>
            <a:ext cx="2519858" cy="2487168"/>
          </a:xfrm>
          <a:prstGeom prst="roundRect">
            <a:avLst>
              <a:gd name="adj" fmla="val 1471"/>
            </a:avLst>
          </a:prstGeom>
          <a:solidFill>
            <a:srgbClr val="171A20"/>
          </a:solidFill>
          <a:ln w="9525">
            <a:solidFill>
              <a:srgbClr val="262C35"/>
            </a:solidFill>
            <a:prstDash val="solid"/>
          </a:ln>
        </p:spPr>
      </p:sp>
      <p:sp>
        <p:nvSpPr>
          <p:cNvPr id="6" name="Text 4"/>
          <p:cNvSpPr txBox="1"/>
          <p:nvPr/>
        </p:nvSpPr>
        <p:spPr>
          <a:xfrm>
            <a:off x="950976" y="2194560"/>
            <a:ext cx="2044370" cy="475488"/>
          </a:xfrm>
          <a:prstGeom prst="rect">
            <a:avLst/>
          </a:prstGeom>
          <a:noFill/>
          <a:ln/>
        </p:spPr>
        <p:txBody>
          <a:bodyPr wrap="square" lIns="0" tIns="0" rIns="0" bIns="0" rtlCol="0" anchor="t"/>
          <a:lstStyle/>
          <a:p>
            <a:pPr marL="0" indent="0">
              <a:buNone/>
            </a:pPr>
            <a:r>
              <a:rPr lang="en-US" sz="3400" dirty="0">
                <a:solidFill>
                  <a:srgbClr val="FFB020"/>
                </a:solidFill>
                <a:latin typeface="Barlow Condensed" pitchFamily="34" charset="0"/>
                <a:ea typeface="Barlow Condensed" pitchFamily="34" charset="-122"/>
                <a:cs typeface="Barlow Condensed" pitchFamily="34" charset="-120"/>
              </a:rPr>
              <a:t>01</a:t>
            </a:r>
            <a:endParaRPr lang="en-US" sz="3400" dirty="0"/>
          </a:p>
        </p:txBody>
      </p:sp>
      <p:sp>
        <p:nvSpPr>
          <p:cNvPr id="7" name="Text 5"/>
          <p:cNvSpPr txBox="1"/>
          <p:nvPr/>
        </p:nvSpPr>
        <p:spPr>
          <a:xfrm>
            <a:off x="950976" y="2670048"/>
            <a:ext cx="2044370" cy="256032"/>
          </a:xfrm>
          <a:prstGeom prst="rect">
            <a:avLst/>
          </a:prstGeom>
          <a:noFill/>
          <a:ln/>
        </p:spPr>
        <p:txBody>
          <a:bodyPr wrap="square" lIns="0" tIns="0" rIns="0" bIns="0" rtlCol="0" anchor="t"/>
          <a:lstStyle/>
          <a:p>
            <a:pPr marL="0" indent="0">
              <a:buNone/>
            </a:pPr>
            <a:r>
              <a:rPr lang="en-US" sz="1600" kern="0" spc="200" dirty="0">
                <a:solidFill>
                  <a:srgbClr val="F2F4F7"/>
                </a:solidFill>
                <a:latin typeface="Barlow Condensed" pitchFamily="34" charset="0"/>
                <a:ea typeface="Barlow Condensed" pitchFamily="34" charset="-122"/>
                <a:cs typeface="Barlow Condensed" pitchFamily="34" charset="-120"/>
              </a:rPr>
              <a:t>APPLY</a:t>
            </a:r>
            <a:endParaRPr lang="en-US" sz="1600" dirty="0"/>
          </a:p>
        </p:txBody>
      </p:sp>
      <p:sp>
        <p:nvSpPr>
          <p:cNvPr id="8" name="Text 6"/>
          <p:cNvSpPr txBox="1"/>
          <p:nvPr/>
        </p:nvSpPr>
        <p:spPr>
          <a:xfrm>
            <a:off x="950976" y="2980944"/>
            <a:ext cx="2044370" cy="1371600"/>
          </a:xfrm>
          <a:prstGeom prst="rect">
            <a:avLst/>
          </a:prstGeom>
          <a:noFill/>
          <a:ln/>
        </p:spPr>
        <p:txBody>
          <a:bodyPr wrap="square" lIns="0" tIns="0" rIns="0" bIns="0" rtlCol="0" anchor="t"/>
          <a:lstStyle/>
          <a:p>
            <a:pPr marL="0" indent="0">
              <a:lnSpc>
                <a:spcPts val="1700"/>
              </a:lnSpc>
              <a:buNone/>
            </a:pPr>
            <a:r>
              <a:rPr lang="en-US" sz="1250" dirty="0">
                <a:solidFill>
                  <a:srgbClr val="AEB6C2"/>
                </a:solidFill>
                <a:latin typeface="Barlow" pitchFamily="34" charset="0"/>
                <a:ea typeface="Barlow" pitchFamily="34" charset="-122"/>
                <a:cs typeface="Barlow" pitchFamily="34" charset="-120"/>
              </a:rPr>
              <a:t>The athlete connects their platforms and applies. Proof is checked automatically, then a person decides. A club can nominate a whole roster as a second route.</a:t>
            </a:r>
            <a:endParaRPr lang="en-US" sz="1250" dirty="0"/>
          </a:p>
        </p:txBody>
      </p:sp>
      <p:sp>
        <p:nvSpPr>
          <p:cNvPr id="9" name="Shape 7"/>
          <p:cNvSpPr/>
          <p:nvPr/>
        </p:nvSpPr>
        <p:spPr>
          <a:xfrm>
            <a:off x="3461690" y="2011680"/>
            <a:ext cx="2519858" cy="2487168"/>
          </a:xfrm>
          <a:prstGeom prst="roundRect">
            <a:avLst>
              <a:gd name="adj" fmla="val 1471"/>
            </a:avLst>
          </a:prstGeom>
          <a:solidFill>
            <a:srgbClr val="171A20"/>
          </a:solidFill>
          <a:ln w="9525">
            <a:solidFill>
              <a:srgbClr val="262C35"/>
            </a:solidFill>
            <a:prstDash val="solid"/>
          </a:ln>
        </p:spPr>
      </p:sp>
      <p:sp>
        <p:nvSpPr>
          <p:cNvPr id="10" name="Text 8"/>
          <p:cNvSpPr txBox="1"/>
          <p:nvPr/>
        </p:nvSpPr>
        <p:spPr>
          <a:xfrm>
            <a:off x="3699434" y="2194560"/>
            <a:ext cx="2044370" cy="475488"/>
          </a:xfrm>
          <a:prstGeom prst="rect">
            <a:avLst/>
          </a:prstGeom>
          <a:noFill/>
          <a:ln/>
        </p:spPr>
        <p:txBody>
          <a:bodyPr wrap="square" lIns="0" tIns="0" rIns="0" bIns="0" rtlCol="0" anchor="t"/>
          <a:lstStyle/>
          <a:p>
            <a:pPr marL="0" indent="0">
              <a:buNone/>
            </a:pPr>
            <a:r>
              <a:rPr lang="en-US" sz="3400" dirty="0">
                <a:solidFill>
                  <a:srgbClr val="FFB020"/>
                </a:solidFill>
                <a:latin typeface="Barlow Condensed" pitchFamily="34" charset="0"/>
                <a:ea typeface="Barlow Condensed" pitchFamily="34" charset="-122"/>
                <a:cs typeface="Barlow Condensed" pitchFamily="34" charset="-120"/>
              </a:rPr>
              <a:t>02</a:t>
            </a:r>
            <a:endParaRPr lang="en-US" sz="3400" dirty="0"/>
          </a:p>
        </p:txBody>
      </p:sp>
      <p:sp>
        <p:nvSpPr>
          <p:cNvPr id="11" name="Text 9"/>
          <p:cNvSpPr txBox="1"/>
          <p:nvPr/>
        </p:nvSpPr>
        <p:spPr>
          <a:xfrm>
            <a:off x="3699434" y="2670048"/>
            <a:ext cx="2044370" cy="256032"/>
          </a:xfrm>
          <a:prstGeom prst="rect">
            <a:avLst/>
          </a:prstGeom>
          <a:noFill/>
          <a:ln/>
        </p:spPr>
        <p:txBody>
          <a:bodyPr wrap="square" lIns="0" tIns="0" rIns="0" bIns="0" rtlCol="0" anchor="t"/>
          <a:lstStyle/>
          <a:p>
            <a:pPr marL="0" indent="0">
              <a:buNone/>
            </a:pPr>
            <a:r>
              <a:rPr lang="en-US" sz="1600" kern="0" spc="200" dirty="0">
                <a:solidFill>
                  <a:srgbClr val="F2F4F7"/>
                </a:solidFill>
                <a:latin typeface="Barlow Condensed" pitchFamily="34" charset="0"/>
                <a:ea typeface="Barlow Condensed" pitchFamily="34" charset="-122"/>
                <a:cs typeface="Barlow Condensed" pitchFamily="34" charset="-120"/>
              </a:rPr>
              <a:t>SCORE</a:t>
            </a:r>
            <a:endParaRPr lang="en-US" sz="1600" dirty="0"/>
          </a:p>
        </p:txBody>
      </p:sp>
      <p:sp>
        <p:nvSpPr>
          <p:cNvPr id="12" name="Text 10"/>
          <p:cNvSpPr txBox="1"/>
          <p:nvPr/>
        </p:nvSpPr>
        <p:spPr>
          <a:xfrm>
            <a:off x="3699434" y="2980944"/>
            <a:ext cx="2044370" cy="1371600"/>
          </a:xfrm>
          <a:prstGeom prst="rect">
            <a:avLst/>
          </a:prstGeom>
          <a:noFill/>
          <a:ln/>
        </p:spPr>
        <p:txBody>
          <a:bodyPr wrap="square" lIns="0" tIns="0" rIns="0" bIns="0" rtlCol="0" anchor="t"/>
          <a:lstStyle/>
          <a:p>
            <a:pPr marL="0" indent="0">
              <a:lnSpc>
                <a:spcPts val="1700"/>
              </a:lnSpc>
              <a:buNone/>
            </a:pPr>
            <a:r>
              <a:rPr lang="en-US" sz="1250" dirty="0">
                <a:solidFill>
                  <a:srgbClr val="AEB6C2"/>
                </a:solidFill>
                <a:latin typeface="Barlow" pitchFamily="34" charset="0"/>
                <a:ea typeface="Barlow" pitchFamily="34" charset="-122"/>
                <a:cs typeface="Barlow" pitchFamily="34" charset="-120"/>
              </a:rPr>
              <a:t>Marketability is the mean of five computed dimensions, each traceable to the posts behind it, and every score version is kept.</a:t>
            </a:r>
            <a:endParaRPr lang="en-US" sz="1250" dirty="0"/>
          </a:p>
        </p:txBody>
      </p:sp>
      <p:sp>
        <p:nvSpPr>
          <p:cNvPr id="13" name="Shape 11"/>
          <p:cNvSpPr/>
          <p:nvPr/>
        </p:nvSpPr>
        <p:spPr>
          <a:xfrm>
            <a:off x="6210148" y="2011680"/>
            <a:ext cx="2519858" cy="2487168"/>
          </a:xfrm>
          <a:prstGeom prst="roundRect">
            <a:avLst>
              <a:gd name="adj" fmla="val 1471"/>
            </a:avLst>
          </a:prstGeom>
          <a:solidFill>
            <a:srgbClr val="171A20"/>
          </a:solidFill>
          <a:ln w="9525">
            <a:solidFill>
              <a:srgbClr val="262C35"/>
            </a:solidFill>
            <a:prstDash val="solid"/>
          </a:ln>
        </p:spPr>
      </p:sp>
      <p:sp>
        <p:nvSpPr>
          <p:cNvPr id="14" name="Text 12"/>
          <p:cNvSpPr txBox="1"/>
          <p:nvPr/>
        </p:nvSpPr>
        <p:spPr>
          <a:xfrm>
            <a:off x="6447892" y="2194560"/>
            <a:ext cx="2044370" cy="475488"/>
          </a:xfrm>
          <a:prstGeom prst="rect">
            <a:avLst/>
          </a:prstGeom>
          <a:noFill/>
          <a:ln/>
        </p:spPr>
        <p:txBody>
          <a:bodyPr wrap="square" lIns="0" tIns="0" rIns="0" bIns="0" rtlCol="0" anchor="t"/>
          <a:lstStyle/>
          <a:p>
            <a:pPr marL="0" indent="0">
              <a:buNone/>
            </a:pPr>
            <a:r>
              <a:rPr lang="en-US" sz="3400" dirty="0">
                <a:solidFill>
                  <a:srgbClr val="FFB020"/>
                </a:solidFill>
                <a:latin typeface="Barlow Condensed" pitchFamily="34" charset="0"/>
                <a:ea typeface="Barlow Condensed" pitchFamily="34" charset="-122"/>
                <a:cs typeface="Barlow Condensed" pitchFamily="34" charset="-120"/>
              </a:rPr>
              <a:t>03</a:t>
            </a:r>
            <a:endParaRPr lang="en-US" sz="3400" dirty="0"/>
          </a:p>
        </p:txBody>
      </p:sp>
      <p:sp>
        <p:nvSpPr>
          <p:cNvPr id="15" name="Text 13"/>
          <p:cNvSpPr txBox="1"/>
          <p:nvPr/>
        </p:nvSpPr>
        <p:spPr>
          <a:xfrm>
            <a:off x="6447892" y="2670048"/>
            <a:ext cx="2044370" cy="256032"/>
          </a:xfrm>
          <a:prstGeom prst="rect">
            <a:avLst/>
          </a:prstGeom>
          <a:noFill/>
          <a:ln/>
        </p:spPr>
        <p:txBody>
          <a:bodyPr wrap="square" lIns="0" tIns="0" rIns="0" bIns="0" rtlCol="0" anchor="t"/>
          <a:lstStyle/>
          <a:p>
            <a:pPr marL="0" indent="0">
              <a:buNone/>
            </a:pPr>
            <a:r>
              <a:rPr lang="en-US" sz="1600" kern="0" spc="200" dirty="0">
                <a:solidFill>
                  <a:srgbClr val="F2F4F7"/>
                </a:solidFill>
                <a:latin typeface="Barlow Condensed" pitchFamily="34" charset="0"/>
                <a:ea typeface="Barlow Condensed" pitchFamily="34" charset="-122"/>
                <a:cs typeface="Barlow Condensed" pitchFamily="34" charset="-120"/>
              </a:rPr>
              <a:t>MATCH</a:t>
            </a:r>
            <a:endParaRPr lang="en-US" sz="1600" dirty="0"/>
          </a:p>
        </p:txBody>
      </p:sp>
      <p:sp>
        <p:nvSpPr>
          <p:cNvPr id="16" name="Text 14"/>
          <p:cNvSpPr txBox="1"/>
          <p:nvPr/>
        </p:nvSpPr>
        <p:spPr>
          <a:xfrm>
            <a:off x="6447892" y="2980944"/>
            <a:ext cx="2044370" cy="1371600"/>
          </a:xfrm>
          <a:prstGeom prst="rect">
            <a:avLst/>
          </a:prstGeom>
          <a:noFill/>
          <a:ln/>
        </p:spPr>
        <p:txBody>
          <a:bodyPr wrap="square" lIns="0" tIns="0" rIns="0" bIns="0" rtlCol="0" anchor="t"/>
          <a:lstStyle/>
          <a:p>
            <a:pPr marL="0" indent="0">
              <a:lnSpc>
                <a:spcPts val="1700"/>
              </a:lnSpc>
              <a:buNone/>
            </a:pPr>
            <a:r>
              <a:rPr lang="en-US" sz="1250" dirty="0">
                <a:solidFill>
                  <a:srgbClr val="AEB6C2"/>
                </a:solidFill>
                <a:latin typeface="Barlow" pitchFamily="34" charset="0"/>
                <a:ea typeface="Barlow" pitchFamily="34" charset="-122"/>
                <a:cs typeface="Barlow" pitchFamily="34" charset="-120"/>
              </a:rPr>
              <a:t>A sponsor briefs a campaign, and the match is scored on eight weighted components, each one decomposed: audience fit 72 × 32% = 23.1.</a:t>
            </a:r>
            <a:endParaRPr lang="en-US" sz="1250" dirty="0"/>
          </a:p>
        </p:txBody>
      </p:sp>
      <p:sp>
        <p:nvSpPr>
          <p:cNvPr id="17" name="Shape 15"/>
          <p:cNvSpPr/>
          <p:nvPr/>
        </p:nvSpPr>
        <p:spPr>
          <a:xfrm>
            <a:off x="8958605" y="2011680"/>
            <a:ext cx="2519858" cy="2487168"/>
          </a:xfrm>
          <a:prstGeom prst="roundRect">
            <a:avLst>
              <a:gd name="adj" fmla="val 1471"/>
            </a:avLst>
          </a:prstGeom>
          <a:solidFill>
            <a:srgbClr val="171A20"/>
          </a:solidFill>
          <a:ln w="9525">
            <a:solidFill>
              <a:srgbClr val="262C35"/>
            </a:solidFill>
            <a:prstDash val="solid"/>
          </a:ln>
        </p:spPr>
      </p:sp>
      <p:sp>
        <p:nvSpPr>
          <p:cNvPr id="18" name="Text 16"/>
          <p:cNvSpPr txBox="1"/>
          <p:nvPr/>
        </p:nvSpPr>
        <p:spPr>
          <a:xfrm>
            <a:off x="9196349" y="2194560"/>
            <a:ext cx="2044370" cy="475488"/>
          </a:xfrm>
          <a:prstGeom prst="rect">
            <a:avLst/>
          </a:prstGeom>
          <a:noFill/>
          <a:ln/>
        </p:spPr>
        <p:txBody>
          <a:bodyPr wrap="square" lIns="0" tIns="0" rIns="0" bIns="0" rtlCol="0" anchor="t"/>
          <a:lstStyle/>
          <a:p>
            <a:pPr marL="0" indent="0">
              <a:buNone/>
            </a:pPr>
            <a:r>
              <a:rPr lang="en-US" sz="3400" dirty="0">
                <a:solidFill>
                  <a:srgbClr val="FFB020"/>
                </a:solidFill>
                <a:latin typeface="Barlow Condensed" pitchFamily="34" charset="0"/>
                <a:ea typeface="Barlow Condensed" pitchFamily="34" charset="-122"/>
                <a:cs typeface="Barlow Condensed" pitchFamily="34" charset="-120"/>
              </a:rPr>
              <a:t>04</a:t>
            </a:r>
            <a:endParaRPr lang="en-US" sz="3400" dirty="0"/>
          </a:p>
        </p:txBody>
      </p:sp>
      <p:sp>
        <p:nvSpPr>
          <p:cNvPr id="19" name="Text 17"/>
          <p:cNvSpPr txBox="1"/>
          <p:nvPr/>
        </p:nvSpPr>
        <p:spPr>
          <a:xfrm>
            <a:off x="9196349" y="2670048"/>
            <a:ext cx="2044370" cy="256032"/>
          </a:xfrm>
          <a:prstGeom prst="rect">
            <a:avLst/>
          </a:prstGeom>
          <a:noFill/>
          <a:ln/>
        </p:spPr>
        <p:txBody>
          <a:bodyPr wrap="square" lIns="0" tIns="0" rIns="0" bIns="0" rtlCol="0" anchor="t"/>
          <a:lstStyle/>
          <a:p>
            <a:pPr marL="0" indent="0">
              <a:buNone/>
            </a:pPr>
            <a:r>
              <a:rPr lang="en-US" sz="1600" kern="0" spc="200" dirty="0">
                <a:solidFill>
                  <a:srgbClr val="F2F4F7"/>
                </a:solidFill>
                <a:latin typeface="Barlow Condensed" pitchFamily="34" charset="0"/>
                <a:ea typeface="Barlow Condensed" pitchFamily="34" charset="-122"/>
                <a:cs typeface="Barlow Condensed" pitchFamily="34" charset="-120"/>
              </a:rPr>
              <a:t>DEAL</a:t>
            </a:r>
            <a:endParaRPr lang="en-US" sz="1600" dirty="0"/>
          </a:p>
        </p:txBody>
      </p:sp>
      <p:sp>
        <p:nvSpPr>
          <p:cNvPr id="20" name="Text 18"/>
          <p:cNvSpPr txBox="1"/>
          <p:nvPr/>
        </p:nvSpPr>
        <p:spPr>
          <a:xfrm>
            <a:off x="9196349" y="2980944"/>
            <a:ext cx="2044370" cy="1371600"/>
          </a:xfrm>
          <a:prstGeom prst="rect">
            <a:avLst/>
          </a:prstGeom>
          <a:noFill/>
          <a:ln/>
        </p:spPr>
        <p:txBody>
          <a:bodyPr wrap="square" lIns="0" tIns="0" rIns="0" bIns="0" rtlCol="0" anchor="t"/>
          <a:lstStyle/>
          <a:p>
            <a:pPr marL="0" indent="0">
              <a:lnSpc>
                <a:spcPts val="1700"/>
              </a:lnSpc>
              <a:buNone/>
            </a:pPr>
            <a:r>
              <a:rPr lang="en-US" sz="1250" dirty="0">
                <a:solidFill>
                  <a:srgbClr val="AEB6C2"/>
                </a:solidFill>
                <a:latin typeface="Barlow" pitchFamily="34" charset="0"/>
                <a:ea typeface="Barlow" pitchFamily="34" charset="-122"/>
                <a:cs typeface="Barlow" pitchFamily="34" charset="-120"/>
              </a:rPr>
              <a:t>Offer, acceptance, delivery measured against what was projected. An unmeasured campaign reads as unmeasured, never as zero.</a:t>
            </a:r>
            <a:endParaRPr lang="en-US" sz="1250" dirty="0"/>
          </a:p>
        </p:txBody>
      </p:sp>
      <p:sp>
        <p:nvSpPr>
          <p:cNvPr id="21" name="Shape 19"/>
          <p:cNvSpPr/>
          <p:nvPr/>
        </p:nvSpPr>
        <p:spPr>
          <a:xfrm>
            <a:off x="713232" y="4718304"/>
            <a:ext cx="10765231" cy="841248"/>
          </a:xfrm>
          <a:prstGeom prst="roundRect">
            <a:avLst>
              <a:gd name="adj" fmla="val 4348"/>
            </a:avLst>
          </a:prstGeom>
          <a:solidFill>
            <a:srgbClr val="1F242C"/>
          </a:solidFill>
          <a:ln w="9525">
            <a:solidFill>
              <a:srgbClr val="262C35"/>
            </a:solidFill>
            <a:prstDash val="solid"/>
          </a:ln>
        </p:spPr>
      </p:sp>
      <p:sp>
        <p:nvSpPr>
          <p:cNvPr id="22" name="Text 20"/>
          <p:cNvSpPr txBox="1"/>
          <p:nvPr/>
        </p:nvSpPr>
        <p:spPr>
          <a:xfrm>
            <a:off x="987552" y="4901184"/>
            <a:ext cx="2743200" cy="237744"/>
          </a:xfrm>
          <a:prstGeom prst="rect">
            <a:avLst/>
          </a:prstGeom>
          <a:noFill/>
          <a:ln/>
        </p:spPr>
        <p:txBody>
          <a:bodyPr wrap="square" lIns="0" tIns="0" rIns="0" bIns="0" rtlCol="0" anchor="t"/>
          <a:lstStyle/>
          <a:p>
            <a:pPr marL="0" indent="0">
              <a:buNone/>
            </a:pPr>
            <a:r>
              <a:rPr lang="en-US" sz="1400" kern="0" spc="240" dirty="0">
                <a:solidFill>
                  <a:srgbClr val="FFB020"/>
                </a:solidFill>
                <a:latin typeface="Barlow Condensed" pitchFamily="34" charset="0"/>
                <a:ea typeface="Barlow Condensed" pitchFamily="34" charset="-122"/>
                <a:cs typeface="Barlow Condensed" pitchFamily="34" charset="-120"/>
              </a:rPr>
              <a:t>NOTHING SELF-VERIFIES</a:t>
            </a:r>
            <a:endParaRPr lang="en-US" sz="1400" dirty="0"/>
          </a:p>
        </p:txBody>
      </p:sp>
      <p:sp>
        <p:nvSpPr>
          <p:cNvPr id="23" name="Text 21"/>
          <p:cNvSpPr txBox="1"/>
          <p:nvPr/>
        </p:nvSpPr>
        <p:spPr>
          <a:xfrm>
            <a:off x="3913632" y="4882896"/>
            <a:ext cx="7290511" cy="548640"/>
          </a:xfrm>
          <a:prstGeom prst="rect">
            <a:avLst/>
          </a:prstGeom>
          <a:noFill/>
          <a:ln/>
        </p:spPr>
        <p:txBody>
          <a:bodyPr wrap="square" lIns="0" tIns="0" rIns="0" bIns="0" rtlCol="0" anchor="t"/>
          <a:lstStyle/>
          <a:p>
            <a:pPr marL="0" indent="0">
              <a:lnSpc>
                <a:spcPts val="1800"/>
              </a:lnSpc>
              <a:buNone/>
            </a:pPr>
            <a:r>
              <a:rPr lang="en-US" sz="1350" dirty="0">
                <a:solidFill>
                  <a:srgbClr val="AEB6C2"/>
                </a:solidFill>
                <a:latin typeface="Barlow" pitchFamily="34" charset="0"/>
                <a:ea typeface="Barlow" pitchFamily="34" charset="-122"/>
                <a:cs typeface="Barlow" pitchFamily="34" charset="-120"/>
              </a:rPr>
              <a:t>A club scoring above the verification bar still waits for a human. A rejected proof cannot be cleared by re-submitting the form. That is what a sponsor is actually buying.</a:t>
            </a:r>
            <a:endParaRPr lang="en-US" sz="135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BACKUP, THE MATCHING ENGINE</a:t>
            </a:r>
            <a:endParaRPr lang="en-US" sz="1250" dirty="0"/>
          </a:p>
        </p:txBody>
      </p:sp>
      <p:sp>
        <p:nvSpPr>
          <p:cNvPr id="3" name="Text 1"/>
          <p:cNvSpPr txBox="1"/>
          <p:nvPr/>
        </p:nvSpPr>
        <p:spPr>
          <a:xfrm>
            <a:off x="713232" y="786384"/>
            <a:ext cx="10765231" cy="685800"/>
          </a:xfrm>
          <a:prstGeom prst="rect">
            <a:avLst/>
          </a:prstGeom>
          <a:noFill/>
          <a:ln/>
        </p:spPr>
        <p:txBody>
          <a:bodyPr wrap="square" lIns="0" tIns="0" rIns="0" bIns="0" rtlCol="0" anchor="t"/>
          <a:lstStyle/>
          <a:p>
            <a:pPr marL="0" indent="0">
              <a:lnSpc>
                <a:spcPts val="3800"/>
              </a:lnSpc>
              <a:buNone/>
            </a:pPr>
            <a:r>
              <a:rPr lang="en-US" sz="3200" dirty="0">
                <a:solidFill>
                  <a:srgbClr val="F2F4F7"/>
                </a:solidFill>
                <a:latin typeface="Barlow Condensed" pitchFamily="34" charset="0"/>
                <a:ea typeface="Barlow Condensed" pitchFamily="34" charset="-122"/>
                <a:cs typeface="Barlow Condensed" pitchFamily="34" charset="-120"/>
              </a:rPr>
              <a:t>A ranked athlete, opened on the arithmetic that ranked them</a:t>
            </a:r>
            <a:endParaRPr lang="en-US" sz="3200" dirty="0"/>
          </a:p>
        </p:txBody>
      </p:sp>
      <p:sp>
        <p:nvSpPr>
          <p:cNvPr id="4" name="Text 2"/>
          <p:cNvSpPr txBox="1"/>
          <p:nvPr/>
        </p:nvSpPr>
        <p:spPr>
          <a:xfrm>
            <a:off x="713232" y="1536192"/>
            <a:ext cx="10765231" cy="411480"/>
          </a:xfrm>
          <a:prstGeom prst="rect">
            <a:avLst/>
          </a:prstGeom>
          <a:noFill/>
          <a:ln/>
        </p:spPr>
        <p:txBody>
          <a:bodyPr wrap="square" lIns="0" tIns="0" rIns="0" bIns="0" rtlCol="0" anchor="t"/>
          <a:lstStyle/>
          <a:p>
            <a:pPr marL="0" indent="0">
              <a:lnSpc>
                <a:spcPts val="2200"/>
              </a:lnSpc>
              <a:buNone/>
            </a:pPr>
            <a:r>
              <a:rPr lang="en-US" sz="1400" dirty="0">
                <a:solidFill>
                  <a:srgbClr val="AEB6C2"/>
                </a:solidFill>
                <a:latin typeface="Barlow" pitchFamily="34" charset="0"/>
                <a:ea typeface="Barlow" pitchFamily="34" charset="-122"/>
                <a:cs typeface="Barlow" pitchFamily="34" charset="-120"/>
              </a:rPr>
              <a:t>Eight weighted components. Bar length is the contribution to the total, not the component alone.</a:t>
            </a:r>
            <a:endParaRPr lang="en-US" sz="1400" dirty="0"/>
          </a:p>
        </p:txBody>
      </p:sp>
      <p:pic>
        <p:nvPicPr>
          <p:cNvPr id="5" name="Image 0" descr="C:\Users\User\OneDrive - Universitat Ramón Llull\Desktop\stride\deck\shots\sponsor-match-composition.png"/>
          <p:cNvPicPr>
            <a:picLocks noChangeAspect="1"/>
          </p:cNvPicPr>
          <p:nvPr/>
        </p:nvPicPr>
        <p:blipFill>
          <a:blip r:embed="rId3"/>
          <a:stretch>
            <a:fillRect/>
          </a:stretch>
        </p:blipFill>
        <p:spPr>
          <a:xfrm>
            <a:off x="713232" y="2103120"/>
            <a:ext cx="10765231" cy="3250692"/>
          </a:xfrm>
          <a:prstGeom prst="rect">
            <a:avLst/>
          </a:prstGeom>
        </p:spPr>
      </p:pic>
      <p:sp>
        <p:nvSpPr>
          <p:cNvPr id="6" name="Text 3"/>
          <p:cNvSpPr txBox="1"/>
          <p:nvPr/>
        </p:nvSpPr>
        <p:spPr>
          <a:xfrm>
            <a:off x="713232" y="5486400"/>
            <a:ext cx="3405530" cy="237744"/>
          </a:xfrm>
          <a:prstGeom prst="rect">
            <a:avLst/>
          </a:prstGeom>
          <a:noFill/>
          <a:ln/>
        </p:spPr>
        <p:txBody>
          <a:bodyPr wrap="square" lIns="0" tIns="0" rIns="0" bIns="0" rtlCol="0" anchor="t"/>
          <a:lstStyle/>
          <a:p>
            <a:pPr marL="0" indent="0">
              <a:buNone/>
            </a:pPr>
            <a:r>
              <a:rPr lang="en-US" sz="1200" kern="0" spc="200" dirty="0">
                <a:solidFill>
                  <a:srgbClr val="FFB020"/>
                </a:solidFill>
                <a:latin typeface="Barlow Condensed" pitchFamily="34" charset="0"/>
                <a:ea typeface="Barlow Condensed" pitchFamily="34" charset="-122"/>
                <a:cs typeface="Barlow Condensed" pitchFamily="34" charset="-120"/>
              </a:rPr>
              <a:t>THE WEIGHTS ARE HAND SET</a:t>
            </a:r>
            <a:endParaRPr lang="en-US" sz="1200" dirty="0"/>
          </a:p>
        </p:txBody>
      </p:sp>
      <p:sp>
        <p:nvSpPr>
          <p:cNvPr id="7" name="Text 4"/>
          <p:cNvSpPr txBox="1"/>
          <p:nvPr/>
        </p:nvSpPr>
        <p:spPr>
          <a:xfrm>
            <a:off x="713232" y="5724144"/>
            <a:ext cx="3405530" cy="475488"/>
          </a:xfrm>
          <a:prstGeom prst="rect">
            <a:avLst/>
          </a:prstGeom>
          <a:noFill/>
          <a:ln/>
        </p:spPr>
        <p:txBody>
          <a:bodyPr wrap="square" lIns="0" tIns="0" rIns="0" bIns="0" rtlCol="0" anchor="t"/>
          <a:lstStyle/>
          <a:p>
            <a:pPr marL="0" indent="0">
              <a:lnSpc>
                <a:spcPts val="1500"/>
              </a:lnSpc>
              <a:buNone/>
            </a:pPr>
            <a:r>
              <a:rPr lang="en-US" sz="1150" dirty="0">
                <a:solidFill>
                  <a:srgbClr val="AEB6C2"/>
                </a:solidFill>
                <a:latin typeface="Barlow" pitchFamily="34" charset="0"/>
                <a:ea typeface="Barlow" pitchFamily="34" charset="-122"/>
                <a:cs typeface="Barlow" pitchFamily="34" charset="-120"/>
              </a:rPr>
              <a:t>A transparent weighted sum. Learned weights come once there are outcomes, and must beat this.</a:t>
            </a:r>
            <a:endParaRPr lang="en-US" sz="1150" dirty="0"/>
          </a:p>
        </p:txBody>
      </p:sp>
      <p:sp>
        <p:nvSpPr>
          <p:cNvPr id="8" name="Text 5"/>
          <p:cNvSpPr txBox="1"/>
          <p:nvPr/>
        </p:nvSpPr>
        <p:spPr>
          <a:xfrm>
            <a:off x="4393082" y="5486400"/>
            <a:ext cx="3405530" cy="237744"/>
          </a:xfrm>
          <a:prstGeom prst="rect">
            <a:avLst/>
          </a:prstGeom>
          <a:noFill/>
          <a:ln/>
        </p:spPr>
        <p:txBody>
          <a:bodyPr wrap="square" lIns="0" tIns="0" rIns="0" bIns="0" rtlCol="0" anchor="t"/>
          <a:lstStyle/>
          <a:p>
            <a:pPr marL="0" indent="0">
              <a:buNone/>
            </a:pPr>
            <a:r>
              <a:rPr lang="en-US" sz="1200" kern="0" spc="200" dirty="0">
                <a:solidFill>
                  <a:srgbClr val="FFB020"/>
                </a:solidFill>
                <a:latin typeface="Barlow Condensed" pitchFamily="34" charset="0"/>
                <a:ea typeface="Barlow Condensed" pitchFamily="34" charset="-122"/>
                <a:cs typeface="Barlow Condensed" pitchFamily="34" charset="-120"/>
              </a:rPr>
              <a:t>COVERAGE TRAVELS WITH THE SCORE</a:t>
            </a:r>
            <a:endParaRPr lang="en-US" sz="1200" dirty="0"/>
          </a:p>
        </p:txBody>
      </p:sp>
      <p:sp>
        <p:nvSpPr>
          <p:cNvPr id="9" name="Text 6"/>
          <p:cNvSpPr txBox="1"/>
          <p:nvPr/>
        </p:nvSpPr>
        <p:spPr>
          <a:xfrm>
            <a:off x="4393082" y="5724144"/>
            <a:ext cx="3405530" cy="475488"/>
          </a:xfrm>
          <a:prstGeom prst="rect">
            <a:avLst/>
          </a:prstGeom>
          <a:noFill/>
          <a:ln/>
        </p:spPr>
        <p:txBody>
          <a:bodyPr wrap="square" lIns="0" tIns="0" rIns="0" bIns="0" rtlCol="0" anchor="t"/>
          <a:lstStyle/>
          <a:p>
            <a:pPr marL="0" indent="0">
              <a:lnSpc>
                <a:spcPts val="1500"/>
              </a:lnSpc>
              <a:buNone/>
            </a:pPr>
            <a:r>
              <a:rPr lang="en-US" sz="1150" dirty="0">
                <a:solidFill>
                  <a:srgbClr val="AEB6C2"/>
                </a:solidFill>
                <a:latin typeface="Barlow" pitchFamily="34" charset="0"/>
                <a:ea typeface="Barlow" pitchFamily="34" charset="-122"/>
                <a:cs typeface="Barlow" pitchFamily="34" charset="-120"/>
              </a:rPr>
              <a:t>Three of three platforms, or one of three. A thin score is marked thin, not quietly averaged.</a:t>
            </a:r>
            <a:endParaRPr lang="en-US" sz="1150" dirty="0"/>
          </a:p>
        </p:txBody>
      </p:sp>
      <p:sp>
        <p:nvSpPr>
          <p:cNvPr id="10" name="Text 7"/>
          <p:cNvSpPr txBox="1"/>
          <p:nvPr/>
        </p:nvSpPr>
        <p:spPr>
          <a:xfrm>
            <a:off x="8072933" y="5486400"/>
            <a:ext cx="3405530" cy="237744"/>
          </a:xfrm>
          <a:prstGeom prst="rect">
            <a:avLst/>
          </a:prstGeom>
          <a:noFill/>
          <a:ln/>
        </p:spPr>
        <p:txBody>
          <a:bodyPr wrap="square" lIns="0" tIns="0" rIns="0" bIns="0" rtlCol="0" anchor="t"/>
          <a:lstStyle/>
          <a:p>
            <a:pPr marL="0" indent="0">
              <a:buNone/>
            </a:pPr>
            <a:r>
              <a:rPr lang="en-US" sz="1200" kern="0" spc="200" dirty="0">
                <a:solidFill>
                  <a:srgbClr val="FFB020"/>
                </a:solidFill>
                <a:latin typeface="Barlow Condensed" pitchFamily="34" charset="0"/>
                <a:ea typeface="Barlow Condensed" pitchFamily="34" charset="-122"/>
                <a:cs typeface="Barlow Condensed" pitchFamily="34" charset="-120"/>
              </a:rPr>
              <a:t>IT READS IN PLAIN LANGUAGE TOO</a:t>
            </a:r>
            <a:endParaRPr lang="en-US" sz="1200" dirty="0"/>
          </a:p>
        </p:txBody>
      </p:sp>
      <p:sp>
        <p:nvSpPr>
          <p:cNvPr id="11" name="Text 8"/>
          <p:cNvSpPr txBox="1"/>
          <p:nvPr/>
        </p:nvSpPr>
        <p:spPr>
          <a:xfrm>
            <a:off x="8072933" y="5724144"/>
            <a:ext cx="3405530" cy="475488"/>
          </a:xfrm>
          <a:prstGeom prst="rect">
            <a:avLst/>
          </a:prstGeom>
          <a:noFill/>
          <a:ln/>
        </p:spPr>
        <p:txBody>
          <a:bodyPr wrap="square" lIns="0" tIns="0" rIns="0" bIns="0" rtlCol="0" anchor="t"/>
          <a:lstStyle/>
          <a:p>
            <a:pPr marL="0" indent="0">
              <a:lnSpc>
                <a:spcPts val="1500"/>
              </a:lnSpc>
              <a:buNone/>
            </a:pPr>
            <a:r>
              <a:rPr lang="en-US" sz="1150" dirty="0">
                <a:solidFill>
                  <a:srgbClr val="AEB6C2"/>
                </a:solidFill>
                <a:latin typeface="Barlow" pitchFamily="34" charset="0"/>
                <a:ea typeface="Barlow" pitchFamily="34" charset="-122"/>
                <a:cs typeface="Barlow" pitchFamily="34" charset="-120"/>
              </a:rPr>
              <a:t>Because the person approving the spend is rarely the person running the campaign.</a:t>
            </a:r>
            <a:endParaRPr lang="en-US" sz="1150" dirty="0"/>
          </a:p>
        </p:txBody>
      </p:sp>
      <p:sp>
        <p:nvSpPr>
          <p:cNvPr id="12" name="Text 9"/>
          <p:cNvSpPr txBox="1"/>
          <p:nvPr/>
        </p:nvSpPr>
        <p:spPr>
          <a:xfrm>
            <a:off x="713232" y="6382512"/>
            <a:ext cx="9667951" cy="274320"/>
          </a:xfrm>
          <a:prstGeom prst="rect">
            <a:avLst/>
          </a:prstGeom>
          <a:noFill/>
          <a:ln/>
        </p:spPr>
        <p:txBody>
          <a:bodyPr wrap="square" lIns="0" tIns="0" rIns="0" bIns="0" rtlCol="0" anchor="t"/>
          <a:lstStyle/>
          <a:p>
            <a:pPr marL="0" indent="0">
              <a:buNone/>
            </a:pPr>
            <a:r>
              <a:rPr lang="en-US" sz="950" dirty="0">
                <a:solidFill>
                  <a:srgbClr val="828C9A"/>
                </a:solidFill>
                <a:latin typeface="Barlow" pitchFamily="34" charset="0"/>
                <a:ea typeface="Barlow" pitchFamily="34" charset="-122"/>
                <a:cs typeface="Barlow" pitchFamily="34" charset="-120"/>
              </a:rPr>
              <a:t>Ranked matches for a live campaign, captured from the running application.</a:t>
            </a:r>
            <a:endParaRPr lang="en-US" sz="95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BACKUP, THE COMPARABLE THAT GOT LARGE</a:t>
            </a:r>
            <a:endParaRPr lang="en-US" sz="1250" dirty="0"/>
          </a:p>
        </p:txBody>
      </p:sp>
      <p:sp>
        <p:nvSpPr>
          <p:cNvPr id="3" name="Text 1"/>
          <p:cNvSpPr txBox="1"/>
          <p:nvPr/>
        </p:nvSpPr>
        <p:spPr>
          <a:xfrm>
            <a:off x="713232" y="786384"/>
            <a:ext cx="10765231" cy="685800"/>
          </a:xfrm>
          <a:prstGeom prst="rect">
            <a:avLst/>
          </a:prstGeom>
          <a:noFill/>
          <a:ln/>
        </p:spPr>
        <p:txBody>
          <a:bodyPr wrap="square" lIns="0" tIns="0" rIns="0" bIns="0" rtlCol="0" anchor="t"/>
          <a:lstStyle/>
          <a:p>
            <a:pPr marL="0" indent="0">
              <a:lnSpc>
                <a:spcPts val="3800"/>
              </a:lnSpc>
              <a:buNone/>
            </a:pPr>
            <a:r>
              <a:rPr lang="en-US" sz="3200" dirty="0">
                <a:solidFill>
                  <a:srgbClr val="F2F4F7"/>
                </a:solidFill>
                <a:latin typeface="Barlow Condensed" pitchFamily="34" charset="0"/>
                <a:ea typeface="Barlow Condensed" pitchFamily="34" charset="-122"/>
                <a:cs typeface="Barlow Condensed" pitchFamily="34" charset="-120"/>
              </a:rPr>
              <a:t>They sell what the market did. We measure what your money did</a:t>
            </a:r>
            <a:endParaRPr lang="en-US" sz="3200" dirty="0"/>
          </a:p>
        </p:txBody>
      </p:sp>
      <p:sp>
        <p:nvSpPr>
          <p:cNvPr id="4" name="Text 2"/>
          <p:cNvSpPr txBox="1"/>
          <p:nvPr/>
        </p:nvSpPr>
        <p:spPr>
          <a:xfrm>
            <a:off x="713232" y="1536192"/>
            <a:ext cx="10765231" cy="411480"/>
          </a:xfrm>
          <a:prstGeom prst="rect">
            <a:avLst/>
          </a:prstGeom>
          <a:noFill/>
          <a:ln/>
        </p:spPr>
        <p:txBody>
          <a:bodyPr wrap="square" lIns="0" tIns="0" rIns="0" bIns="0" rtlCol="0" anchor="t"/>
          <a:lstStyle/>
          <a:p>
            <a:pPr marL="0" indent="0">
              <a:lnSpc>
                <a:spcPts val="2200"/>
              </a:lnSpc>
              <a:buNone/>
            </a:pPr>
            <a:r>
              <a:rPr lang="en-US" sz="1400" dirty="0">
                <a:solidFill>
                  <a:srgbClr val="AEB6C2"/>
                </a:solidFill>
                <a:latin typeface="Barlow" pitchFamily="34" charset="0"/>
                <a:ea typeface="Barlow" pitchFamily="34" charset="-122"/>
                <a:cs typeface="Barlow" pitchFamily="34" charset="-120"/>
              </a:rPr>
              <a:t>Slide 13 split the set two and two. This is what the split means to a brand with €2,000 to spend.</a:t>
            </a:r>
            <a:endParaRPr lang="en-US" sz="1400" dirty="0"/>
          </a:p>
        </p:txBody>
      </p:sp>
      <p:sp>
        <p:nvSpPr>
          <p:cNvPr id="5" name="Shape 3"/>
          <p:cNvSpPr/>
          <p:nvPr/>
        </p:nvSpPr>
        <p:spPr>
          <a:xfrm>
            <a:off x="8421624" y="1956816"/>
            <a:ext cx="3163824" cy="3255264"/>
          </a:xfrm>
          <a:prstGeom prst="roundRect">
            <a:avLst>
              <a:gd name="adj" fmla="val 1156"/>
            </a:avLst>
          </a:prstGeom>
          <a:solidFill>
            <a:srgbClr val="171A20"/>
          </a:solidFill>
          <a:ln w="9525">
            <a:solidFill>
              <a:srgbClr val="262C35"/>
            </a:solidFill>
            <a:prstDash val="solid"/>
          </a:ln>
        </p:spPr>
      </p:sp>
      <p:sp>
        <p:nvSpPr>
          <p:cNvPr id="6" name="Text 4"/>
          <p:cNvSpPr txBox="1"/>
          <p:nvPr/>
        </p:nvSpPr>
        <p:spPr>
          <a:xfrm>
            <a:off x="2404872" y="2066544"/>
            <a:ext cx="2834640" cy="475488"/>
          </a:xfrm>
          <a:prstGeom prst="rect">
            <a:avLst/>
          </a:prstGeom>
          <a:noFill/>
          <a:ln/>
        </p:spPr>
        <p:txBody>
          <a:bodyPr wrap="square" lIns="0" tIns="0" rIns="0" bIns="0" rtlCol="0" anchor="t"/>
          <a:lstStyle/>
          <a:p>
            <a:pPr marL="0" indent="0">
              <a:lnSpc>
                <a:spcPts val="1800"/>
              </a:lnSpc>
              <a:buNone/>
            </a:pPr>
            <a:r>
              <a:rPr lang="en-US" sz="1600" kern="0" spc="120" dirty="0">
                <a:solidFill>
                  <a:srgbClr val="AEB6C2"/>
                </a:solidFill>
                <a:latin typeface="Barlow Condensed" pitchFamily="34" charset="0"/>
                <a:ea typeface="Barlow Condensed" pitchFamily="34" charset="-122"/>
                <a:cs typeface="Barlow Condensed" pitchFamily="34" charset="-120"/>
              </a:rPr>
              <a:t>Sponsoo,</a:t>
            </a:r>
            <a:endParaRPr lang="en-US" sz="1600" dirty="0"/>
          </a:p>
          <a:p>
            <a:pPr marL="0" indent="0">
              <a:lnSpc>
                <a:spcPts val="1800"/>
              </a:lnSpc>
              <a:buNone/>
            </a:pPr>
            <a:r>
              <a:rPr lang="en-US" sz="1600" kern="0" spc="120" dirty="0">
                <a:solidFill>
                  <a:srgbClr val="AEB6C2"/>
                </a:solidFill>
                <a:latin typeface="Barlow Condensed" pitchFamily="34" charset="0"/>
                <a:ea typeface="Barlow Condensed" pitchFamily="34" charset="-122"/>
                <a:cs typeface="Barlow Condensed" pitchFamily="34" charset="-120"/>
              </a:rPr>
              <a:t>OpenSponsorship</a:t>
            </a:r>
            <a:endParaRPr lang="en-US" sz="1600" dirty="0"/>
          </a:p>
        </p:txBody>
      </p:sp>
      <p:sp>
        <p:nvSpPr>
          <p:cNvPr id="7" name="Text 5"/>
          <p:cNvSpPr txBox="1"/>
          <p:nvPr/>
        </p:nvSpPr>
        <p:spPr>
          <a:xfrm>
            <a:off x="2404872" y="2560320"/>
            <a:ext cx="2834640" cy="219456"/>
          </a:xfrm>
          <a:prstGeom prst="rect">
            <a:avLst/>
          </a:prstGeom>
          <a:noFill/>
          <a:ln/>
        </p:spPr>
        <p:txBody>
          <a:bodyPr wrap="square" lIns="0" tIns="0" rIns="0" bIns="0" rtlCol="0" anchor="t"/>
          <a:lstStyle/>
          <a:p>
            <a:pPr marL="0" indent="0">
              <a:buNone/>
            </a:pPr>
            <a:r>
              <a:rPr lang="en-US" sz="1050" kern="0" spc="200" dirty="0">
                <a:solidFill>
                  <a:srgbClr val="828C9A"/>
                </a:solidFill>
                <a:latin typeface="Barlow Condensed" pitchFamily="34" charset="0"/>
                <a:ea typeface="Barlow Condensed" pitchFamily="34" charset="-122"/>
                <a:cs typeface="Barlow Condensed" pitchFamily="34" charset="-120"/>
              </a:rPr>
              <a:t>THE MARKETPLACES</a:t>
            </a:r>
            <a:endParaRPr lang="en-US" sz="1050" dirty="0"/>
          </a:p>
        </p:txBody>
      </p:sp>
      <p:sp>
        <p:nvSpPr>
          <p:cNvPr id="8" name="Text 6"/>
          <p:cNvSpPr txBox="1"/>
          <p:nvPr/>
        </p:nvSpPr>
        <p:spPr>
          <a:xfrm>
            <a:off x="5495544" y="2066544"/>
            <a:ext cx="2834640" cy="475488"/>
          </a:xfrm>
          <a:prstGeom prst="rect">
            <a:avLst/>
          </a:prstGeom>
          <a:noFill/>
          <a:ln/>
        </p:spPr>
        <p:txBody>
          <a:bodyPr wrap="square" lIns="0" tIns="0" rIns="0" bIns="0" rtlCol="0" anchor="t"/>
          <a:lstStyle/>
          <a:p>
            <a:pPr marL="0" indent="0">
              <a:lnSpc>
                <a:spcPts val="1800"/>
              </a:lnSpc>
              <a:buNone/>
            </a:pPr>
            <a:r>
              <a:rPr lang="en-US" sz="1600" kern="0" spc="120" dirty="0">
                <a:solidFill>
                  <a:srgbClr val="AEB6C2"/>
                </a:solidFill>
                <a:latin typeface="Barlow Condensed" pitchFamily="34" charset="0"/>
                <a:ea typeface="Barlow Condensed" pitchFamily="34" charset="-122"/>
                <a:cs typeface="Barlow Condensed" pitchFamily="34" charset="-120"/>
              </a:rPr>
              <a:t>Hookit,</a:t>
            </a:r>
            <a:endParaRPr lang="en-US" sz="1600" dirty="0"/>
          </a:p>
          <a:p>
            <a:pPr marL="0" indent="0">
              <a:lnSpc>
                <a:spcPts val="1800"/>
              </a:lnSpc>
              <a:buNone/>
            </a:pPr>
            <a:r>
              <a:rPr lang="en-US" sz="1600" kern="0" spc="120" dirty="0">
                <a:solidFill>
                  <a:srgbClr val="AEB6C2"/>
                </a:solidFill>
                <a:latin typeface="Barlow Condensed" pitchFamily="34" charset="0"/>
                <a:ea typeface="Barlow Condensed" pitchFamily="34" charset="-122"/>
                <a:cs typeface="Barlow Condensed" pitchFamily="34" charset="-120"/>
              </a:rPr>
              <a:t>SponsorUnited</a:t>
            </a:r>
            <a:endParaRPr lang="en-US" sz="1600" dirty="0"/>
          </a:p>
        </p:txBody>
      </p:sp>
      <p:sp>
        <p:nvSpPr>
          <p:cNvPr id="9" name="Text 7"/>
          <p:cNvSpPr txBox="1"/>
          <p:nvPr/>
        </p:nvSpPr>
        <p:spPr>
          <a:xfrm>
            <a:off x="5495544" y="2560320"/>
            <a:ext cx="2834640" cy="219456"/>
          </a:xfrm>
          <a:prstGeom prst="rect">
            <a:avLst/>
          </a:prstGeom>
          <a:noFill/>
          <a:ln/>
        </p:spPr>
        <p:txBody>
          <a:bodyPr wrap="square" lIns="0" tIns="0" rIns="0" bIns="0" rtlCol="0" anchor="t"/>
          <a:lstStyle/>
          <a:p>
            <a:pPr marL="0" indent="0">
              <a:buNone/>
            </a:pPr>
            <a:r>
              <a:rPr lang="en-US" sz="1050" kern="0" spc="200" dirty="0">
                <a:solidFill>
                  <a:srgbClr val="828C9A"/>
                </a:solidFill>
                <a:latin typeface="Barlow Condensed" pitchFamily="34" charset="0"/>
                <a:ea typeface="Barlow Condensed" pitchFamily="34" charset="-122"/>
                <a:cs typeface="Barlow Condensed" pitchFamily="34" charset="-120"/>
              </a:rPr>
              <a:t>THE DATA COMPANIES</a:t>
            </a:r>
            <a:endParaRPr lang="en-US" sz="1050" dirty="0"/>
          </a:p>
        </p:txBody>
      </p:sp>
      <p:sp>
        <p:nvSpPr>
          <p:cNvPr id="10" name="Text 8"/>
          <p:cNvSpPr txBox="1"/>
          <p:nvPr/>
        </p:nvSpPr>
        <p:spPr>
          <a:xfrm>
            <a:off x="8586216" y="2066544"/>
            <a:ext cx="2834640" cy="475488"/>
          </a:xfrm>
          <a:prstGeom prst="rect">
            <a:avLst/>
          </a:prstGeom>
          <a:noFill/>
          <a:ln/>
        </p:spPr>
        <p:txBody>
          <a:bodyPr wrap="square" lIns="0" tIns="0" rIns="0" bIns="0" rtlCol="0" anchor="t"/>
          <a:lstStyle/>
          <a:p>
            <a:pPr marL="0" indent="0">
              <a:lnSpc>
                <a:spcPts val="1800"/>
              </a:lnSpc>
              <a:buNone/>
            </a:pPr>
            <a:r>
              <a:rPr lang="en-US" sz="1600" kern="0" spc="120" dirty="0">
                <a:solidFill>
                  <a:srgbClr val="F2F4F7"/>
                </a:solidFill>
                <a:latin typeface="Barlow Condensed" pitchFamily="34" charset="0"/>
                <a:ea typeface="Barlow Condensed" pitchFamily="34" charset="-122"/>
                <a:cs typeface="Barlow Condensed" pitchFamily="34" charset="-120"/>
              </a:rPr>
              <a:t>Stride</a:t>
            </a:r>
            <a:endParaRPr lang="en-US" sz="1600" dirty="0"/>
          </a:p>
        </p:txBody>
      </p:sp>
      <p:sp>
        <p:nvSpPr>
          <p:cNvPr id="11" name="Text 9"/>
          <p:cNvSpPr txBox="1"/>
          <p:nvPr/>
        </p:nvSpPr>
        <p:spPr>
          <a:xfrm>
            <a:off x="8586216" y="2560320"/>
            <a:ext cx="2834640" cy="219456"/>
          </a:xfrm>
          <a:prstGeom prst="rect">
            <a:avLst/>
          </a:prstGeom>
          <a:noFill/>
          <a:ln/>
        </p:spPr>
        <p:txBody>
          <a:bodyPr wrap="square" lIns="0" tIns="0" rIns="0" bIns="0" rtlCol="0" anchor="t"/>
          <a:lstStyle/>
          <a:p>
            <a:pPr marL="0" indent="0">
              <a:buNone/>
            </a:pPr>
            <a:r>
              <a:rPr lang="en-US" sz="1050" kern="0" spc="200" dirty="0">
                <a:solidFill>
                  <a:srgbClr val="FFB020"/>
                </a:solidFill>
                <a:latin typeface="Barlow Condensed" pitchFamily="34" charset="0"/>
                <a:ea typeface="Barlow Condensed" pitchFamily="34" charset="-122"/>
                <a:cs typeface="Barlow Condensed" pitchFamily="34" charset="-120"/>
              </a:rPr>
              <a:t>BOTH HALVES, ONE LOOP</a:t>
            </a:r>
            <a:endParaRPr lang="en-US" sz="1050" dirty="0"/>
          </a:p>
        </p:txBody>
      </p:sp>
      <p:sp>
        <p:nvSpPr>
          <p:cNvPr id="12" name="Shape 10"/>
          <p:cNvSpPr/>
          <p:nvPr/>
        </p:nvSpPr>
        <p:spPr>
          <a:xfrm>
            <a:off x="713232" y="2871216"/>
            <a:ext cx="10765231" cy="12802"/>
          </a:xfrm>
          <a:prstGeom prst="rect">
            <a:avLst/>
          </a:prstGeom>
          <a:solidFill>
            <a:srgbClr val="262C35"/>
          </a:solidFill>
          <a:ln w="12700">
            <a:solidFill>
              <a:srgbClr val="333333"/>
            </a:solidFill>
            <a:prstDash val="solid"/>
          </a:ln>
        </p:spPr>
      </p:sp>
      <p:sp>
        <p:nvSpPr>
          <p:cNvPr id="13" name="Text 11"/>
          <p:cNvSpPr txBox="1"/>
          <p:nvPr/>
        </p:nvSpPr>
        <p:spPr>
          <a:xfrm>
            <a:off x="713232" y="2999232"/>
            <a:ext cx="1645920" cy="274320"/>
          </a:xfrm>
          <a:prstGeom prst="rect">
            <a:avLst/>
          </a:prstGeom>
          <a:noFill/>
          <a:ln/>
        </p:spPr>
        <p:txBody>
          <a:bodyPr wrap="square" lIns="0" tIns="0" rIns="0" bIns="0" rtlCol="0" anchor="t"/>
          <a:lstStyle/>
          <a:p>
            <a:pPr marL="0" indent="0">
              <a:buNone/>
            </a:pPr>
            <a:r>
              <a:rPr lang="en-US" sz="1250" kern="0" spc="220" dirty="0">
                <a:solidFill>
                  <a:srgbClr val="828C9A"/>
                </a:solidFill>
                <a:latin typeface="Barlow Condensed" pitchFamily="34" charset="0"/>
                <a:ea typeface="Barlow Condensed" pitchFamily="34" charset="-122"/>
                <a:cs typeface="Barlow Condensed" pitchFamily="34" charset="-120"/>
              </a:rPr>
              <a:t>CHOOSE</a:t>
            </a:r>
            <a:endParaRPr lang="en-US" sz="1250" dirty="0"/>
          </a:p>
        </p:txBody>
      </p:sp>
      <p:sp>
        <p:nvSpPr>
          <p:cNvPr id="14" name="Text 12"/>
          <p:cNvSpPr txBox="1"/>
          <p:nvPr/>
        </p:nvSpPr>
        <p:spPr>
          <a:xfrm>
            <a:off x="2404872" y="2980944"/>
            <a:ext cx="2834640" cy="402336"/>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Browse a roster. Follower counts, self reported</a:t>
            </a:r>
            <a:endParaRPr lang="en-US" sz="1150" dirty="0"/>
          </a:p>
        </p:txBody>
      </p:sp>
      <p:sp>
        <p:nvSpPr>
          <p:cNvPr id="15" name="Text 13"/>
          <p:cNvSpPr txBox="1"/>
          <p:nvPr/>
        </p:nvSpPr>
        <p:spPr>
          <a:xfrm>
            <a:off x="5495544" y="2980944"/>
            <a:ext cx="2834640" cy="402336"/>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Market intelligence: who sponsors whom, at scale</a:t>
            </a:r>
            <a:endParaRPr lang="en-US" sz="1150" dirty="0"/>
          </a:p>
        </p:txBody>
      </p:sp>
      <p:sp>
        <p:nvSpPr>
          <p:cNvPr id="16" name="Text 14"/>
          <p:cNvSpPr txBox="1"/>
          <p:nvPr/>
        </p:nvSpPr>
        <p:spPr>
          <a:xfrm>
            <a:off x="8586216" y="2980944"/>
            <a:ext cx="2834640" cy="402336"/>
          </a:xfrm>
          <a:prstGeom prst="rect">
            <a:avLst/>
          </a:prstGeom>
          <a:noFill/>
          <a:ln/>
        </p:spPr>
        <p:txBody>
          <a:bodyPr wrap="square" lIns="0" tIns="0" rIns="0" bIns="0" rtlCol="0" anchor="t"/>
          <a:lstStyle/>
          <a:p>
            <a:pPr marL="0" indent="0">
              <a:lnSpc>
                <a:spcPts val="1500"/>
              </a:lnSpc>
              <a:buNone/>
            </a:pPr>
            <a:r>
              <a:rPr lang="en-US" sz="1150" dirty="0">
                <a:solidFill>
                  <a:srgbClr val="F2F4F7"/>
                </a:solidFill>
                <a:latin typeface="Barlow" pitchFamily="34" charset="0"/>
                <a:ea typeface="Barlow" pitchFamily="34" charset="-122"/>
                <a:cs typeface="Barlow" pitchFamily="34" charset="-120"/>
              </a:rPr>
              <a:t>Ranked against your brief, every score decomposed</a:t>
            </a:r>
            <a:endParaRPr lang="en-US" sz="1150" dirty="0"/>
          </a:p>
        </p:txBody>
      </p:sp>
      <p:sp>
        <p:nvSpPr>
          <p:cNvPr id="17" name="Text 15"/>
          <p:cNvSpPr txBox="1"/>
          <p:nvPr/>
        </p:nvSpPr>
        <p:spPr>
          <a:xfrm>
            <a:off x="713232" y="3447288"/>
            <a:ext cx="1645920" cy="274320"/>
          </a:xfrm>
          <a:prstGeom prst="rect">
            <a:avLst/>
          </a:prstGeom>
          <a:noFill/>
          <a:ln/>
        </p:spPr>
        <p:txBody>
          <a:bodyPr wrap="square" lIns="0" tIns="0" rIns="0" bIns="0" rtlCol="0" anchor="t"/>
          <a:lstStyle/>
          <a:p>
            <a:pPr marL="0" indent="0">
              <a:buNone/>
            </a:pPr>
            <a:r>
              <a:rPr lang="en-US" sz="1250" kern="0" spc="220" dirty="0">
                <a:solidFill>
                  <a:srgbClr val="828C9A"/>
                </a:solidFill>
                <a:latin typeface="Barlow Condensed" pitchFamily="34" charset="0"/>
                <a:ea typeface="Barlow Condensed" pitchFamily="34" charset="-122"/>
                <a:cs typeface="Barlow Condensed" pitchFamily="34" charset="-120"/>
              </a:rPr>
              <a:t>PRICE</a:t>
            </a:r>
            <a:endParaRPr lang="en-US" sz="1250" dirty="0"/>
          </a:p>
        </p:txBody>
      </p:sp>
      <p:sp>
        <p:nvSpPr>
          <p:cNvPr id="18" name="Text 16"/>
          <p:cNvSpPr txBox="1"/>
          <p:nvPr/>
        </p:nvSpPr>
        <p:spPr>
          <a:xfrm>
            <a:off x="2404872" y="3429000"/>
            <a:ext cx="2834640" cy="402336"/>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You negotiate. No benchmark</a:t>
            </a:r>
            <a:endParaRPr lang="en-US" sz="1150" dirty="0"/>
          </a:p>
        </p:txBody>
      </p:sp>
      <p:sp>
        <p:nvSpPr>
          <p:cNvPr id="19" name="Text 17"/>
          <p:cNvSpPr txBox="1"/>
          <p:nvPr/>
        </p:nvSpPr>
        <p:spPr>
          <a:xfrm>
            <a:off x="5495544" y="3429000"/>
            <a:ext cx="2834640" cy="402336"/>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A media value estimate for a property</a:t>
            </a:r>
            <a:endParaRPr lang="en-US" sz="1150" dirty="0"/>
          </a:p>
        </p:txBody>
      </p:sp>
      <p:sp>
        <p:nvSpPr>
          <p:cNvPr id="20" name="Text 18"/>
          <p:cNvSpPr txBox="1"/>
          <p:nvPr/>
        </p:nvSpPr>
        <p:spPr>
          <a:xfrm>
            <a:off x="8586216" y="3429000"/>
            <a:ext cx="2834640" cy="402336"/>
          </a:xfrm>
          <a:prstGeom prst="rect">
            <a:avLst/>
          </a:prstGeom>
          <a:noFill/>
          <a:ln/>
        </p:spPr>
        <p:txBody>
          <a:bodyPr wrap="square" lIns="0" tIns="0" rIns="0" bIns="0" rtlCol="0" anchor="t"/>
          <a:lstStyle/>
          <a:p>
            <a:pPr marL="0" indent="0">
              <a:lnSpc>
                <a:spcPts val="1500"/>
              </a:lnSpc>
              <a:buNone/>
            </a:pPr>
            <a:r>
              <a:rPr lang="en-US" sz="1150" dirty="0">
                <a:solidFill>
                  <a:srgbClr val="F2F4F7"/>
                </a:solidFill>
                <a:latin typeface="Barlow" pitchFamily="34" charset="0"/>
                <a:ea typeface="Barlow" pitchFamily="34" charset="-122"/>
                <a:cs typeface="Barlow" pitchFamily="34" charset="-120"/>
              </a:rPr>
              <a:t>A reach projection attached to the offer itself</a:t>
            </a:r>
            <a:endParaRPr lang="en-US" sz="1150" dirty="0"/>
          </a:p>
        </p:txBody>
      </p:sp>
      <p:sp>
        <p:nvSpPr>
          <p:cNvPr id="21" name="Text 19"/>
          <p:cNvSpPr txBox="1"/>
          <p:nvPr/>
        </p:nvSpPr>
        <p:spPr>
          <a:xfrm>
            <a:off x="713232" y="3895344"/>
            <a:ext cx="1645920" cy="274320"/>
          </a:xfrm>
          <a:prstGeom prst="rect">
            <a:avLst/>
          </a:prstGeom>
          <a:noFill/>
          <a:ln/>
        </p:spPr>
        <p:txBody>
          <a:bodyPr wrap="square" lIns="0" tIns="0" rIns="0" bIns="0" rtlCol="0" anchor="t"/>
          <a:lstStyle/>
          <a:p>
            <a:pPr marL="0" indent="0">
              <a:buNone/>
            </a:pPr>
            <a:r>
              <a:rPr lang="en-US" sz="1250" kern="0" spc="220" dirty="0">
                <a:solidFill>
                  <a:srgbClr val="828C9A"/>
                </a:solidFill>
                <a:latin typeface="Barlow Condensed" pitchFamily="34" charset="0"/>
                <a:ea typeface="Barlow Condensed" pitchFamily="34" charset="-122"/>
                <a:cs typeface="Barlow Condensed" pitchFamily="34" charset="-120"/>
              </a:rPr>
              <a:t>VERIFY</a:t>
            </a:r>
            <a:endParaRPr lang="en-US" sz="1250" dirty="0"/>
          </a:p>
        </p:txBody>
      </p:sp>
      <p:sp>
        <p:nvSpPr>
          <p:cNvPr id="22" name="Text 20"/>
          <p:cNvSpPr txBox="1"/>
          <p:nvPr/>
        </p:nvSpPr>
        <p:spPr>
          <a:xfrm>
            <a:off x="2404872" y="3877056"/>
            <a:ext cx="2834640" cy="402336"/>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Screenshots from the athlete</a:t>
            </a:r>
            <a:endParaRPr lang="en-US" sz="1150" dirty="0"/>
          </a:p>
        </p:txBody>
      </p:sp>
      <p:sp>
        <p:nvSpPr>
          <p:cNvPr id="23" name="Text 21"/>
          <p:cNvSpPr txBox="1"/>
          <p:nvPr/>
        </p:nvSpPr>
        <p:spPr>
          <a:xfrm>
            <a:off x="5495544" y="3877056"/>
            <a:ext cx="2834640" cy="402336"/>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What the market did, from public posts</a:t>
            </a:r>
            <a:endParaRPr lang="en-US" sz="1150" dirty="0"/>
          </a:p>
        </p:txBody>
      </p:sp>
      <p:sp>
        <p:nvSpPr>
          <p:cNvPr id="24" name="Text 22"/>
          <p:cNvSpPr txBox="1"/>
          <p:nvPr/>
        </p:nvSpPr>
        <p:spPr>
          <a:xfrm>
            <a:off x="8586216" y="3877056"/>
            <a:ext cx="2834640" cy="402336"/>
          </a:xfrm>
          <a:prstGeom prst="rect">
            <a:avLst/>
          </a:prstGeom>
          <a:noFill/>
          <a:ln/>
        </p:spPr>
        <p:txBody>
          <a:bodyPr wrap="square" lIns="0" tIns="0" rIns="0" bIns="0" rtlCol="0" anchor="t"/>
          <a:lstStyle/>
          <a:p>
            <a:pPr marL="0" indent="0">
              <a:lnSpc>
                <a:spcPts val="1500"/>
              </a:lnSpc>
              <a:buNone/>
            </a:pPr>
            <a:r>
              <a:rPr lang="en-US" sz="1150" dirty="0">
                <a:solidFill>
                  <a:srgbClr val="F2F4F7"/>
                </a:solidFill>
                <a:latin typeface="Barlow" pitchFamily="34" charset="0"/>
                <a:ea typeface="Barlow" pitchFamily="34" charset="-122"/>
                <a:cs typeface="Barlow" pitchFamily="34" charset="-120"/>
              </a:rPr>
              <a:t>Delivered against that projection, per athlete</a:t>
            </a:r>
            <a:endParaRPr lang="en-US" sz="1150" dirty="0"/>
          </a:p>
        </p:txBody>
      </p:sp>
      <p:sp>
        <p:nvSpPr>
          <p:cNvPr id="25" name="Text 23"/>
          <p:cNvSpPr txBox="1"/>
          <p:nvPr/>
        </p:nvSpPr>
        <p:spPr>
          <a:xfrm>
            <a:off x="713232" y="4343400"/>
            <a:ext cx="1645920" cy="274320"/>
          </a:xfrm>
          <a:prstGeom prst="rect">
            <a:avLst/>
          </a:prstGeom>
          <a:noFill/>
          <a:ln/>
        </p:spPr>
        <p:txBody>
          <a:bodyPr wrap="square" lIns="0" tIns="0" rIns="0" bIns="0" rtlCol="0" anchor="t"/>
          <a:lstStyle/>
          <a:p>
            <a:pPr marL="0" indent="0">
              <a:buNone/>
            </a:pPr>
            <a:r>
              <a:rPr lang="en-US" sz="1250" kern="0" spc="220" dirty="0">
                <a:solidFill>
                  <a:srgbClr val="828C9A"/>
                </a:solidFill>
                <a:latin typeface="Barlow Condensed" pitchFamily="34" charset="0"/>
                <a:ea typeface="Barlow Condensed" pitchFamily="34" charset="-122"/>
                <a:cs typeface="Barlow Condensed" pitchFamily="34" charset="-120"/>
              </a:rPr>
              <a:t>THE DATA</a:t>
            </a:r>
            <a:endParaRPr lang="en-US" sz="1250" dirty="0"/>
          </a:p>
        </p:txBody>
      </p:sp>
      <p:sp>
        <p:nvSpPr>
          <p:cNvPr id="26" name="Text 24"/>
          <p:cNvSpPr txBox="1"/>
          <p:nvPr/>
        </p:nvSpPr>
        <p:spPr>
          <a:xfrm>
            <a:off x="2404872" y="4325112"/>
            <a:ext cx="2834640" cy="402336"/>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The athlete's own claim</a:t>
            </a:r>
            <a:endParaRPr lang="en-US" sz="1150" dirty="0"/>
          </a:p>
        </p:txBody>
      </p:sp>
      <p:sp>
        <p:nvSpPr>
          <p:cNvPr id="27" name="Text 25"/>
          <p:cNvSpPr txBox="1"/>
          <p:nvPr/>
        </p:nvSpPr>
        <p:spPr>
          <a:xfrm>
            <a:off x="5495544" y="4325112"/>
            <a:ext cx="2834640" cy="402336"/>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Scraped, public, third party</a:t>
            </a:r>
            <a:endParaRPr lang="en-US" sz="1150" dirty="0"/>
          </a:p>
        </p:txBody>
      </p:sp>
      <p:sp>
        <p:nvSpPr>
          <p:cNvPr id="28" name="Text 26"/>
          <p:cNvSpPr txBox="1"/>
          <p:nvPr/>
        </p:nvSpPr>
        <p:spPr>
          <a:xfrm>
            <a:off x="8586216" y="4325112"/>
            <a:ext cx="2834640" cy="402336"/>
          </a:xfrm>
          <a:prstGeom prst="rect">
            <a:avLst/>
          </a:prstGeom>
          <a:noFill/>
          <a:ln/>
        </p:spPr>
        <p:txBody>
          <a:bodyPr wrap="square" lIns="0" tIns="0" rIns="0" bIns="0" rtlCol="0" anchor="t"/>
          <a:lstStyle/>
          <a:p>
            <a:pPr marL="0" indent="0">
              <a:lnSpc>
                <a:spcPts val="1500"/>
              </a:lnSpc>
              <a:buNone/>
            </a:pPr>
            <a:r>
              <a:rPr lang="en-US" sz="1150" dirty="0">
                <a:solidFill>
                  <a:srgbClr val="F2F4F7"/>
                </a:solidFill>
                <a:latin typeface="Barlow" pitchFamily="34" charset="0"/>
                <a:ea typeface="Barlow" pitchFamily="34" charset="-122"/>
                <a:cs typeface="Barlow" pitchFamily="34" charset="-120"/>
              </a:rPr>
              <a:t>The connector the athlete linked to get paid</a:t>
            </a:r>
            <a:endParaRPr lang="en-US" sz="1150" dirty="0"/>
          </a:p>
        </p:txBody>
      </p:sp>
      <p:sp>
        <p:nvSpPr>
          <p:cNvPr id="29" name="Text 27"/>
          <p:cNvSpPr txBox="1"/>
          <p:nvPr/>
        </p:nvSpPr>
        <p:spPr>
          <a:xfrm>
            <a:off x="713232" y="4791456"/>
            <a:ext cx="1645920" cy="274320"/>
          </a:xfrm>
          <a:prstGeom prst="rect">
            <a:avLst/>
          </a:prstGeom>
          <a:noFill/>
          <a:ln/>
        </p:spPr>
        <p:txBody>
          <a:bodyPr wrap="square" lIns="0" tIns="0" rIns="0" bIns="0" rtlCol="0" anchor="t"/>
          <a:lstStyle/>
          <a:p>
            <a:pPr marL="0" indent="0">
              <a:buNone/>
            </a:pPr>
            <a:r>
              <a:rPr lang="en-US" sz="1250" kern="0" spc="220" dirty="0">
                <a:solidFill>
                  <a:srgbClr val="828C9A"/>
                </a:solidFill>
                <a:latin typeface="Barlow Condensed" pitchFamily="34" charset="0"/>
                <a:ea typeface="Barlow Condensed" pitchFamily="34" charset="-122"/>
                <a:cs typeface="Barlow Condensed" pitchFamily="34" charset="-120"/>
              </a:rPr>
              <a:t>THE BUYER</a:t>
            </a:r>
            <a:endParaRPr lang="en-US" sz="1250" dirty="0"/>
          </a:p>
        </p:txBody>
      </p:sp>
      <p:sp>
        <p:nvSpPr>
          <p:cNvPr id="30" name="Text 28"/>
          <p:cNvSpPr txBox="1"/>
          <p:nvPr/>
        </p:nvSpPr>
        <p:spPr>
          <a:xfrm>
            <a:off x="2404872" y="4773168"/>
            <a:ext cx="2834640" cy="402336"/>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Brands of any size, thin support</a:t>
            </a:r>
            <a:endParaRPr lang="en-US" sz="1150" dirty="0"/>
          </a:p>
        </p:txBody>
      </p:sp>
      <p:sp>
        <p:nvSpPr>
          <p:cNvPr id="31" name="Text 29"/>
          <p:cNvSpPr txBox="1"/>
          <p:nvPr/>
        </p:nvSpPr>
        <p:spPr>
          <a:xfrm>
            <a:off x="5495544" y="4773168"/>
            <a:ext cx="2834640" cy="402336"/>
          </a:xfrm>
          <a:prstGeom prst="rect">
            <a:avLst/>
          </a:prstGeom>
          <a:noFill/>
          <a:ln/>
        </p:spPr>
        <p:txBody>
          <a:bodyPr wrap="square" lIns="0" tIns="0" rIns="0" bIns="0" rtlCol="0" anchor="t"/>
          <a:lstStyle/>
          <a:p>
            <a:pPr marL="0" indent="0">
              <a:lnSpc>
                <a:spcPts val="1500"/>
              </a:lnSpc>
              <a:buNone/>
            </a:pPr>
            <a:r>
              <a:rPr lang="en-US" sz="1150" dirty="0">
                <a:solidFill>
                  <a:srgbClr val="828C9A"/>
                </a:solidFill>
                <a:latin typeface="Barlow" pitchFamily="34" charset="0"/>
                <a:ea typeface="Barlow" pitchFamily="34" charset="-122"/>
                <a:cs typeface="Barlow" pitchFamily="34" charset="-120"/>
              </a:rPr>
              <a:t>Rights holders, agencies, enterprise seats</a:t>
            </a:r>
            <a:endParaRPr lang="en-US" sz="1150" dirty="0"/>
          </a:p>
        </p:txBody>
      </p:sp>
      <p:sp>
        <p:nvSpPr>
          <p:cNvPr id="32" name="Text 30"/>
          <p:cNvSpPr txBox="1"/>
          <p:nvPr/>
        </p:nvSpPr>
        <p:spPr>
          <a:xfrm>
            <a:off x="8586216" y="4773168"/>
            <a:ext cx="2834640" cy="402336"/>
          </a:xfrm>
          <a:prstGeom prst="rect">
            <a:avLst/>
          </a:prstGeom>
          <a:noFill/>
          <a:ln/>
        </p:spPr>
        <p:txBody>
          <a:bodyPr wrap="square" lIns="0" tIns="0" rIns="0" bIns="0" rtlCol="0" anchor="t"/>
          <a:lstStyle/>
          <a:p>
            <a:pPr marL="0" indent="0">
              <a:lnSpc>
                <a:spcPts val="1500"/>
              </a:lnSpc>
              <a:buNone/>
            </a:pPr>
            <a:r>
              <a:rPr lang="en-US" sz="1150" dirty="0">
                <a:solidFill>
                  <a:srgbClr val="F2F4F7"/>
                </a:solidFill>
                <a:latin typeface="Barlow" pitchFamily="34" charset="0"/>
                <a:ea typeface="Barlow" pitchFamily="34" charset="-122"/>
                <a:cs typeface="Barlow" pitchFamily="34" charset="-120"/>
              </a:rPr>
              <a:t>The clinic, the gym, the dealer</a:t>
            </a:r>
            <a:endParaRPr lang="en-US" sz="1150" dirty="0"/>
          </a:p>
        </p:txBody>
      </p:sp>
      <p:sp>
        <p:nvSpPr>
          <p:cNvPr id="33" name="Shape 31"/>
          <p:cNvSpPr/>
          <p:nvPr/>
        </p:nvSpPr>
        <p:spPr>
          <a:xfrm>
            <a:off x="713232" y="5394960"/>
            <a:ext cx="10765231" cy="841248"/>
          </a:xfrm>
          <a:prstGeom prst="roundRect">
            <a:avLst>
              <a:gd name="adj" fmla="val 4348"/>
            </a:avLst>
          </a:prstGeom>
          <a:solidFill>
            <a:srgbClr val="1F242C"/>
          </a:solidFill>
          <a:ln w="9525">
            <a:solidFill>
              <a:srgbClr val="262C35"/>
            </a:solidFill>
            <a:prstDash val="solid"/>
          </a:ln>
        </p:spPr>
      </p:sp>
      <p:sp>
        <p:nvSpPr>
          <p:cNvPr id="34" name="Text 32"/>
          <p:cNvSpPr txBox="1"/>
          <p:nvPr/>
        </p:nvSpPr>
        <p:spPr>
          <a:xfrm>
            <a:off x="987552" y="5577840"/>
            <a:ext cx="2743200" cy="237744"/>
          </a:xfrm>
          <a:prstGeom prst="rect">
            <a:avLst/>
          </a:prstGeom>
          <a:noFill/>
          <a:ln/>
        </p:spPr>
        <p:txBody>
          <a:bodyPr wrap="square" lIns="0" tIns="0" rIns="0" bIns="0" rtlCol="0" anchor="t"/>
          <a:lstStyle/>
          <a:p>
            <a:pPr marL="0" indent="0">
              <a:buNone/>
            </a:pPr>
            <a:r>
              <a:rPr lang="en-US" sz="1400" kern="0" spc="240" dirty="0">
                <a:solidFill>
                  <a:srgbClr val="FFB020"/>
                </a:solidFill>
                <a:latin typeface="Barlow Condensed" pitchFamily="34" charset="0"/>
                <a:ea typeface="Barlow Condensed" pitchFamily="34" charset="-122"/>
                <a:cs typeface="Barlow Condensed" pitchFamily="34" charset="-120"/>
              </a:rPr>
              <a:t>WHY THEY CANNOT FOLLOW</a:t>
            </a:r>
            <a:endParaRPr lang="en-US" sz="1400" dirty="0"/>
          </a:p>
        </p:txBody>
      </p:sp>
      <p:sp>
        <p:nvSpPr>
          <p:cNvPr id="35" name="Text 33"/>
          <p:cNvSpPr txBox="1"/>
          <p:nvPr/>
        </p:nvSpPr>
        <p:spPr>
          <a:xfrm>
            <a:off x="3913632" y="5559552"/>
            <a:ext cx="7290511" cy="548640"/>
          </a:xfrm>
          <a:prstGeom prst="rect">
            <a:avLst/>
          </a:prstGeom>
          <a:noFill/>
          <a:ln/>
        </p:spPr>
        <p:txBody>
          <a:bodyPr wrap="square" lIns="0" tIns="0" rIns="0" bIns="0" rtlCol="0" anchor="t"/>
          <a:lstStyle/>
          <a:p>
            <a:pPr marL="0" indent="0">
              <a:lnSpc>
                <a:spcPts val="1800"/>
              </a:lnSpc>
              <a:buNone/>
            </a:pPr>
            <a:r>
              <a:rPr lang="en-US" sz="1350" dirty="0">
                <a:solidFill>
                  <a:srgbClr val="AEB6C2"/>
                </a:solidFill>
                <a:latin typeface="Barlow" pitchFamily="34" charset="0"/>
                <a:ea typeface="Barlow" pitchFamily="34" charset="-122"/>
                <a:cs typeface="Barlow" pitchFamily="34" charset="-120"/>
              </a:rPr>
              <a:t>Delivery is measured against a projection written onto the deal at the moment the offer is made. A company that was not in the transaction never saw the promise, so it has nothing to reconcile against. That is a position, not a feature.</a:t>
            </a:r>
            <a:endParaRPr lang="en-US" sz="1350" dirty="0"/>
          </a:p>
        </p:txBody>
      </p:sp>
      <p:sp>
        <p:nvSpPr>
          <p:cNvPr id="36" name="Text 34"/>
          <p:cNvSpPr txBox="1"/>
          <p:nvPr/>
        </p:nvSpPr>
        <p:spPr>
          <a:xfrm>
            <a:off x="713232" y="6382512"/>
            <a:ext cx="9667951" cy="274320"/>
          </a:xfrm>
          <a:prstGeom prst="rect">
            <a:avLst/>
          </a:prstGeom>
          <a:noFill/>
          <a:ln/>
        </p:spPr>
        <p:txBody>
          <a:bodyPr wrap="square" lIns="0" tIns="0" rIns="0" bIns="0" rtlCol="0" anchor="t"/>
          <a:lstStyle/>
          <a:p>
            <a:pPr marL="0" indent="0">
              <a:buNone/>
            </a:pPr>
            <a:r>
              <a:rPr lang="en-US" sz="950" dirty="0">
                <a:solidFill>
                  <a:srgbClr val="828C9A"/>
                </a:solidFill>
                <a:latin typeface="Barlow" pitchFamily="34" charset="0"/>
                <a:ea typeface="Barlow" pitchFamily="34" charset="-122"/>
                <a:cs typeface="Barlow" pitchFamily="34" charset="-120"/>
              </a:rPr>
              <a:t>Plan section 3.2.2 on the competitive set and section 4.6 on the buyer. Neither data company executes a deal.</a:t>
            </a:r>
            <a:endParaRPr lang="en-US" sz="950" dirty="0"/>
          </a:p>
        </p:txBody>
      </p:sp>
      <p:sp>
        <p:nvSpPr>
          <p:cNvPr id="37"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BACKUP, PRICING</a:t>
            </a:r>
            <a:endParaRPr lang="en-US" sz="1250" dirty="0"/>
          </a:p>
        </p:txBody>
      </p:sp>
      <p:sp>
        <p:nvSpPr>
          <p:cNvPr id="3" name="Text 1"/>
          <p:cNvSpPr txBox="1"/>
          <p:nvPr/>
        </p:nvSpPr>
        <p:spPr>
          <a:xfrm>
            <a:off x="713232" y="786384"/>
            <a:ext cx="10765231" cy="685800"/>
          </a:xfrm>
          <a:prstGeom prst="rect">
            <a:avLst/>
          </a:prstGeom>
          <a:noFill/>
          <a:ln/>
        </p:spPr>
        <p:txBody>
          <a:bodyPr wrap="square" lIns="0" tIns="0" rIns="0" bIns="0" rtlCol="0" anchor="t"/>
          <a:lstStyle/>
          <a:p>
            <a:pPr marL="0" indent="0">
              <a:lnSpc>
                <a:spcPts val="3800"/>
              </a:lnSpc>
              <a:buNone/>
            </a:pPr>
            <a:r>
              <a:rPr lang="en-US" sz="3200" dirty="0">
                <a:solidFill>
                  <a:srgbClr val="F2F4F7"/>
                </a:solidFill>
                <a:latin typeface="Barlow Condensed" pitchFamily="34" charset="0"/>
                <a:ea typeface="Barlow Condensed" pitchFamily="34" charset="-122"/>
                <a:cs typeface="Barlow Condensed" pitchFamily="34" charset="-120"/>
              </a:rPr>
              <a:t>15% sits between the only two published rates in the market</a:t>
            </a:r>
            <a:endParaRPr lang="en-US" sz="3200" dirty="0"/>
          </a:p>
        </p:txBody>
      </p:sp>
      <p:sp>
        <p:nvSpPr>
          <p:cNvPr id="4" name="Text 2"/>
          <p:cNvSpPr txBox="1"/>
          <p:nvPr/>
        </p:nvSpPr>
        <p:spPr>
          <a:xfrm>
            <a:off x="713232" y="1536192"/>
            <a:ext cx="10765231" cy="411480"/>
          </a:xfrm>
          <a:prstGeom prst="rect">
            <a:avLst/>
          </a:prstGeom>
          <a:noFill/>
          <a:ln/>
        </p:spPr>
        <p:txBody>
          <a:bodyPr wrap="square" lIns="0" tIns="0" rIns="0" bIns="0" rtlCol="0" anchor="t"/>
          <a:lstStyle/>
          <a:p>
            <a:pPr marL="0" indent="0">
              <a:lnSpc>
                <a:spcPts val="2200"/>
              </a:lnSpc>
              <a:buNone/>
            </a:pPr>
            <a:r>
              <a:rPr lang="en-US" sz="1400" dirty="0">
                <a:solidFill>
                  <a:srgbClr val="AEB6C2"/>
                </a:solidFill>
                <a:latin typeface="Barlow" pitchFamily="34" charset="0"/>
                <a:ea typeface="Barlow" pitchFamily="34" charset="-122"/>
                <a:cs typeface="Barlow" pitchFamily="34" charset="-120"/>
              </a:rPr>
              <a:t>Both ends of the corridor are real competitor economics, derived from filed accounts.</a:t>
            </a:r>
            <a:endParaRPr lang="en-US" sz="1400" dirty="0"/>
          </a:p>
        </p:txBody>
      </p:sp>
      <p:sp>
        <p:nvSpPr>
          <p:cNvPr id="5" name="Shape 3"/>
          <p:cNvSpPr/>
          <p:nvPr/>
        </p:nvSpPr>
        <p:spPr>
          <a:xfrm>
            <a:off x="713232" y="2194560"/>
            <a:ext cx="3405530" cy="1783080"/>
          </a:xfrm>
          <a:prstGeom prst="roundRect">
            <a:avLst>
              <a:gd name="adj" fmla="val 2051"/>
            </a:avLst>
          </a:prstGeom>
          <a:solidFill>
            <a:srgbClr val="171A20"/>
          </a:solidFill>
          <a:ln w="9525">
            <a:solidFill>
              <a:srgbClr val="262C35"/>
            </a:solidFill>
            <a:prstDash val="solid"/>
          </a:ln>
        </p:spPr>
      </p:sp>
      <p:sp>
        <p:nvSpPr>
          <p:cNvPr id="6" name="Text 4"/>
          <p:cNvSpPr txBox="1"/>
          <p:nvPr/>
        </p:nvSpPr>
        <p:spPr>
          <a:xfrm>
            <a:off x="987552" y="2395728"/>
            <a:ext cx="2856890" cy="237744"/>
          </a:xfrm>
          <a:prstGeom prst="rect">
            <a:avLst/>
          </a:prstGeom>
          <a:noFill/>
          <a:ln/>
        </p:spPr>
        <p:txBody>
          <a:bodyPr wrap="square" lIns="0" tIns="0" rIns="0" bIns="0" rtlCol="0" anchor="t"/>
          <a:lstStyle/>
          <a:p>
            <a:pPr marL="0" indent="0">
              <a:buNone/>
            </a:pPr>
            <a:r>
              <a:rPr lang="en-US" sz="1300" kern="0" spc="240" dirty="0">
                <a:solidFill>
                  <a:srgbClr val="828C9A"/>
                </a:solidFill>
                <a:latin typeface="Barlow Condensed" pitchFamily="34" charset="0"/>
                <a:ea typeface="Barlow Condensed" pitchFamily="34" charset="-122"/>
                <a:cs typeface="Barlow Condensed" pitchFamily="34" charset="-120"/>
              </a:rPr>
              <a:t>PATREON</a:t>
            </a:r>
            <a:endParaRPr lang="en-US" sz="1300" dirty="0"/>
          </a:p>
        </p:txBody>
      </p:sp>
      <p:sp>
        <p:nvSpPr>
          <p:cNvPr id="7" name="Text 5"/>
          <p:cNvSpPr txBox="1"/>
          <p:nvPr/>
        </p:nvSpPr>
        <p:spPr>
          <a:xfrm>
            <a:off x="987552" y="2670048"/>
            <a:ext cx="2856890" cy="731520"/>
          </a:xfrm>
          <a:prstGeom prst="rect">
            <a:avLst/>
          </a:prstGeom>
          <a:noFill/>
          <a:ln/>
        </p:spPr>
        <p:txBody>
          <a:bodyPr wrap="square" lIns="0" tIns="0" rIns="0" bIns="0" rtlCol="0" anchor="t"/>
          <a:lstStyle/>
          <a:p>
            <a:pPr marL="0" indent="0">
              <a:lnSpc>
                <a:spcPts val="5000"/>
              </a:lnSpc>
              <a:buNone/>
            </a:pPr>
            <a:r>
              <a:rPr lang="en-US" sz="5000" dirty="0">
                <a:solidFill>
                  <a:srgbClr val="AEB6C2"/>
                </a:solidFill>
                <a:latin typeface="Barlow Condensed" pitchFamily="34" charset="0"/>
                <a:ea typeface="Barlow Condensed" pitchFamily="34" charset="-122"/>
                <a:cs typeface="Barlow Condensed" pitchFamily="34" charset="-120"/>
              </a:rPr>
              <a:t>10%</a:t>
            </a:r>
            <a:endParaRPr lang="en-US" sz="5000" dirty="0"/>
          </a:p>
        </p:txBody>
      </p:sp>
      <p:sp>
        <p:nvSpPr>
          <p:cNvPr id="8" name="Text 6"/>
          <p:cNvSpPr txBox="1"/>
          <p:nvPr/>
        </p:nvSpPr>
        <p:spPr>
          <a:xfrm>
            <a:off x="987552" y="3438144"/>
            <a:ext cx="2856890" cy="457200"/>
          </a:xfrm>
          <a:prstGeom prst="rect">
            <a:avLst/>
          </a:prstGeom>
          <a:noFill/>
          <a:ln/>
        </p:spPr>
        <p:txBody>
          <a:bodyPr wrap="square" lIns="0" tIns="0" rIns="0" bIns="0" rtlCol="0" anchor="t"/>
          <a:lstStyle/>
          <a:p>
            <a:pPr marL="0" indent="0">
              <a:lnSpc>
                <a:spcPts val="1600"/>
              </a:lnSpc>
              <a:buNone/>
            </a:pPr>
            <a:r>
              <a:rPr lang="en-US" sz="1200" dirty="0">
                <a:solidFill>
                  <a:srgbClr val="828C9A"/>
                </a:solidFill>
                <a:latin typeface="Barlow" pitchFamily="34" charset="0"/>
                <a:ea typeface="Barlow" pitchFamily="34" charset="-122"/>
                <a:cs typeface="Barlow" pitchFamily="34" charset="-120"/>
              </a:rPr>
              <a:t>all-in, on filed accounts</a:t>
            </a:r>
            <a:endParaRPr lang="en-US" sz="1200" dirty="0"/>
          </a:p>
        </p:txBody>
      </p:sp>
      <p:sp>
        <p:nvSpPr>
          <p:cNvPr id="9" name="Shape 7"/>
          <p:cNvSpPr/>
          <p:nvPr/>
        </p:nvSpPr>
        <p:spPr>
          <a:xfrm>
            <a:off x="4393082" y="2194560"/>
            <a:ext cx="3405530" cy="1783080"/>
          </a:xfrm>
          <a:prstGeom prst="roundRect">
            <a:avLst>
              <a:gd name="adj" fmla="val 2051"/>
            </a:avLst>
          </a:prstGeom>
          <a:solidFill>
            <a:srgbClr val="1F242C"/>
          </a:solidFill>
          <a:ln w="9525">
            <a:solidFill>
              <a:srgbClr val="262C35"/>
            </a:solidFill>
            <a:prstDash val="solid"/>
          </a:ln>
        </p:spPr>
      </p:sp>
      <p:sp>
        <p:nvSpPr>
          <p:cNvPr id="10" name="Text 8"/>
          <p:cNvSpPr txBox="1"/>
          <p:nvPr/>
        </p:nvSpPr>
        <p:spPr>
          <a:xfrm>
            <a:off x="4667402" y="2395728"/>
            <a:ext cx="2856890" cy="237744"/>
          </a:xfrm>
          <a:prstGeom prst="rect">
            <a:avLst/>
          </a:prstGeom>
          <a:noFill/>
          <a:ln/>
        </p:spPr>
        <p:txBody>
          <a:bodyPr wrap="square" lIns="0" tIns="0" rIns="0" bIns="0" rtlCol="0" anchor="t"/>
          <a:lstStyle/>
          <a:p>
            <a:pPr marL="0" indent="0">
              <a:buNone/>
            </a:pPr>
            <a:r>
              <a:rPr lang="en-US" sz="1300" kern="0" spc="240" dirty="0">
                <a:solidFill>
                  <a:srgbClr val="828C9A"/>
                </a:solidFill>
                <a:latin typeface="Barlow Condensed" pitchFamily="34" charset="0"/>
                <a:ea typeface="Barlow Condensed" pitchFamily="34" charset="-122"/>
                <a:cs typeface="Barlow Condensed" pitchFamily="34" charset="-120"/>
              </a:rPr>
              <a:t>STRIDE</a:t>
            </a:r>
            <a:endParaRPr lang="en-US" sz="1300" dirty="0"/>
          </a:p>
        </p:txBody>
      </p:sp>
      <p:sp>
        <p:nvSpPr>
          <p:cNvPr id="11" name="Text 9"/>
          <p:cNvSpPr txBox="1"/>
          <p:nvPr/>
        </p:nvSpPr>
        <p:spPr>
          <a:xfrm>
            <a:off x="4667402" y="2670048"/>
            <a:ext cx="2856890" cy="731520"/>
          </a:xfrm>
          <a:prstGeom prst="rect">
            <a:avLst/>
          </a:prstGeom>
          <a:noFill/>
          <a:ln/>
        </p:spPr>
        <p:txBody>
          <a:bodyPr wrap="square" lIns="0" tIns="0" rIns="0" bIns="0" rtlCol="0" anchor="t"/>
          <a:lstStyle/>
          <a:p>
            <a:pPr marL="0" indent="0">
              <a:lnSpc>
                <a:spcPts val="5000"/>
              </a:lnSpc>
              <a:buNone/>
            </a:pPr>
            <a:r>
              <a:rPr lang="en-US" sz="5000" dirty="0">
                <a:solidFill>
                  <a:srgbClr val="FFB020"/>
                </a:solidFill>
                <a:latin typeface="Barlow Condensed" pitchFamily="34" charset="0"/>
                <a:ea typeface="Barlow Condensed" pitchFamily="34" charset="-122"/>
                <a:cs typeface="Barlow Condensed" pitchFamily="34" charset="-120"/>
              </a:rPr>
              <a:t>15%</a:t>
            </a:r>
            <a:endParaRPr lang="en-US" sz="5000" dirty="0"/>
          </a:p>
        </p:txBody>
      </p:sp>
      <p:sp>
        <p:nvSpPr>
          <p:cNvPr id="12" name="Text 10"/>
          <p:cNvSpPr txBox="1"/>
          <p:nvPr/>
        </p:nvSpPr>
        <p:spPr>
          <a:xfrm>
            <a:off x="4667402" y="3438144"/>
            <a:ext cx="2856890" cy="457200"/>
          </a:xfrm>
          <a:prstGeom prst="rect">
            <a:avLst/>
          </a:prstGeom>
          <a:noFill/>
          <a:ln/>
        </p:spPr>
        <p:txBody>
          <a:bodyPr wrap="square" lIns="0" tIns="0" rIns="0" bIns="0" rtlCol="0" anchor="t"/>
          <a:lstStyle/>
          <a:p>
            <a:pPr marL="0" indent="0">
              <a:lnSpc>
                <a:spcPts val="1600"/>
              </a:lnSpc>
              <a:buNone/>
            </a:pPr>
            <a:r>
              <a:rPr lang="en-US" sz="1200" dirty="0">
                <a:solidFill>
                  <a:srgbClr val="828C9A"/>
                </a:solidFill>
                <a:latin typeface="Barlow" pitchFamily="34" charset="0"/>
                <a:ea typeface="Barlow" pitchFamily="34" charset="-122"/>
                <a:cs typeface="Barlow" pitchFamily="34" charset="-120"/>
              </a:rPr>
              <a:t>flat, and no monthly athlete fee</a:t>
            </a:r>
            <a:endParaRPr lang="en-US" sz="1200" dirty="0"/>
          </a:p>
        </p:txBody>
      </p:sp>
      <p:sp>
        <p:nvSpPr>
          <p:cNvPr id="13" name="Shape 11"/>
          <p:cNvSpPr/>
          <p:nvPr/>
        </p:nvSpPr>
        <p:spPr>
          <a:xfrm>
            <a:off x="8072933" y="2194560"/>
            <a:ext cx="3405530" cy="1783080"/>
          </a:xfrm>
          <a:prstGeom prst="roundRect">
            <a:avLst>
              <a:gd name="adj" fmla="val 2051"/>
            </a:avLst>
          </a:prstGeom>
          <a:solidFill>
            <a:srgbClr val="171A20"/>
          </a:solidFill>
          <a:ln w="9525">
            <a:solidFill>
              <a:srgbClr val="262C35"/>
            </a:solidFill>
            <a:prstDash val="solid"/>
          </a:ln>
        </p:spPr>
      </p:sp>
      <p:sp>
        <p:nvSpPr>
          <p:cNvPr id="14" name="Text 12"/>
          <p:cNvSpPr txBox="1"/>
          <p:nvPr/>
        </p:nvSpPr>
        <p:spPr>
          <a:xfrm>
            <a:off x="8347253" y="2395728"/>
            <a:ext cx="2856890" cy="237744"/>
          </a:xfrm>
          <a:prstGeom prst="rect">
            <a:avLst/>
          </a:prstGeom>
          <a:noFill/>
          <a:ln/>
        </p:spPr>
        <p:txBody>
          <a:bodyPr wrap="square" lIns="0" tIns="0" rIns="0" bIns="0" rtlCol="0" anchor="t"/>
          <a:lstStyle/>
          <a:p>
            <a:pPr marL="0" indent="0">
              <a:buNone/>
            </a:pPr>
            <a:r>
              <a:rPr lang="en-US" sz="1300" kern="0" spc="240" dirty="0">
                <a:solidFill>
                  <a:srgbClr val="828C9A"/>
                </a:solidFill>
                <a:latin typeface="Barlow Condensed" pitchFamily="34" charset="0"/>
                <a:ea typeface="Barlow Condensed" pitchFamily="34" charset="-122"/>
                <a:cs typeface="Barlow Condensed" pitchFamily="34" charset="-120"/>
              </a:rPr>
              <a:t>ONLYFANS</a:t>
            </a:r>
            <a:endParaRPr lang="en-US" sz="1300" dirty="0"/>
          </a:p>
        </p:txBody>
      </p:sp>
      <p:sp>
        <p:nvSpPr>
          <p:cNvPr id="15" name="Text 13"/>
          <p:cNvSpPr txBox="1"/>
          <p:nvPr/>
        </p:nvSpPr>
        <p:spPr>
          <a:xfrm>
            <a:off x="8347253" y="2670048"/>
            <a:ext cx="2856890" cy="731520"/>
          </a:xfrm>
          <a:prstGeom prst="rect">
            <a:avLst/>
          </a:prstGeom>
          <a:noFill/>
          <a:ln/>
        </p:spPr>
        <p:txBody>
          <a:bodyPr wrap="square" lIns="0" tIns="0" rIns="0" bIns="0" rtlCol="0" anchor="t"/>
          <a:lstStyle/>
          <a:p>
            <a:pPr marL="0" indent="0">
              <a:lnSpc>
                <a:spcPts val="5000"/>
              </a:lnSpc>
              <a:buNone/>
            </a:pPr>
            <a:r>
              <a:rPr lang="en-US" sz="5000" dirty="0">
                <a:solidFill>
                  <a:srgbClr val="AEB6C2"/>
                </a:solidFill>
                <a:latin typeface="Barlow Condensed" pitchFamily="34" charset="0"/>
                <a:ea typeface="Barlow Condensed" pitchFamily="34" charset="-122"/>
                <a:cs typeface="Barlow Condensed" pitchFamily="34" charset="-120"/>
              </a:rPr>
              <a:t>20%</a:t>
            </a:r>
            <a:endParaRPr lang="en-US" sz="5000" dirty="0"/>
          </a:p>
        </p:txBody>
      </p:sp>
      <p:sp>
        <p:nvSpPr>
          <p:cNvPr id="16" name="Text 14"/>
          <p:cNvSpPr txBox="1"/>
          <p:nvPr/>
        </p:nvSpPr>
        <p:spPr>
          <a:xfrm>
            <a:off x="8347253" y="3438144"/>
            <a:ext cx="2856890" cy="457200"/>
          </a:xfrm>
          <a:prstGeom prst="rect">
            <a:avLst/>
          </a:prstGeom>
          <a:noFill/>
          <a:ln/>
        </p:spPr>
        <p:txBody>
          <a:bodyPr wrap="square" lIns="0" tIns="0" rIns="0" bIns="0" rtlCol="0" anchor="t"/>
          <a:lstStyle/>
          <a:p>
            <a:pPr marL="0" indent="0">
              <a:lnSpc>
                <a:spcPts val="1600"/>
              </a:lnSpc>
              <a:buNone/>
            </a:pPr>
            <a:r>
              <a:rPr lang="en-US" sz="1200" dirty="0">
                <a:solidFill>
                  <a:srgbClr val="828C9A"/>
                </a:solidFill>
                <a:latin typeface="Barlow" pitchFamily="34" charset="0"/>
                <a:ea typeface="Barlow" pitchFamily="34" charset="-122"/>
                <a:cs typeface="Barlow" pitchFamily="34" charset="-120"/>
              </a:rPr>
              <a:t>and agencies take 20 to 50% on top</a:t>
            </a:r>
            <a:endParaRPr lang="en-US" sz="1200" dirty="0"/>
          </a:p>
        </p:txBody>
      </p:sp>
      <p:sp>
        <p:nvSpPr>
          <p:cNvPr id="17" name="Text 15"/>
          <p:cNvSpPr txBox="1"/>
          <p:nvPr/>
        </p:nvSpPr>
        <p:spPr>
          <a:xfrm>
            <a:off x="713232" y="4224528"/>
            <a:ext cx="10765231" cy="822960"/>
          </a:xfrm>
          <a:prstGeom prst="rect">
            <a:avLst/>
          </a:prstGeom>
          <a:noFill/>
          <a:ln/>
        </p:spPr>
        <p:txBody>
          <a:bodyPr wrap="square" lIns="0" tIns="0" rIns="0" bIns="0" rtlCol="0" anchor="t"/>
          <a:lstStyle/>
          <a:p>
            <a:pPr marL="0" indent="0">
              <a:lnSpc>
                <a:spcPts val="2000"/>
              </a:lnSpc>
              <a:buNone/>
            </a:pPr>
            <a:r>
              <a:rPr lang="en-US" sz="1400" dirty="0">
                <a:solidFill>
                  <a:srgbClr val="AEB6C2"/>
                </a:solidFill>
                <a:latin typeface="Barlow" pitchFamily="34" charset="0"/>
                <a:ea typeface="Barlow" pitchFamily="34" charset="-122"/>
                <a:cs typeface="Barlow" pitchFamily="34" charset="-120"/>
              </a:rPr>
              <a:t>At 15% we undercut the nearest comparable for any athlete earning under €1,380 a month, which is the entire long tail we are built for. The decision forfeits €0.5M of Y7 revenue against a 20% take, and buys a pricing argument that survives contact with the exact athlete we target.</a:t>
            </a:r>
            <a:endParaRPr lang="en-US" sz="1400" dirty="0"/>
          </a:p>
        </p:txBody>
      </p:sp>
      <p:sp>
        <p:nvSpPr>
          <p:cNvPr id="18" name="Text 16"/>
          <p:cNvSpPr txBox="1"/>
          <p:nvPr/>
        </p:nvSpPr>
        <p:spPr>
          <a:xfrm>
            <a:off x="713232" y="6382512"/>
            <a:ext cx="9667951" cy="274320"/>
          </a:xfrm>
          <a:prstGeom prst="rect">
            <a:avLst/>
          </a:prstGeom>
          <a:noFill/>
          <a:ln/>
        </p:spPr>
        <p:txBody>
          <a:bodyPr wrap="square" lIns="0" tIns="0" rIns="0" bIns="0" rtlCol="0" anchor="t"/>
          <a:lstStyle/>
          <a:p>
            <a:pPr marL="0" indent="0">
              <a:buNone/>
            </a:pPr>
            <a:r>
              <a:rPr lang="en-US" sz="950" dirty="0">
                <a:solidFill>
                  <a:srgbClr val="828C9A"/>
                </a:solidFill>
                <a:latin typeface="Barlow" pitchFamily="34" charset="0"/>
                <a:ea typeface="Barlow" pitchFamily="34" charset="-122"/>
                <a:cs typeface="Barlow" pitchFamily="34" charset="-120"/>
              </a:rPr>
              <a:t>Patreon and OnlyFans published terms and filed accounts; agency rates from published commission guides.</a:t>
            </a:r>
            <a:endParaRPr lang="en-US" sz="95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BACKUP, SCENARIOS</a:t>
            </a:r>
            <a:endParaRPr lang="en-US" sz="1250" dirty="0"/>
          </a:p>
        </p:txBody>
      </p:sp>
      <p:sp>
        <p:nvSpPr>
          <p:cNvPr id="3" name="Text 1"/>
          <p:cNvSpPr txBox="1"/>
          <p:nvPr/>
        </p:nvSpPr>
        <p:spPr>
          <a:xfrm>
            <a:off x="713232" y="786384"/>
            <a:ext cx="10765231" cy="685800"/>
          </a:xfrm>
          <a:prstGeom prst="rect">
            <a:avLst/>
          </a:prstGeom>
          <a:noFill/>
          <a:ln/>
        </p:spPr>
        <p:txBody>
          <a:bodyPr wrap="square" lIns="0" tIns="0" rIns="0" bIns="0" rtlCol="0" anchor="t"/>
          <a:lstStyle/>
          <a:p>
            <a:pPr marL="0" indent="0">
              <a:lnSpc>
                <a:spcPts val="3800"/>
              </a:lnSpc>
              <a:buNone/>
            </a:pPr>
            <a:r>
              <a:rPr lang="en-US" sz="3200" dirty="0">
                <a:solidFill>
                  <a:srgbClr val="F2F4F7"/>
                </a:solidFill>
                <a:latin typeface="Barlow Condensed" pitchFamily="34" charset="0"/>
                <a:ea typeface="Barlow Condensed" pitchFamily="34" charset="-122"/>
                <a:cs typeface="Barlow Condensed" pitchFamily="34" charset="-120"/>
              </a:rPr>
              <a:t>The plan survives its own pessimistic case</a:t>
            </a:r>
            <a:endParaRPr lang="en-US" sz="3200" dirty="0"/>
          </a:p>
        </p:txBody>
      </p:sp>
      <p:sp>
        <p:nvSpPr>
          <p:cNvPr id="4" name="Text 2"/>
          <p:cNvSpPr txBox="1"/>
          <p:nvPr/>
        </p:nvSpPr>
        <p:spPr>
          <a:xfrm>
            <a:off x="713232" y="1536192"/>
            <a:ext cx="10765231" cy="411480"/>
          </a:xfrm>
          <a:prstGeom prst="rect">
            <a:avLst/>
          </a:prstGeom>
          <a:noFill/>
          <a:ln/>
        </p:spPr>
        <p:txBody>
          <a:bodyPr wrap="square" lIns="0" tIns="0" rIns="0" bIns="0" rtlCol="0" anchor="t"/>
          <a:lstStyle/>
          <a:p>
            <a:pPr marL="0" indent="0">
              <a:lnSpc>
                <a:spcPts val="2200"/>
              </a:lnSpc>
              <a:buNone/>
            </a:pPr>
            <a:r>
              <a:rPr lang="en-US" sz="1400" dirty="0">
                <a:solidFill>
                  <a:srgbClr val="AEB6C2"/>
                </a:solidFill>
                <a:latin typeface="Barlow" pitchFamily="34" charset="0"/>
                <a:ea typeface="Barlow" pitchFamily="34" charset="-122"/>
                <a:cs typeface="Barlow" pitchFamily="34" charset="-120"/>
              </a:rPr>
              <a:t>Each case re-runs the whole model on changed drivers rather than adjusting the base result.</a:t>
            </a:r>
            <a:endParaRPr lang="en-US" sz="1400" dirty="0"/>
          </a:p>
        </p:txBody>
      </p:sp>
      <p:sp>
        <p:nvSpPr>
          <p:cNvPr id="5" name="Text 3"/>
          <p:cNvSpPr txBox="1"/>
          <p:nvPr/>
        </p:nvSpPr>
        <p:spPr>
          <a:xfrm>
            <a:off x="713232" y="2194560"/>
            <a:ext cx="1645920" cy="237744"/>
          </a:xfrm>
          <a:prstGeom prst="rect">
            <a:avLst/>
          </a:prstGeom>
          <a:noFill/>
          <a:ln/>
        </p:spPr>
        <p:txBody>
          <a:bodyPr wrap="square" lIns="0" tIns="0" rIns="0" bIns="0" rtlCol="0" anchor="t"/>
          <a:lstStyle/>
          <a:p>
            <a:pPr marL="0" indent="0">
              <a:buNone/>
            </a:pPr>
            <a:r>
              <a:rPr lang="en-US" sz="1100" kern="0" spc="200" dirty="0">
                <a:solidFill>
                  <a:srgbClr val="828C9A"/>
                </a:solidFill>
                <a:latin typeface="Barlow Condensed" pitchFamily="34" charset="0"/>
                <a:ea typeface="Barlow Condensed" pitchFamily="34" charset="-122"/>
                <a:cs typeface="Barlow Condensed" pitchFamily="34" charset="-120"/>
              </a:rPr>
              <a:t>CASE</a:t>
            </a:r>
            <a:endParaRPr lang="en-US" sz="1100" dirty="0"/>
          </a:p>
        </p:txBody>
      </p:sp>
      <p:sp>
        <p:nvSpPr>
          <p:cNvPr id="6" name="Text 4"/>
          <p:cNvSpPr txBox="1"/>
          <p:nvPr/>
        </p:nvSpPr>
        <p:spPr>
          <a:xfrm>
            <a:off x="2450592" y="2194560"/>
            <a:ext cx="3017520" cy="237744"/>
          </a:xfrm>
          <a:prstGeom prst="rect">
            <a:avLst/>
          </a:prstGeom>
          <a:noFill/>
          <a:ln/>
        </p:spPr>
        <p:txBody>
          <a:bodyPr wrap="square" lIns="0" tIns="0" rIns="0" bIns="0" rtlCol="0" anchor="t"/>
          <a:lstStyle/>
          <a:p>
            <a:pPr marL="0" indent="0">
              <a:buNone/>
            </a:pPr>
            <a:r>
              <a:rPr lang="en-US" sz="1100" kern="0" spc="200" dirty="0">
                <a:solidFill>
                  <a:srgbClr val="828C9A"/>
                </a:solidFill>
                <a:latin typeface="Barlow Condensed" pitchFamily="34" charset="0"/>
                <a:ea typeface="Barlow Condensed" pitchFamily="34" charset="-122"/>
                <a:cs typeface="Barlow Condensed" pitchFamily="34" charset="-120"/>
              </a:rPr>
              <a:t>WHAT CHANGES</a:t>
            </a:r>
            <a:endParaRPr lang="en-US" sz="1100" dirty="0"/>
          </a:p>
        </p:txBody>
      </p:sp>
      <p:sp>
        <p:nvSpPr>
          <p:cNvPr id="7" name="Text 5"/>
          <p:cNvSpPr txBox="1"/>
          <p:nvPr/>
        </p:nvSpPr>
        <p:spPr>
          <a:xfrm>
            <a:off x="5559552" y="2194560"/>
            <a:ext cx="1463040" cy="237744"/>
          </a:xfrm>
          <a:prstGeom prst="rect">
            <a:avLst/>
          </a:prstGeom>
          <a:noFill/>
          <a:ln/>
        </p:spPr>
        <p:txBody>
          <a:bodyPr wrap="square" lIns="0" tIns="0" rIns="0" bIns="0" rtlCol="0" anchor="t"/>
          <a:lstStyle/>
          <a:p>
            <a:pPr marL="0" indent="0">
              <a:buNone/>
            </a:pPr>
            <a:r>
              <a:rPr lang="en-US" sz="1100" kern="0" spc="200" dirty="0">
                <a:solidFill>
                  <a:srgbClr val="828C9A"/>
                </a:solidFill>
                <a:latin typeface="Barlow Condensed" pitchFamily="34" charset="0"/>
                <a:ea typeface="Barlow Condensed" pitchFamily="34" charset="-122"/>
                <a:cs typeface="Barlow Condensed" pitchFamily="34" charset="-120"/>
              </a:rPr>
              <a:t>Y7 REVENUE</a:t>
            </a:r>
            <a:endParaRPr lang="en-US" sz="1100" dirty="0"/>
          </a:p>
        </p:txBody>
      </p:sp>
      <p:sp>
        <p:nvSpPr>
          <p:cNvPr id="8" name="Text 6"/>
          <p:cNvSpPr txBox="1"/>
          <p:nvPr/>
        </p:nvSpPr>
        <p:spPr>
          <a:xfrm>
            <a:off x="7114032" y="2194560"/>
            <a:ext cx="1463040" cy="237744"/>
          </a:xfrm>
          <a:prstGeom prst="rect">
            <a:avLst/>
          </a:prstGeom>
          <a:noFill/>
          <a:ln/>
        </p:spPr>
        <p:txBody>
          <a:bodyPr wrap="square" lIns="0" tIns="0" rIns="0" bIns="0" rtlCol="0" anchor="t"/>
          <a:lstStyle/>
          <a:p>
            <a:pPr marL="0" indent="0">
              <a:buNone/>
            </a:pPr>
            <a:r>
              <a:rPr lang="en-US" sz="1100" kern="0" spc="200" dirty="0">
                <a:solidFill>
                  <a:srgbClr val="828C9A"/>
                </a:solidFill>
                <a:latin typeface="Barlow Condensed" pitchFamily="34" charset="0"/>
                <a:ea typeface="Barlow Condensed" pitchFamily="34" charset="-122"/>
                <a:cs typeface="Barlow Condensed" pitchFamily="34" charset="-120"/>
              </a:rPr>
              <a:t>Y7 EBITDA</a:t>
            </a:r>
            <a:endParaRPr lang="en-US" sz="1100" dirty="0"/>
          </a:p>
        </p:txBody>
      </p:sp>
      <p:sp>
        <p:nvSpPr>
          <p:cNvPr id="9" name="Text 7"/>
          <p:cNvSpPr txBox="1"/>
          <p:nvPr/>
        </p:nvSpPr>
        <p:spPr>
          <a:xfrm>
            <a:off x="8668512" y="2194560"/>
            <a:ext cx="1463040" cy="237744"/>
          </a:xfrm>
          <a:prstGeom prst="rect">
            <a:avLst/>
          </a:prstGeom>
          <a:noFill/>
          <a:ln/>
        </p:spPr>
        <p:txBody>
          <a:bodyPr wrap="square" lIns="0" tIns="0" rIns="0" bIns="0" rtlCol="0" anchor="t"/>
          <a:lstStyle/>
          <a:p>
            <a:pPr marL="0" indent="0">
              <a:buNone/>
            </a:pPr>
            <a:r>
              <a:rPr lang="en-US" sz="1100" kern="0" spc="200" dirty="0">
                <a:solidFill>
                  <a:srgbClr val="828C9A"/>
                </a:solidFill>
                <a:latin typeface="Barlow Condensed" pitchFamily="34" charset="0"/>
                <a:ea typeface="Barlow Condensed" pitchFamily="34" charset="-122"/>
                <a:cs typeface="Barlow Condensed" pitchFamily="34" charset="-120"/>
              </a:rPr>
              <a:t>CAPITAL NEED</a:t>
            </a:r>
            <a:endParaRPr lang="en-US" sz="1100" dirty="0"/>
          </a:p>
        </p:txBody>
      </p:sp>
      <p:sp>
        <p:nvSpPr>
          <p:cNvPr id="10" name="Text 8"/>
          <p:cNvSpPr txBox="1"/>
          <p:nvPr/>
        </p:nvSpPr>
        <p:spPr>
          <a:xfrm>
            <a:off x="10222992" y="2194560"/>
            <a:ext cx="1234440" cy="237744"/>
          </a:xfrm>
          <a:prstGeom prst="rect">
            <a:avLst/>
          </a:prstGeom>
          <a:noFill/>
          <a:ln/>
        </p:spPr>
        <p:txBody>
          <a:bodyPr wrap="square" lIns="0" tIns="0" rIns="0" bIns="0" rtlCol="0" anchor="t"/>
          <a:lstStyle/>
          <a:p>
            <a:pPr marL="0" indent="0">
              <a:buNone/>
            </a:pPr>
            <a:r>
              <a:rPr lang="en-US" sz="1100" kern="0" spc="200" dirty="0">
                <a:solidFill>
                  <a:srgbClr val="828C9A"/>
                </a:solidFill>
                <a:latin typeface="Barlow Condensed" pitchFamily="34" charset="0"/>
                <a:ea typeface="Barlow Condensed" pitchFamily="34" charset="-122"/>
                <a:cs typeface="Barlow Condensed" pitchFamily="34" charset="-120"/>
              </a:rPr>
              <a:t>PROFIT FROM</a:t>
            </a:r>
            <a:endParaRPr lang="en-US" sz="1100" dirty="0"/>
          </a:p>
        </p:txBody>
      </p:sp>
      <p:sp>
        <p:nvSpPr>
          <p:cNvPr id="11" name="Shape 9"/>
          <p:cNvSpPr/>
          <p:nvPr/>
        </p:nvSpPr>
        <p:spPr>
          <a:xfrm>
            <a:off x="713232" y="2468880"/>
            <a:ext cx="10765231" cy="12802"/>
          </a:xfrm>
          <a:prstGeom prst="rect">
            <a:avLst/>
          </a:prstGeom>
          <a:solidFill>
            <a:srgbClr val="262C35"/>
          </a:solidFill>
          <a:ln w="12700">
            <a:solidFill>
              <a:srgbClr val="333333"/>
            </a:solidFill>
            <a:prstDash val="solid"/>
          </a:ln>
        </p:spPr>
      </p:sp>
      <p:sp>
        <p:nvSpPr>
          <p:cNvPr id="12" name="Text 10"/>
          <p:cNvSpPr txBox="1"/>
          <p:nvPr/>
        </p:nvSpPr>
        <p:spPr>
          <a:xfrm>
            <a:off x="713232" y="2596896"/>
            <a:ext cx="1645920" cy="329184"/>
          </a:xfrm>
          <a:prstGeom prst="rect">
            <a:avLst/>
          </a:prstGeom>
          <a:noFill/>
          <a:ln/>
        </p:spPr>
        <p:txBody>
          <a:bodyPr wrap="square" lIns="0" tIns="0" rIns="0" bIns="0" rtlCol="0" anchor="t"/>
          <a:lstStyle/>
          <a:p>
            <a:pPr marL="0" indent="0">
              <a:buNone/>
            </a:pPr>
            <a:r>
              <a:rPr lang="en-US" sz="1700" dirty="0">
                <a:solidFill>
                  <a:srgbClr val="F2F4F7"/>
                </a:solidFill>
                <a:latin typeface="Barlow Condensed" pitchFamily="34" charset="0"/>
                <a:ea typeface="Barlow Condensed" pitchFamily="34" charset="-122"/>
                <a:cs typeface="Barlow Condensed" pitchFamily="34" charset="-120"/>
              </a:rPr>
              <a:t>Pessimistic</a:t>
            </a:r>
            <a:endParaRPr lang="en-US" sz="1700" dirty="0"/>
          </a:p>
        </p:txBody>
      </p:sp>
      <p:sp>
        <p:nvSpPr>
          <p:cNvPr id="13" name="Text 11"/>
          <p:cNvSpPr txBox="1"/>
          <p:nvPr/>
        </p:nvSpPr>
        <p:spPr>
          <a:xfrm>
            <a:off x="2450592" y="2596896"/>
            <a:ext cx="3017520" cy="329184"/>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Fans/athlete −25%, monetise −20%</a:t>
            </a:r>
            <a:endParaRPr lang="en-US" sz="1250" dirty="0"/>
          </a:p>
        </p:txBody>
      </p:sp>
      <p:sp>
        <p:nvSpPr>
          <p:cNvPr id="14" name="Text 12"/>
          <p:cNvSpPr txBox="1"/>
          <p:nvPr/>
        </p:nvSpPr>
        <p:spPr>
          <a:xfrm>
            <a:off x="5559552" y="2596896"/>
            <a:ext cx="1463040" cy="329184"/>
          </a:xfrm>
          <a:prstGeom prst="rect">
            <a:avLst/>
          </a:prstGeom>
          <a:noFill/>
          <a:ln/>
        </p:spPr>
        <p:txBody>
          <a:bodyPr wrap="square" lIns="0" tIns="0" rIns="0" bIns="0" rtlCol="0" anchor="t"/>
          <a:lstStyle/>
          <a:p>
            <a:pPr marL="0" indent="0">
              <a:buNone/>
            </a:pPr>
            <a:r>
              <a:rPr lang="en-US" sz="1700" dirty="0">
                <a:solidFill>
                  <a:srgbClr val="F2F4F7"/>
                </a:solidFill>
                <a:latin typeface="Barlow Condensed" pitchFamily="34" charset="0"/>
                <a:ea typeface="Barlow Condensed" pitchFamily="34" charset="-122"/>
                <a:cs typeface="Barlow Condensed" pitchFamily="34" charset="-120"/>
              </a:rPr>
              <a:t>€2.34M</a:t>
            </a:r>
            <a:endParaRPr lang="en-US" sz="1700" dirty="0"/>
          </a:p>
        </p:txBody>
      </p:sp>
      <p:sp>
        <p:nvSpPr>
          <p:cNvPr id="15" name="Text 13"/>
          <p:cNvSpPr txBox="1"/>
          <p:nvPr/>
        </p:nvSpPr>
        <p:spPr>
          <a:xfrm>
            <a:off x="7114032" y="2596896"/>
            <a:ext cx="1463040" cy="329184"/>
          </a:xfrm>
          <a:prstGeom prst="rect">
            <a:avLst/>
          </a:prstGeom>
          <a:noFill/>
          <a:ln/>
        </p:spPr>
        <p:txBody>
          <a:bodyPr wrap="square" lIns="0" tIns="0" rIns="0" bIns="0" rtlCol="0" anchor="t"/>
          <a:lstStyle/>
          <a:p>
            <a:pPr marL="0" indent="0">
              <a:buNone/>
            </a:pPr>
            <a:r>
              <a:rPr lang="en-US" sz="1700" dirty="0">
                <a:solidFill>
                  <a:srgbClr val="F2F4F7"/>
                </a:solidFill>
                <a:latin typeface="Barlow Condensed" pitchFamily="34" charset="0"/>
                <a:ea typeface="Barlow Condensed" pitchFamily="34" charset="-122"/>
                <a:cs typeface="Barlow Condensed" pitchFamily="34" charset="-120"/>
              </a:rPr>
              <a:t>€399k</a:t>
            </a:r>
            <a:endParaRPr lang="en-US" sz="1700" dirty="0"/>
          </a:p>
        </p:txBody>
      </p:sp>
      <p:sp>
        <p:nvSpPr>
          <p:cNvPr id="16" name="Text 14"/>
          <p:cNvSpPr txBox="1"/>
          <p:nvPr/>
        </p:nvSpPr>
        <p:spPr>
          <a:xfrm>
            <a:off x="8668512" y="2596896"/>
            <a:ext cx="1463040" cy="329184"/>
          </a:xfrm>
          <a:prstGeom prst="rect">
            <a:avLst/>
          </a:prstGeom>
          <a:noFill/>
          <a:ln/>
        </p:spPr>
        <p:txBody>
          <a:bodyPr wrap="square" lIns="0" tIns="0" rIns="0" bIns="0" rtlCol="0" anchor="t"/>
          <a:lstStyle/>
          <a:p>
            <a:pPr marL="0" indent="0">
              <a:buNone/>
            </a:pPr>
            <a:r>
              <a:rPr lang="en-US" sz="1700" dirty="0">
                <a:solidFill>
                  <a:srgbClr val="F2F4F7"/>
                </a:solidFill>
                <a:latin typeface="Barlow Condensed" pitchFamily="34" charset="0"/>
                <a:ea typeface="Barlow Condensed" pitchFamily="34" charset="-122"/>
                <a:cs typeface="Barlow Condensed" pitchFamily="34" charset="-120"/>
              </a:rPr>
              <a:t>€541k</a:t>
            </a:r>
            <a:endParaRPr lang="en-US" sz="1700" dirty="0"/>
          </a:p>
        </p:txBody>
      </p:sp>
      <p:sp>
        <p:nvSpPr>
          <p:cNvPr id="17" name="Text 15"/>
          <p:cNvSpPr txBox="1"/>
          <p:nvPr/>
        </p:nvSpPr>
        <p:spPr>
          <a:xfrm>
            <a:off x="10222992" y="2596896"/>
            <a:ext cx="1234440" cy="329184"/>
          </a:xfrm>
          <a:prstGeom prst="rect">
            <a:avLst/>
          </a:prstGeom>
          <a:noFill/>
          <a:ln/>
        </p:spPr>
        <p:txBody>
          <a:bodyPr wrap="square" lIns="0" tIns="0" rIns="0" bIns="0" rtlCol="0" anchor="t"/>
          <a:lstStyle/>
          <a:p>
            <a:pPr marL="0" indent="0">
              <a:buNone/>
            </a:pPr>
            <a:r>
              <a:rPr lang="en-US" sz="1700" dirty="0">
                <a:solidFill>
                  <a:srgbClr val="F2F4F7"/>
                </a:solidFill>
                <a:latin typeface="Barlow Condensed" pitchFamily="34" charset="0"/>
                <a:ea typeface="Barlow Condensed" pitchFamily="34" charset="-122"/>
                <a:cs typeface="Barlow Condensed" pitchFamily="34" charset="-120"/>
              </a:rPr>
              <a:t>Y5</a:t>
            </a:r>
            <a:endParaRPr lang="en-US" sz="1700" dirty="0"/>
          </a:p>
        </p:txBody>
      </p:sp>
      <p:sp>
        <p:nvSpPr>
          <p:cNvPr id="18" name="Shape 16"/>
          <p:cNvSpPr/>
          <p:nvPr/>
        </p:nvSpPr>
        <p:spPr>
          <a:xfrm>
            <a:off x="603504" y="3090672"/>
            <a:ext cx="10984687" cy="512064"/>
          </a:xfrm>
          <a:prstGeom prst="rect">
            <a:avLst/>
          </a:prstGeom>
          <a:solidFill>
            <a:srgbClr val="1F242C"/>
          </a:solidFill>
          <a:ln w="12700">
            <a:solidFill>
              <a:srgbClr val="333333"/>
            </a:solidFill>
            <a:prstDash val="solid"/>
          </a:ln>
        </p:spPr>
      </p:sp>
      <p:sp>
        <p:nvSpPr>
          <p:cNvPr id="19" name="Text 17"/>
          <p:cNvSpPr txBox="1"/>
          <p:nvPr/>
        </p:nvSpPr>
        <p:spPr>
          <a:xfrm>
            <a:off x="713232" y="3163824"/>
            <a:ext cx="1645920" cy="329184"/>
          </a:xfrm>
          <a:prstGeom prst="rect">
            <a:avLst/>
          </a:prstGeom>
          <a:noFill/>
          <a:ln/>
        </p:spPr>
        <p:txBody>
          <a:bodyPr wrap="square" lIns="0" tIns="0" rIns="0" bIns="0" rtlCol="0" anchor="t"/>
          <a:lstStyle/>
          <a:p>
            <a:pPr marL="0" indent="0">
              <a:buNone/>
            </a:pPr>
            <a:r>
              <a:rPr lang="en-US" sz="1700" dirty="0">
                <a:solidFill>
                  <a:srgbClr val="FFB020"/>
                </a:solidFill>
                <a:latin typeface="Barlow Condensed" pitchFamily="34" charset="0"/>
                <a:ea typeface="Barlow Condensed" pitchFamily="34" charset="-122"/>
                <a:cs typeface="Barlow Condensed" pitchFamily="34" charset="-120"/>
              </a:rPr>
              <a:t>Base</a:t>
            </a:r>
            <a:endParaRPr lang="en-US" sz="1700" dirty="0"/>
          </a:p>
        </p:txBody>
      </p:sp>
      <p:sp>
        <p:nvSpPr>
          <p:cNvPr id="20" name="Text 18"/>
          <p:cNvSpPr txBox="1"/>
          <p:nvPr/>
        </p:nvSpPr>
        <p:spPr>
          <a:xfrm>
            <a:off x="2450592" y="3163824"/>
            <a:ext cx="3017520" cy="329184"/>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As modelled</a:t>
            </a:r>
            <a:endParaRPr lang="en-US" sz="1250" dirty="0"/>
          </a:p>
        </p:txBody>
      </p:sp>
      <p:sp>
        <p:nvSpPr>
          <p:cNvPr id="21" name="Text 19"/>
          <p:cNvSpPr txBox="1"/>
          <p:nvPr/>
        </p:nvSpPr>
        <p:spPr>
          <a:xfrm>
            <a:off x="5559552" y="3163824"/>
            <a:ext cx="1463040" cy="329184"/>
          </a:xfrm>
          <a:prstGeom prst="rect">
            <a:avLst/>
          </a:prstGeom>
          <a:noFill/>
          <a:ln/>
        </p:spPr>
        <p:txBody>
          <a:bodyPr wrap="square" lIns="0" tIns="0" rIns="0" bIns="0" rtlCol="0" anchor="t"/>
          <a:lstStyle/>
          <a:p>
            <a:pPr marL="0" indent="0">
              <a:buNone/>
            </a:pPr>
            <a:r>
              <a:rPr lang="en-US" sz="1700" dirty="0">
                <a:solidFill>
                  <a:srgbClr val="FFB020"/>
                </a:solidFill>
                <a:latin typeface="Barlow Condensed" pitchFamily="34" charset="0"/>
                <a:ea typeface="Barlow Condensed" pitchFamily="34" charset="-122"/>
                <a:cs typeface="Barlow Condensed" pitchFamily="34" charset="-120"/>
              </a:rPr>
              <a:t>€3.01M</a:t>
            </a:r>
            <a:endParaRPr lang="en-US" sz="1700" dirty="0"/>
          </a:p>
        </p:txBody>
      </p:sp>
      <p:sp>
        <p:nvSpPr>
          <p:cNvPr id="22" name="Text 20"/>
          <p:cNvSpPr txBox="1"/>
          <p:nvPr/>
        </p:nvSpPr>
        <p:spPr>
          <a:xfrm>
            <a:off x="7114032" y="3163824"/>
            <a:ext cx="1463040" cy="329184"/>
          </a:xfrm>
          <a:prstGeom prst="rect">
            <a:avLst/>
          </a:prstGeom>
          <a:noFill/>
          <a:ln/>
        </p:spPr>
        <p:txBody>
          <a:bodyPr wrap="square" lIns="0" tIns="0" rIns="0" bIns="0" rtlCol="0" anchor="t"/>
          <a:lstStyle/>
          <a:p>
            <a:pPr marL="0" indent="0">
              <a:buNone/>
            </a:pPr>
            <a:r>
              <a:rPr lang="en-US" sz="1700" dirty="0">
                <a:solidFill>
                  <a:srgbClr val="FFB020"/>
                </a:solidFill>
                <a:latin typeface="Barlow Condensed" pitchFamily="34" charset="0"/>
                <a:ea typeface="Barlow Condensed" pitchFamily="34" charset="-122"/>
                <a:cs typeface="Barlow Condensed" pitchFamily="34" charset="-120"/>
              </a:rPr>
              <a:t>€743k</a:t>
            </a:r>
            <a:endParaRPr lang="en-US" sz="1700" dirty="0"/>
          </a:p>
        </p:txBody>
      </p:sp>
      <p:sp>
        <p:nvSpPr>
          <p:cNvPr id="23" name="Text 21"/>
          <p:cNvSpPr txBox="1"/>
          <p:nvPr/>
        </p:nvSpPr>
        <p:spPr>
          <a:xfrm>
            <a:off x="8668512" y="3163824"/>
            <a:ext cx="1463040" cy="329184"/>
          </a:xfrm>
          <a:prstGeom prst="rect">
            <a:avLst/>
          </a:prstGeom>
          <a:noFill/>
          <a:ln/>
        </p:spPr>
        <p:txBody>
          <a:bodyPr wrap="square" lIns="0" tIns="0" rIns="0" bIns="0" rtlCol="0" anchor="t"/>
          <a:lstStyle/>
          <a:p>
            <a:pPr marL="0" indent="0">
              <a:buNone/>
            </a:pPr>
            <a:r>
              <a:rPr lang="en-US" sz="1700" dirty="0">
                <a:solidFill>
                  <a:srgbClr val="FFB020"/>
                </a:solidFill>
                <a:latin typeface="Barlow Condensed" pitchFamily="34" charset="0"/>
                <a:ea typeface="Barlow Condensed" pitchFamily="34" charset="-122"/>
                <a:cs typeface="Barlow Condensed" pitchFamily="34" charset="-120"/>
              </a:rPr>
              <a:t>€414k</a:t>
            </a:r>
            <a:endParaRPr lang="en-US" sz="1700" dirty="0"/>
          </a:p>
        </p:txBody>
      </p:sp>
      <p:sp>
        <p:nvSpPr>
          <p:cNvPr id="24" name="Text 22"/>
          <p:cNvSpPr txBox="1"/>
          <p:nvPr/>
        </p:nvSpPr>
        <p:spPr>
          <a:xfrm>
            <a:off x="10222992" y="3163824"/>
            <a:ext cx="1234440" cy="329184"/>
          </a:xfrm>
          <a:prstGeom prst="rect">
            <a:avLst/>
          </a:prstGeom>
          <a:noFill/>
          <a:ln/>
        </p:spPr>
        <p:txBody>
          <a:bodyPr wrap="square" lIns="0" tIns="0" rIns="0" bIns="0" rtlCol="0" anchor="t"/>
          <a:lstStyle/>
          <a:p>
            <a:pPr marL="0" indent="0">
              <a:buNone/>
            </a:pPr>
            <a:r>
              <a:rPr lang="en-US" sz="1700" dirty="0">
                <a:solidFill>
                  <a:srgbClr val="FFB020"/>
                </a:solidFill>
                <a:latin typeface="Barlow Condensed" pitchFamily="34" charset="0"/>
                <a:ea typeface="Barlow Condensed" pitchFamily="34" charset="-122"/>
                <a:cs typeface="Barlow Condensed" pitchFamily="34" charset="-120"/>
              </a:rPr>
              <a:t>Y4</a:t>
            </a:r>
            <a:endParaRPr lang="en-US" sz="1700" dirty="0"/>
          </a:p>
        </p:txBody>
      </p:sp>
      <p:sp>
        <p:nvSpPr>
          <p:cNvPr id="25" name="Text 23"/>
          <p:cNvSpPr txBox="1"/>
          <p:nvPr/>
        </p:nvSpPr>
        <p:spPr>
          <a:xfrm>
            <a:off x="713232" y="3730752"/>
            <a:ext cx="1645920" cy="329184"/>
          </a:xfrm>
          <a:prstGeom prst="rect">
            <a:avLst/>
          </a:prstGeom>
          <a:noFill/>
          <a:ln/>
        </p:spPr>
        <p:txBody>
          <a:bodyPr wrap="square" lIns="0" tIns="0" rIns="0" bIns="0" rtlCol="0" anchor="t"/>
          <a:lstStyle/>
          <a:p>
            <a:pPr marL="0" indent="0">
              <a:buNone/>
            </a:pPr>
            <a:r>
              <a:rPr lang="en-US" sz="1700" dirty="0">
                <a:solidFill>
                  <a:srgbClr val="F2F4F7"/>
                </a:solidFill>
                <a:latin typeface="Barlow Condensed" pitchFamily="34" charset="0"/>
                <a:ea typeface="Barlow Condensed" pitchFamily="34" charset="-122"/>
                <a:cs typeface="Barlow Condensed" pitchFamily="34" charset="-120"/>
              </a:rPr>
              <a:t>Optimistic</a:t>
            </a:r>
            <a:endParaRPr lang="en-US" sz="1700" dirty="0"/>
          </a:p>
        </p:txBody>
      </p:sp>
      <p:sp>
        <p:nvSpPr>
          <p:cNvPr id="26" name="Text 24"/>
          <p:cNvSpPr txBox="1"/>
          <p:nvPr/>
        </p:nvSpPr>
        <p:spPr>
          <a:xfrm>
            <a:off x="2450592" y="3730752"/>
            <a:ext cx="3017520" cy="329184"/>
          </a:xfrm>
          <a:prstGeom prst="rect">
            <a:avLst/>
          </a:prstGeom>
          <a:noFill/>
          <a:ln/>
        </p:spPr>
        <p:txBody>
          <a:bodyPr wrap="square" lIns="0" tIns="0" rIns="0" bIns="0" rtlCol="0" anchor="t"/>
          <a:lstStyle/>
          <a:p>
            <a:pPr marL="0" indent="0">
              <a:buNone/>
            </a:pPr>
            <a:r>
              <a:rPr lang="en-US" sz="1250" dirty="0">
                <a:solidFill>
                  <a:srgbClr val="828C9A"/>
                </a:solidFill>
                <a:latin typeface="Barlow" pitchFamily="34" charset="0"/>
                <a:ea typeface="Barlow" pitchFamily="34" charset="-122"/>
                <a:cs typeface="Barlow" pitchFamily="34" charset="-120"/>
              </a:rPr>
              <a:t>Fans/athlete +25%, monetise +20%</a:t>
            </a:r>
            <a:endParaRPr lang="en-US" sz="1250" dirty="0"/>
          </a:p>
        </p:txBody>
      </p:sp>
      <p:sp>
        <p:nvSpPr>
          <p:cNvPr id="27" name="Text 25"/>
          <p:cNvSpPr txBox="1"/>
          <p:nvPr/>
        </p:nvSpPr>
        <p:spPr>
          <a:xfrm>
            <a:off x="5559552" y="3730752"/>
            <a:ext cx="1463040" cy="329184"/>
          </a:xfrm>
          <a:prstGeom prst="rect">
            <a:avLst/>
          </a:prstGeom>
          <a:noFill/>
          <a:ln/>
        </p:spPr>
        <p:txBody>
          <a:bodyPr wrap="square" lIns="0" tIns="0" rIns="0" bIns="0" rtlCol="0" anchor="t"/>
          <a:lstStyle/>
          <a:p>
            <a:pPr marL="0" indent="0">
              <a:buNone/>
            </a:pPr>
            <a:r>
              <a:rPr lang="en-US" sz="1700" dirty="0">
                <a:solidFill>
                  <a:srgbClr val="F2F4F7"/>
                </a:solidFill>
                <a:latin typeface="Barlow Condensed" pitchFamily="34" charset="0"/>
                <a:ea typeface="Barlow Condensed" pitchFamily="34" charset="-122"/>
                <a:cs typeface="Barlow Condensed" pitchFamily="34" charset="-120"/>
              </a:rPr>
              <a:t>€3.59M</a:t>
            </a:r>
            <a:endParaRPr lang="en-US" sz="1700" dirty="0"/>
          </a:p>
        </p:txBody>
      </p:sp>
      <p:sp>
        <p:nvSpPr>
          <p:cNvPr id="28" name="Text 26"/>
          <p:cNvSpPr txBox="1"/>
          <p:nvPr/>
        </p:nvSpPr>
        <p:spPr>
          <a:xfrm>
            <a:off x="7114032" y="3730752"/>
            <a:ext cx="1463040" cy="329184"/>
          </a:xfrm>
          <a:prstGeom prst="rect">
            <a:avLst/>
          </a:prstGeom>
          <a:noFill/>
          <a:ln/>
        </p:spPr>
        <p:txBody>
          <a:bodyPr wrap="square" lIns="0" tIns="0" rIns="0" bIns="0" rtlCol="0" anchor="t"/>
          <a:lstStyle/>
          <a:p>
            <a:pPr marL="0" indent="0">
              <a:buNone/>
            </a:pPr>
            <a:r>
              <a:rPr lang="en-US" sz="1700" dirty="0">
                <a:solidFill>
                  <a:srgbClr val="F2F4F7"/>
                </a:solidFill>
                <a:latin typeface="Barlow Condensed" pitchFamily="34" charset="0"/>
                <a:ea typeface="Barlow Condensed" pitchFamily="34" charset="-122"/>
                <a:cs typeface="Barlow Condensed" pitchFamily="34" charset="-120"/>
              </a:rPr>
              <a:t>€1.04M</a:t>
            </a:r>
            <a:endParaRPr lang="en-US" sz="1700" dirty="0"/>
          </a:p>
        </p:txBody>
      </p:sp>
      <p:sp>
        <p:nvSpPr>
          <p:cNvPr id="29" name="Text 27"/>
          <p:cNvSpPr txBox="1"/>
          <p:nvPr/>
        </p:nvSpPr>
        <p:spPr>
          <a:xfrm>
            <a:off x="8668512" y="3730752"/>
            <a:ext cx="1463040" cy="329184"/>
          </a:xfrm>
          <a:prstGeom prst="rect">
            <a:avLst/>
          </a:prstGeom>
          <a:noFill/>
          <a:ln/>
        </p:spPr>
        <p:txBody>
          <a:bodyPr wrap="square" lIns="0" tIns="0" rIns="0" bIns="0" rtlCol="0" anchor="t"/>
          <a:lstStyle/>
          <a:p>
            <a:pPr marL="0" indent="0">
              <a:buNone/>
            </a:pPr>
            <a:r>
              <a:rPr lang="en-US" sz="1700" dirty="0">
                <a:solidFill>
                  <a:srgbClr val="F2F4F7"/>
                </a:solidFill>
                <a:latin typeface="Barlow Condensed" pitchFamily="34" charset="0"/>
                <a:ea typeface="Barlow Condensed" pitchFamily="34" charset="-122"/>
                <a:cs typeface="Barlow Condensed" pitchFamily="34" charset="-120"/>
              </a:rPr>
              <a:t>€347k</a:t>
            </a:r>
            <a:endParaRPr lang="en-US" sz="1700" dirty="0"/>
          </a:p>
        </p:txBody>
      </p:sp>
      <p:sp>
        <p:nvSpPr>
          <p:cNvPr id="30" name="Text 28"/>
          <p:cNvSpPr txBox="1"/>
          <p:nvPr/>
        </p:nvSpPr>
        <p:spPr>
          <a:xfrm>
            <a:off x="10222992" y="3730752"/>
            <a:ext cx="1234440" cy="329184"/>
          </a:xfrm>
          <a:prstGeom prst="rect">
            <a:avLst/>
          </a:prstGeom>
          <a:noFill/>
          <a:ln/>
        </p:spPr>
        <p:txBody>
          <a:bodyPr wrap="square" lIns="0" tIns="0" rIns="0" bIns="0" rtlCol="0" anchor="t"/>
          <a:lstStyle/>
          <a:p>
            <a:pPr marL="0" indent="0">
              <a:buNone/>
            </a:pPr>
            <a:r>
              <a:rPr lang="en-US" sz="1700" dirty="0">
                <a:solidFill>
                  <a:srgbClr val="F2F4F7"/>
                </a:solidFill>
                <a:latin typeface="Barlow Condensed" pitchFamily="34" charset="0"/>
                <a:ea typeface="Barlow Condensed" pitchFamily="34" charset="-122"/>
                <a:cs typeface="Barlow Condensed" pitchFamily="34" charset="-120"/>
              </a:rPr>
              <a:t>Y4</a:t>
            </a:r>
            <a:endParaRPr lang="en-US" sz="1700" dirty="0"/>
          </a:p>
        </p:txBody>
      </p:sp>
      <p:sp>
        <p:nvSpPr>
          <p:cNvPr id="31" name="Text 29"/>
          <p:cNvSpPr txBox="1"/>
          <p:nvPr/>
        </p:nvSpPr>
        <p:spPr>
          <a:xfrm>
            <a:off x="713232" y="4572000"/>
            <a:ext cx="10765231" cy="731520"/>
          </a:xfrm>
          <a:prstGeom prst="rect">
            <a:avLst/>
          </a:prstGeom>
          <a:noFill/>
          <a:ln/>
        </p:spPr>
        <p:txBody>
          <a:bodyPr wrap="square" lIns="0" tIns="0" rIns="0" bIns="0" rtlCol="0" anchor="t"/>
          <a:lstStyle/>
          <a:p>
            <a:pPr marL="0" indent="0">
              <a:lnSpc>
                <a:spcPts val="1900"/>
              </a:lnSpc>
              <a:buNone/>
            </a:pPr>
            <a:r>
              <a:rPr lang="en-US" sz="1400" dirty="0">
                <a:solidFill>
                  <a:srgbClr val="AEB6C2"/>
                </a:solidFill>
                <a:latin typeface="Barlow" pitchFamily="34" charset="0"/>
                <a:ea typeface="Barlow" pitchFamily="34" charset="-122"/>
                <a:cs typeface="Barlow" pitchFamily="34" charset="-120"/>
              </a:rPr>
              <a:t>Even the pessimistic case breaks even, one year later and on €541k instead of €414k. The downside here is a slower, smaller company rather than a failed one, and that is the property the staged raise is designed to protect.</a:t>
            </a:r>
            <a:endParaRPr lang="en-US" sz="1400" dirty="0"/>
          </a:p>
        </p:txBody>
      </p:sp>
      <p:sp>
        <p:nvSpPr>
          <p:cNvPr id="32" name="Text 30"/>
          <p:cNvSpPr txBox="1"/>
          <p:nvPr/>
        </p:nvSpPr>
        <p:spPr>
          <a:xfrm>
            <a:off x="713232" y="6382512"/>
            <a:ext cx="9667951" cy="274320"/>
          </a:xfrm>
          <a:prstGeom prst="rect">
            <a:avLst/>
          </a:prstGeom>
          <a:noFill/>
          <a:ln/>
        </p:spPr>
        <p:txBody>
          <a:bodyPr wrap="square" lIns="0" tIns="0" rIns="0" bIns="0" rtlCol="0" anchor="t"/>
          <a:lstStyle/>
          <a:p>
            <a:pPr marL="0" indent="0">
              <a:buNone/>
            </a:pPr>
            <a:r>
              <a:rPr lang="en-US" sz="950" dirty="0">
                <a:solidFill>
                  <a:srgbClr val="828C9A"/>
                </a:solidFill>
                <a:latin typeface="Barlow" pitchFamily="34" charset="0"/>
                <a:ea typeface="Barlow" pitchFamily="34" charset="-122"/>
                <a:cs typeface="Barlow" pitchFamily="34" charset="-120"/>
              </a:rPr>
              <a:t>Stride financial model, scenario table.</a:t>
            </a:r>
            <a:endParaRPr lang="en-US" sz="950" dirty="0"/>
          </a:p>
        </p:txBody>
      </p:sp>
      <p:sp>
        <p:nvSpPr>
          <p:cNvPr id="33"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BACKUP, RISK</a:t>
            </a:r>
            <a:endParaRPr lang="en-US" sz="1250" dirty="0"/>
          </a:p>
        </p:txBody>
      </p:sp>
      <p:sp>
        <p:nvSpPr>
          <p:cNvPr id="3" name="Text 1"/>
          <p:cNvSpPr txBox="1"/>
          <p:nvPr/>
        </p:nvSpPr>
        <p:spPr>
          <a:xfrm>
            <a:off x="713232" y="786384"/>
            <a:ext cx="10765231" cy="685800"/>
          </a:xfrm>
          <a:prstGeom prst="rect">
            <a:avLst/>
          </a:prstGeom>
          <a:noFill/>
          <a:ln/>
        </p:spPr>
        <p:txBody>
          <a:bodyPr wrap="square" lIns="0" tIns="0" rIns="0" bIns="0" rtlCol="0" anchor="t"/>
          <a:lstStyle/>
          <a:p>
            <a:pPr marL="0" indent="0">
              <a:lnSpc>
                <a:spcPts val="3800"/>
              </a:lnSpc>
              <a:buNone/>
            </a:pPr>
            <a:r>
              <a:rPr lang="en-US" sz="3200" dirty="0">
                <a:solidFill>
                  <a:srgbClr val="F2F4F7"/>
                </a:solidFill>
                <a:latin typeface="Barlow Condensed" pitchFamily="34" charset="0"/>
                <a:ea typeface="Barlow Condensed" pitchFamily="34" charset="-122"/>
                <a:cs typeface="Barlow Condensed" pitchFamily="34" charset="-120"/>
              </a:rPr>
              <a:t>Eleven risks scored, and one of them is the thesis</a:t>
            </a:r>
            <a:endParaRPr lang="en-US" sz="3200" dirty="0"/>
          </a:p>
        </p:txBody>
      </p:sp>
      <p:sp>
        <p:nvSpPr>
          <p:cNvPr id="4" name="Text 2"/>
          <p:cNvSpPr txBox="1"/>
          <p:nvPr/>
        </p:nvSpPr>
        <p:spPr>
          <a:xfrm>
            <a:off x="713232" y="1536192"/>
            <a:ext cx="10765231" cy="411480"/>
          </a:xfrm>
          <a:prstGeom prst="rect">
            <a:avLst/>
          </a:prstGeom>
          <a:noFill/>
          <a:ln/>
        </p:spPr>
        <p:txBody>
          <a:bodyPr wrap="square" lIns="0" tIns="0" rIns="0" bIns="0" rtlCol="0" anchor="t"/>
          <a:lstStyle/>
          <a:p>
            <a:pPr marL="0" indent="0">
              <a:lnSpc>
                <a:spcPts val="2200"/>
              </a:lnSpc>
              <a:buNone/>
            </a:pPr>
            <a:r>
              <a:rPr lang="en-US" sz="1400" dirty="0">
                <a:solidFill>
                  <a:srgbClr val="AEB6C2"/>
                </a:solidFill>
                <a:latin typeface="Barlow" pitchFamily="34" charset="0"/>
                <a:ea typeface="Barlow" pitchFamily="34" charset="-122"/>
                <a:cs typeface="Barlow" pitchFamily="34" charset="-120"/>
              </a:rPr>
              <a:t>Probability × impact, both on a 1 to 5 scale. Nothing is rated more likely than 3.</a:t>
            </a:r>
            <a:endParaRPr lang="en-US" sz="1400" dirty="0"/>
          </a:p>
        </p:txBody>
      </p:sp>
      <p:sp>
        <p:nvSpPr>
          <p:cNvPr id="5" name="Shape 3"/>
          <p:cNvSpPr/>
          <p:nvPr/>
        </p:nvSpPr>
        <p:spPr>
          <a:xfrm>
            <a:off x="713232" y="2194560"/>
            <a:ext cx="10765231" cy="896112"/>
          </a:xfrm>
          <a:prstGeom prst="roundRect">
            <a:avLst>
              <a:gd name="adj" fmla="val 4082"/>
            </a:avLst>
          </a:prstGeom>
          <a:solidFill>
            <a:srgbClr val="171A20"/>
          </a:solidFill>
          <a:ln w="9525">
            <a:solidFill>
              <a:srgbClr val="262C35"/>
            </a:solidFill>
            <a:prstDash val="solid"/>
          </a:ln>
        </p:spPr>
      </p:sp>
      <p:sp>
        <p:nvSpPr>
          <p:cNvPr id="6" name="Text 4"/>
          <p:cNvSpPr txBox="1"/>
          <p:nvPr/>
        </p:nvSpPr>
        <p:spPr>
          <a:xfrm>
            <a:off x="969264" y="2432304"/>
            <a:ext cx="548640" cy="365760"/>
          </a:xfrm>
          <a:prstGeom prst="rect">
            <a:avLst/>
          </a:prstGeom>
          <a:noFill/>
          <a:ln/>
        </p:spPr>
        <p:txBody>
          <a:bodyPr wrap="square" lIns="0" tIns="0" rIns="0" bIns="0" rtlCol="0" anchor="t"/>
          <a:lstStyle/>
          <a:p>
            <a:pPr marL="0" indent="0">
              <a:buNone/>
            </a:pPr>
            <a:r>
              <a:rPr lang="en-US" sz="2400" dirty="0">
                <a:solidFill>
                  <a:srgbClr val="F2555A"/>
                </a:solidFill>
                <a:latin typeface="Barlow Condensed" pitchFamily="34" charset="0"/>
                <a:ea typeface="Barlow Condensed" pitchFamily="34" charset="-122"/>
                <a:cs typeface="Barlow Condensed" pitchFamily="34" charset="-120"/>
              </a:rPr>
              <a:t>R1</a:t>
            </a:r>
            <a:endParaRPr lang="en-US" sz="2400" dirty="0"/>
          </a:p>
        </p:txBody>
      </p:sp>
      <p:sp>
        <p:nvSpPr>
          <p:cNvPr id="7" name="Text 5"/>
          <p:cNvSpPr txBox="1"/>
          <p:nvPr/>
        </p:nvSpPr>
        <p:spPr>
          <a:xfrm>
            <a:off x="1627632" y="2350008"/>
            <a:ext cx="3749040" cy="548640"/>
          </a:xfrm>
          <a:prstGeom prst="rect">
            <a:avLst/>
          </a:prstGeom>
          <a:noFill/>
          <a:ln/>
        </p:spPr>
        <p:txBody>
          <a:bodyPr wrap="square" lIns="0" tIns="0" rIns="0" bIns="0" rtlCol="0" anchor="t"/>
          <a:lstStyle/>
          <a:p>
            <a:pPr marL="0" indent="0">
              <a:lnSpc>
                <a:spcPts val="1800"/>
              </a:lnSpc>
              <a:buNone/>
            </a:pPr>
            <a:r>
              <a:rPr lang="en-US" sz="1400" dirty="0">
                <a:solidFill>
                  <a:srgbClr val="F2F4F7"/>
                </a:solidFill>
                <a:latin typeface="Barlow" pitchFamily="34" charset="0"/>
                <a:ea typeface="Barlow" pitchFamily="34" charset="-122"/>
                <a:cs typeface="Barlow" pitchFamily="34" charset="-120"/>
              </a:rPr>
              <a:t>Fans do not pay for niche-athlete content</a:t>
            </a:r>
            <a:endParaRPr lang="en-US" sz="1400" dirty="0"/>
          </a:p>
        </p:txBody>
      </p:sp>
      <p:sp>
        <p:nvSpPr>
          <p:cNvPr id="8" name="Text 6"/>
          <p:cNvSpPr txBox="1"/>
          <p:nvPr/>
        </p:nvSpPr>
        <p:spPr>
          <a:xfrm>
            <a:off x="5468112" y="2468880"/>
            <a:ext cx="1371600" cy="274320"/>
          </a:xfrm>
          <a:prstGeom prst="rect">
            <a:avLst/>
          </a:prstGeom>
          <a:noFill/>
          <a:ln/>
        </p:spPr>
        <p:txBody>
          <a:bodyPr wrap="square" lIns="0" tIns="0" rIns="0" bIns="0" rtlCol="0" anchor="t"/>
          <a:lstStyle/>
          <a:p>
            <a:pPr marL="0" indent="0">
              <a:buNone/>
            </a:pPr>
            <a:r>
              <a:rPr lang="en-US" sz="1600" dirty="0">
                <a:solidFill>
                  <a:srgbClr val="F2555A"/>
                </a:solidFill>
                <a:latin typeface="Barlow Condensed" pitchFamily="34" charset="0"/>
                <a:ea typeface="Barlow Condensed" pitchFamily="34" charset="-122"/>
                <a:cs typeface="Barlow Condensed" pitchFamily="34" charset="-120"/>
              </a:rPr>
              <a:t>3 × 5 = 15</a:t>
            </a:r>
            <a:endParaRPr lang="en-US" sz="1600" dirty="0"/>
          </a:p>
        </p:txBody>
      </p:sp>
      <p:sp>
        <p:nvSpPr>
          <p:cNvPr id="9" name="Text 7"/>
          <p:cNvSpPr txBox="1"/>
          <p:nvPr/>
        </p:nvSpPr>
        <p:spPr>
          <a:xfrm>
            <a:off x="7022592" y="2377440"/>
            <a:ext cx="4181551" cy="566928"/>
          </a:xfrm>
          <a:prstGeom prst="rect">
            <a:avLst/>
          </a:prstGeom>
          <a:noFill/>
          <a:ln/>
        </p:spPr>
        <p:txBody>
          <a:bodyPr wrap="square" lIns="0" tIns="0" rIns="0" bIns="0" rtlCol="0" anchor="t"/>
          <a:lstStyle/>
          <a:p>
            <a:pPr marL="0" indent="0">
              <a:lnSpc>
                <a:spcPts val="1600"/>
              </a:lnSpc>
              <a:buNone/>
            </a:pPr>
            <a:r>
              <a:rPr lang="en-US" sz="1200" dirty="0">
                <a:solidFill>
                  <a:srgbClr val="828C9A"/>
                </a:solidFill>
                <a:latin typeface="Barlow" pitchFamily="34" charset="0"/>
                <a:ea typeface="Barlow" pitchFamily="34" charset="-122"/>
                <a:cs typeface="Barlow" pitchFamily="34" charset="-120"/>
              </a:rPr>
              <a:t>Three months of real revenue from one anchor athlete, before the second tranche</a:t>
            </a:r>
            <a:endParaRPr lang="en-US" sz="1200" dirty="0"/>
          </a:p>
        </p:txBody>
      </p:sp>
      <p:sp>
        <p:nvSpPr>
          <p:cNvPr id="10" name="Shape 8"/>
          <p:cNvSpPr/>
          <p:nvPr/>
        </p:nvSpPr>
        <p:spPr>
          <a:xfrm>
            <a:off x="713232" y="3218688"/>
            <a:ext cx="10765231" cy="896112"/>
          </a:xfrm>
          <a:prstGeom prst="roundRect">
            <a:avLst>
              <a:gd name="adj" fmla="val 4082"/>
            </a:avLst>
          </a:prstGeom>
          <a:solidFill>
            <a:srgbClr val="171A20"/>
          </a:solidFill>
          <a:ln w="9525">
            <a:solidFill>
              <a:srgbClr val="262C35"/>
            </a:solidFill>
            <a:prstDash val="solid"/>
          </a:ln>
        </p:spPr>
      </p:sp>
      <p:sp>
        <p:nvSpPr>
          <p:cNvPr id="11" name="Text 9"/>
          <p:cNvSpPr txBox="1"/>
          <p:nvPr/>
        </p:nvSpPr>
        <p:spPr>
          <a:xfrm>
            <a:off x="969264" y="3456432"/>
            <a:ext cx="548640" cy="365760"/>
          </a:xfrm>
          <a:prstGeom prst="rect">
            <a:avLst/>
          </a:prstGeom>
          <a:noFill/>
          <a:ln/>
        </p:spPr>
        <p:txBody>
          <a:bodyPr wrap="square" lIns="0" tIns="0" rIns="0" bIns="0" rtlCol="0" anchor="t"/>
          <a:lstStyle/>
          <a:p>
            <a:pPr marL="0" indent="0">
              <a:buNone/>
            </a:pPr>
            <a:r>
              <a:rPr lang="en-US" sz="2400" dirty="0">
                <a:solidFill>
                  <a:srgbClr val="FF8A3D"/>
                </a:solidFill>
                <a:latin typeface="Barlow Condensed" pitchFamily="34" charset="0"/>
                <a:ea typeface="Barlow Condensed" pitchFamily="34" charset="-122"/>
                <a:cs typeface="Barlow Condensed" pitchFamily="34" charset="-120"/>
              </a:rPr>
              <a:t>R4</a:t>
            </a:r>
            <a:endParaRPr lang="en-US" sz="2400" dirty="0"/>
          </a:p>
        </p:txBody>
      </p:sp>
      <p:sp>
        <p:nvSpPr>
          <p:cNvPr id="12" name="Text 10"/>
          <p:cNvSpPr txBox="1"/>
          <p:nvPr/>
        </p:nvSpPr>
        <p:spPr>
          <a:xfrm>
            <a:off x="1627632" y="3374136"/>
            <a:ext cx="3749040" cy="548640"/>
          </a:xfrm>
          <a:prstGeom prst="rect">
            <a:avLst/>
          </a:prstGeom>
          <a:noFill/>
          <a:ln/>
        </p:spPr>
        <p:txBody>
          <a:bodyPr wrap="square" lIns="0" tIns="0" rIns="0" bIns="0" rtlCol="0" anchor="t"/>
          <a:lstStyle/>
          <a:p>
            <a:pPr marL="0" indent="0">
              <a:lnSpc>
                <a:spcPts val="1800"/>
              </a:lnSpc>
              <a:buNone/>
            </a:pPr>
            <a:r>
              <a:rPr lang="en-US" sz="1400" dirty="0">
                <a:solidFill>
                  <a:srgbClr val="F2F4F7"/>
                </a:solidFill>
                <a:latin typeface="Barlow" pitchFamily="34" charset="0"/>
                <a:ea typeface="Barlow" pitchFamily="34" charset="-122"/>
                <a:cs typeface="Barlow" pitchFamily="34" charset="-120"/>
              </a:rPr>
              <a:t>A funded entrant copies the model</a:t>
            </a:r>
            <a:endParaRPr lang="en-US" sz="1400" dirty="0"/>
          </a:p>
        </p:txBody>
      </p:sp>
      <p:sp>
        <p:nvSpPr>
          <p:cNvPr id="13" name="Text 11"/>
          <p:cNvSpPr txBox="1"/>
          <p:nvPr/>
        </p:nvSpPr>
        <p:spPr>
          <a:xfrm>
            <a:off x="5468112" y="3493008"/>
            <a:ext cx="1371600" cy="274320"/>
          </a:xfrm>
          <a:prstGeom prst="rect">
            <a:avLst/>
          </a:prstGeom>
          <a:noFill/>
          <a:ln/>
        </p:spPr>
        <p:txBody>
          <a:bodyPr wrap="square" lIns="0" tIns="0" rIns="0" bIns="0" rtlCol="0" anchor="t"/>
          <a:lstStyle/>
          <a:p>
            <a:pPr marL="0" indent="0">
              <a:buNone/>
            </a:pPr>
            <a:r>
              <a:rPr lang="en-US" sz="1600" dirty="0">
                <a:solidFill>
                  <a:srgbClr val="FF8A3D"/>
                </a:solidFill>
                <a:latin typeface="Barlow Condensed" pitchFamily="34" charset="0"/>
                <a:ea typeface="Barlow Condensed" pitchFamily="34" charset="-122"/>
                <a:cs typeface="Barlow Condensed" pitchFamily="34" charset="-120"/>
              </a:rPr>
              <a:t>3 × 4 = 12</a:t>
            </a:r>
            <a:endParaRPr lang="en-US" sz="1600" dirty="0"/>
          </a:p>
        </p:txBody>
      </p:sp>
      <p:sp>
        <p:nvSpPr>
          <p:cNvPr id="14" name="Text 12"/>
          <p:cNvSpPr txBox="1"/>
          <p:nvPr/>
        </p:nvSpPr>
        <p:spPr>
          <a:xfrm>
            <a:off x="7022592" y="3401568"/>
            <a:ext cx="4181551" cy="566928"/>
          </a:xfrm>
          <a:prstGeom prst="rect">
            <a:avLst/>
          </a:prstGeom>
          <a:noFill/>
          <a:ln/>
        </p:spPr>
        <p:txBody>
          <a:bodyPr wrap="square" lIns="0" tIns="0" rIns="0" bIns="0" rtlCol="0" anchor="t"/>
          <a:lstStyle/>
          <a:p>
            <a:pPr marL="0" indent="0">
              <a:lnSpc>
                <a:spcPts val="1600"/>
              </a:lnSpc>
              <a:buNone/>
            </a:pPr>
            <a:r>
              <a:rPr lang="en-US" sz="1200" dirty="0">
                <a:solidFill>
                  <a:srgbClr val="828C9A"/>
                </a:solidFill>
                <a:latin typeface="Barlow" pitchFamily="34" charset="0"/>
                <a:ea typeface="Barlow" pitchFamily="34" charset="-122"/>
                <a:cs typeface="Barlow" pitchFamily="34" charset="-120"/>
              </a:rPr>
              <a:t>The defence is scoring history and athlete relationships, which take time nobody can buy</a:t>
            </a:r>
            <a:endParaRPr lang="en-US" sz="1200" dirty="0"/>
          </a:p>
        </p:txBody>
      </p:sp>
      <p:sp>
        <p:nvSpPr>
          <p:cNvPr id="15" name="Shape 13"/>
          <p:cNvSpPr/>
          <p:nvPr/>
        </p:nvSpPr>
        <p:spPr>
          <a:xfrm>
            <a:off x="713232" y="4242816"/>
            <a:ext cx="10765231" cy="896112"/>
          </a:xfrm>
          <a:prstGeom prst="roundRect">
            <a:avLst>
              <a:gd name="adj" fmla="val 4082"/>
            </a:avLst>
          </a:prstGeom>
          <a:solidFill>
            <a:srgbClr val="171A20"/>
          </a:solidFill>
          <a:ln w="9525">
            <a:solidFill>
              <a:srgbClr val="262C35"/>
            </a:solidFill>
            <a:prstDash val="solid"/>
          </a:ln>
        </p:spPr>
      </p:sp>
      <p:sp>
        <p:nvSpPr>
          <p:cNvPr id="16" name="Text 14"/>
          <p:cNvSpPr txBox="1"/>
          <p:nvPr/>
        </p:nvSpPr>
        <p:spPr>
          <a:xfrm>
            <a:off x="969264" y="4480560"/>
            <a:ext cx="548640" cy="365760"/>
          </a:xfrm>
          <a:prstGeom prst="rect">
            <a:avLst/>
          </a:prstGeom>
          <a:noFill/>
          <a:ln/>
        </p:spPr>
        <p:txBody>
          <a:bodyPr wrap="square" lIns="0" tIns="0" rIns="0" bIns="0" rtlCol="0" anchor="t"/>
          <a:lstStyle/>
          <a:p>
            <a:pPr marL="0" indent="0">
              <a:buNone/>
            </a:pPr>
            <a:r>
              <a:rPr lang="en-US" sz="2400" dirty="0">
                <a:solidFill>
                  <a:srgbClr val="FF8A3D"/>
                </a:solidFill>
                <a:latin typeface="Barlow Condensed" pitchFamily="34" charset="0"/>
                <a:ea typeface="Barlow Condensed" pitchFamily="34" charset="-122"/>
                <a:cs typeface="Barlow Condensed" pitchFamily="34" charset="-120"/>
              </a:rPr>
              <a:t>R5</a:t>
            </a:r>
            <a:endParaRPr lang="en-US" sz="2400" dirty="0"/>
          </a:p>
        </p:txBody>
      </p:sp>
      <p:sp>
        <p:nvSpPr>
          <p:cNvPr id="17" name="Text 15"/>
          <p:cNvSpPr txBox="1"/>
          <p:nvPr/>
        </p:nvSpPr>
        <p:spPr>
          <a:xfrm>
            <a:off x="1627632" y="4398264"/>
            <a:ext cx="3749040" cy="548640"/>
          </a:xfrm>
          <a:prstGeom prst="rect">
            <a:avLst/>
          </a:prstGeom>
          <a:noFill/>
          <a:ln/>
        </p:spPr>
        <p:txBody>
          <a:bodyPr wrap="square" lIns="0" tIns="0" rIns="0" bIns="0" rtlCol="0" anchor="t"/>
          <a:lstStyle/>
          <a:p>
            <a:pPr marL="0" indent="0">
              <a:lnSpc>
                <a:spcPts val="1800"/>
              </a:lnSpc>
              <a:buNone/>
            </a:pPr>
            <a:r>
              <a:rPr lang="en-US" sz="1400" dirty="0">
                <a:solidFill>
                  <a:srgbClr val="F2F4F7"/>
                </a:solidFill>
                <a:latin typeface="Barlow" pitchFamily="34" charset="0"/>
                <a:ea typeface="Barlow" pitchFamily="34" charset="-122"/>
                <a:cs typeface="Barlow" pitchFamily="34" charset="-120"/>
              </a:rPr>
              <a:t>Regulatory: DAC7, age assurance, startup law</a:t>
            </a:r>
            <a:endParaRPr lang="en-US" sz="1400" dirty="0"/>
          </a:p>
        </p:txBody>
      </p:sp>
      <p:sp>
        <p:nvSpPr>
          <p:cNvPr id="18" name="Text 16"/>
          <p:cNvSpPr txBox="1"/>
          <p:nvPr/>
        </p:nvSpPr>
        <p:spPr>
          <a:xfrm>
            <a:off x="5468112" y="4517136"/>
            <a:ext cx="1371600" cy="274320"/>
          </a:xfrm>
          <a:prstGeom prst="rect">
            <a:avLst/>
          </a:prstGeom>
          <a:noFill/>
          <a:ln/>
        </p:spPr>
        <p:txBody>
          <a:bodyPr wrap="square" lIns="0" tIns="0" rIns="0" bIns="0" rtlCol="0" anchor="t"/>
          <a:lstStyle/>
          <a:p>
            <a:pPr marL="0" indent="0">
              <a:buNone/>
            </a:pPr>
            <a:r>
              <a:rPr lang="en-US" sz="1600" dirty="0">
                <a:solidFill>
                  <a:srgbClr val="FF8A3D"/>
                </a:solidFill>
                <a:latin typeface="Barlow Condensed" pitchFamily="34" charset="0"/>
                <a:ea typeface="Barlow Condensed" pitchFamily="34" charset="-122"/>
                <a:cs typeface="Barlow Condensed" pitchFamily="34" charset="-120"/>
              </a:rPr>
              <a:t>3 × 4 = 12</a:t>
            </a:r>
            <a:endParaRPr lang="en-US" sz="1600" dirty="0"/>
          </a:p>
        </p:txBody>
      </p:sp>
      <p:sp>
        <p:nvSpPr>
          <p:cNvPr id="19" name="Text 17"/>
          <p:cNvSpPr txBox="1"/>
          <p:nvPr/>
        </p:nvSpPr>
        <p:spPr>
          <a:xfrm>
            <a:off x="7022592" y="4425696"/>
            <a:ext cx="4181551" cy="566928"/>
          </a:xfrm>
          <a:prstGeom prst="rect">
            <a:avLst/>
          </a:prstGeom>
          <a:noFill/>
          <a:ln/>
        </p:spPr>
        <p:txBody>
          <a:bodyPr wrap="square" lIns="0" tIns="0" rIns="0" bIns="0" rtlCol="0" anchor="t"/>
          <a:lstStyle/>
          <a:p>
            <a:pPr marL="0" indent="0">
              <a:lnSpc>
                <a:spcPts val="1600"/>
              </a:lnSpc>
              <a:buNone/>
            </a:pPr>
            <a:r>
              <a:rPr lang="en-US" sz="1200" dirty="0">
                <a:solidFill>
                  <a:srgbClr val="828C9A"/>
                </a:solidFill>
                <a:latin typeface="Barlow" pitchFamily="34" charset="0"/>
                <a:ea typeface="Barlow" pitchFamily="34" charset="-122"/>
                <a:cs typeface="Barlow" pitchFamily="34" charset="-120"/>
              </a:rPr>
              <a:t>Compliance built in rather than retrofitted; reporting is a product feature</a:t>
            </a:r>
            <a:endParaRPr lang="en-US" sz="1200" dirty="0"/>
          </a:p>
        </p:txBody>
      </p:sp>
      <p:sp>
        <p:nvSpPr>
          <p:cNvPr id="20" name="Text 18"/>
          <p:cNvSpPr txBox="1"/>
          <p:nvPr/>
        </p:nvSpPr>
        <p:spPr>
          <a:xfrm>
            <a:off x="713232" y="5394960"/>
            <a:ext cx="10765231" cy="457200"/>
          </a:xfrm>
          <a:prstGeom prst="rect">
            <a:avLst/>
          </a:prstGeom>
          <a:noFill/>
          <a:ln/>
        </p:spPr>
        <p:txBody>
          <a:bodyPr wrap="square" lIns="0" tIns="0" rIns="0" bIns="0" rtlCol="0" anchor="t"/>
          <a:lstStyle/>
          <a:p>
            <a:pPr marL="0" indent="0">
              <a:lnSpc>
                <a:spcPts val="2200"/>
              </a:lnSpc>
              <a:buNone/>
            </a:pPr>
            <a:r>
              <a:rPr lang="en-US" sz="1350" dirty="0">
                <a:solidFill>
                  <a:srgbClr val="AEB6C2"/>
                </a:solidFill>
                <a:latin typeface="Barlow" pitchFamily="34" charset="0"/>
                <a:ea typeface="Barlow" pitchFamily="34" charset="-122"/>
                <a:cs typeface="Barlow" pitchFamily="34" charset="-120"/>
              </a:rPr>
              <a:t>A risk map that is evenly scattered has not identified which risk is the real one. R1 is the thesis, and the entire financing structure exists to buy it down cheaply.</a:t>
            </a:r>
            <a:endParaRPr lang="en-US" sz="135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BACKUP, VALUATION</a:t>
            </a:r>
            <a:endParaRPr lang="en-US" sz="1250" dirty="0"/>
          </a:p>
        </p:txBody>
      </p:sp>
      <p:sp>
        <p:nvSpPr>
          <p:cNvPr id="3" name="Text 1"/>
          <p:cNvSpPr txBox="1"/>
          <p:nvPr/>
        </p:nvSpPr>
        <p:spPr>
          <a:xfrm>
            <a:off x="713232" y="786384"/>
            <a:ext cx="10765231" cy="685800"/>
          </a:xfrm>
          <a:prstGeom prst="rect">
            <a:avLst/>
          </a:prstGeom>
          <a:noFill/>
          <a:ln/>
        </p:spPr>
        <p:txBody>
          <a:bodyPr wrap="square" lIns="0" tIns="0" rIns="0" bIns="0" rtlCol="0" anchor="t"/>
          <a:lstStyle/>
          <a:p>
            <a:pPr marL="0" indent="0">
              <a:lnSpc>
                <a:spcPts val="3800"/>
              </a:lnSpc>
              <a:buNone/>
            </a:pPr>
            <a:r>
              <a:rPr lang="en-US" sz="3200" dirty="0">
                <a:solidFill>
                  <a:srgbClr val="F2F4F7"/>
                </a:solidFill>
                <a:latin typeface="Barlow Condensed" pitchFamily="34" charset="0"/>
                <a:ea typeface="Barlow Condensed" pitchFamily="34" charset="-122"/>
                <a:cs typeface="Barlow Condensed" pitchFamily="34" charset="-120"/>
              </a:rPr>
              <a:t>Where the €1.8M pre-money comes from</a:t>
            </a:r>
            <a:endParaRPr lang="en-US" sz="3200" dirty="0"/>
          </a:p>
        </p:txBody>
      </p:sp>
      <p:sp>
        <p:nvSpPr>
          <p:cNvPr id="4" name="Text 2"/>
          <p:cNvSpPr txBox="1"/>
          <p:nvPr/>
        </p:nvSpPr>
        <p:spPr>
          <a:xfrm>
            <a:off x="713232" y="1536192"/>
            <a:ext cx="10765231" cy="411480"/>
          </a:xfrm>
          <a:prstGeom prst="rect">
            <a:avLst/>
          </a:prstGeom>
          <a:noFill/>
          <a:ln/>
        </p:spPr>
        <p:txBody>
          <a:bodyPr wrap="square" lIns="0" tIns="0" rIns="0" bIns="0" rtlCol="0" anchor="t"/>
          <a:lstStyle/>
          <a:p>
            <a:pPr marL="0" indent="0">
              <a:lnSpc>
                <a:spcPts val="2200"/>
              </a:lnSpc>
              <a:buNone/>
            </a:pPr>
            <a:r>
              <a:rPr lang="en-US" sz="1400" dirty="0">
                <a:solidFill>
                  <a:srgbClr val="AEB6C2"/>
                </a:solidFill>
                <a:latin typeface="Barlow" pitchFamily="34" charset="0"/>
                <a:ea typeface="Barlow" pitchFamily="34" charset="-122"/>
                <a:cs typeface="Barlow" pitchFamily="34" charset="-120"/>
              </a:rPr>
              <a:t>Two methods that disagree, and the disagreement is the honest part.</a:t>
            </a:r>
            <a:endParaRPr lang="en-US" sz="1400" dirty="0"/>
          </a:p>
        </p:txBody>
      </p:sp>
      <p:sp>
        <p:nvSpPr>
          <p:cNvPr id="5" name="Text 3"/>
          <p:cNvSpPr txBox="1"/>
          <p:nvPr/>
        </p:nvSpPr>
        <p:spPr>
          <a:xfrm>
            <a:off x="713232" y="2194560"/>
            <a:ext cx="2926080" cy="219456"/>
          </a:xfrm>
          <a:prstGeom prst="rect">
            <a:avLst/>
          </a:prstGeom>
          <a:noFill/>
          <a:ln/>
        </p:spPr>
        <p:txBody>
          <a:bodyPr wrap="square" lIns="0" tIns="0" rIns="0" bIns="0" rtlCol="0" anchor="t"/>
          <a:lstStyle/>
          <a:p>
            <a:pPr marL="0" indent="0">
              <a:lnSpc>
                <a:spcPts val="1400"/>
              </a:lnSpc>
              <a:buNone/>
            </a:pPr>
            <a:r>
              <a:rPr lang="en-US" sz="1150" kern="0" spc="220" dirty="0">
                <a:solidFill>
                  <a:srgbClr val="828C9A"/>
                </a:solidFill>
                <a:latin typeface="Barlow Condensed" pitchFamily="34" charset="0"/>
                <a:ea typeface="Barlow Condensed" pitchFamily="34" charset="-122"/>
                <a:cs typeface="Barlow Condensed" pitchFamily="34" charset="-120"/>
              </a:rPr>
              <a:t>DCF ENTERPRISE VALUE</a:t>
            </a:r>
            <a:endParaRPr lang="en-US" sz="1150" dirty="0"/>
          </a:p>
        </p:txBody>
      </p:sp>
      <p:sp>
        <p:nvSpPr>
          <p:cNvPr id="6" name="Text 4"/>
          <p:cNvSpPr txBox="1"/>
          <p:nvPr/>
        </p:nvSpPr>
        <p:spPr>
          <a:xfrm>
            <a:off x="713232" y="2414016"/>
            <a:ext cx="2926080" cy="725214"/>
          </a:xfrm>
          <a:prstGeom prst="rect">
            <a:avLst/>
          </a:prstGeom>
          <a:noFill/>
          <a:ln/>
        </p:spPr>
        <p:txBody>
          <a:bodyPr wrap="square" lIns="0" tIns="0" rIns="0" bIns="0" rtlCol="0" anchor="t"/>
          <a:lstStyle/>
          <a:p>
            <a:pPr marL="0" indent="0">
              <a:lnSpc>
                <a:spcPts val="4508"/>
              </a:lnSpc>
              <a:buNone/>
            </a:pPr>
            <a:r>
              <a:rPr lang="en-US" sz="4600" dirty="0">
                <a:solidFill>
                  <a:srgbClr val="F2F4F7"/>
                </a:solidFill>
                <a:latin typeface="Barlow Condensed" pitchFamily="34" charset="0"/>
                <a:ea typeface="Barlow Condensed" pitchFamily="34" charset="-122"/>
                <a:cs typeface="Barlow Condensed" pitchFamily="34" charset="-120"/>
              </a:rPr>
              <a:t>€1.23M</a:t>
            </a:r>
            <a:endParaRPr lang="en-US" sz="4600" dirty="0"/>
          </a:p>
        </p:txBody>
      </p:sp>
      <p:sp>
        <p:nvSpPr>
          <p:cNvPr id="7" name="Text 5"/>
          <p:cNvSpPr txBox="1"/>
          <p:nvPr/>
        </p:nvSpPr>
        <p:spPr>
          <a:xfrm>
            <a:off x="713232" y="3166662"/>
            <a:ext cx="2926080" cy="713232"/>
          </a:xfrm>
          <a:prstGeom prst="rect">
            <a:avLst/>
          </a:prstGeom>
          <a:noFill/>
          <a:ln/>
        </p:spPr>
        <p:txBody>
          <a:bodyPr wrap="square" lIns="0" tIns="0" rIns="0" bIns="0" rtlCol="0" anchor="t"/>
          <a:lstStyle/>
          <a:p>
            <a:pPr marL="0" indent="0">
              <a:lnSpc>
                <a:spcPts val="1500"/>
              </a:lnSpc>
              <a:buNone/>
            </a:pPr>
            <a:r>
              <a:rPr lang="en-US" sz="1200" dirty="0">
                <a:solidFill>
                  <a:srgbClr val="828C9A"/>
                </a:solidFill>
                <a:latin typeface="Barlow" pitchFamily="34" charset="0"/>
                <a:ea typeface="Barlow" pitchFamily="34" charset="-122"/>
                <a:cs typeface="Barlow" pitchFamily="34" charset="-120"/>
              </a:rPr>
              <a:t>25% WACC, 3% terminal growth. Below the pre-money, which is normal for a pre-revenue venture.</a:t>
            </a:r>
            <a:endParaRPr lang="en-US" sz="1200" dirty="0"/>
          </a:p>
        </p:txBody>
      </p:sp>
      <p:sp>
        <p:nvSpPr>
          <p:cNvPr id="8" name="Text 6"/>
          <p:cNvSpPr txBox="1"/>
          <p:nvPr/>
        </p:nvSpPr>
        <p:spPr>
          <a:xfrm>
            <a:off x="4645152" y="2194560"/>
            <a:ext cx="2926080" cy="219456"/>
          </a:xfrm>
          <a:prstGeom prst="rect">
            <a:avLst/>
          </a:prstGeom>
          <a:noFill/>
          <a:ln/>
        </p:spPr>
        <p:txBody>
          <a:bodyPr wrap="square" lIns="0" tIns="0" rIns="0" bIns="0" rtlCol="0" anchor="t"/>
          <a:lstStyle/>
          <a:p>
            <a:pPr marL="0" indent="0">
              <a:lnSpc>
                <a:spcPts val="1400"/>
              </a:lnSpc>
              <a:buNone/>
            </a:pPr>
            <a:r>
              <a:rPr lang="en-US" sz="1150" kern="0" spc="220" dirty="0">
                <a:solidFill>
                  <a:srgbClr val="828C9A"/>
                </a:solidFill>
                <a:latin typeface="Barlow Condensed" pitchFamily="34" charset="0"/>
                <a:ea typeface="Barlow Condensed" pitchFamily="34" charset="-122"/>
                <a:cs typeface="Barlow Condensed" pitchFamily="34" charset="-120"/>
              </a:rPr>
              <a:t>COMPARABLE SET</a:t>
            </a:r>
            <a:endParaRPr lang="en-US" sz="1150" dirty="0"/>
          </a:p>
        </p:txBody>
      </p:sp>
      <p:sp>
        <p:nvSpPr>
          <p:cNvPr id="9" name="Text 7"/>
          <p:cNvSpPr txBox="1"/>
          <p:nvPr/>
        </p:nvSpPr>
        <p:spPr>
          <a:xfrm>
            <a:off x="4645152" y="2414016"/>
            <a:ext cx="2926080" cy="725214"/>
          </a:xfrm>
          <a:prstGeom prst="rect">
            <a:avLst/>
          </a:prstGeom>
          <a:noFill/>
          <a:ln/>
        </p:spPr>
        <p:txBody>
          <a:bodyPr wrap="square" lIns="0" tIns="0" rIns="0" bIns="0" rtlCol="0" anchor="t"/>
          <a:lstStyle/>
          <a:p>
            <a:pPr marL="0" indent="0">
              <a:lnSpc>
                <a:spcPts val="4508"/>
              </a:lnSpc>
              <a:buNone/>
            </a:pPr>
            <a:r>
              <a:rPr lang="en-US" sz="4600" dirty="0">
                <a:solidFill>
                  <a:srgbClr val="FFB020"/>
                </a:solidFill>
                <a:latin typeface="Barlow Condensed" pitchFamily="34" charset="0"/>
                <a:ea typeface="Barlow Condensed" pitchFamily="34" charset="-122"/>
                <a:cs typeface="Barlow Condensed" pitchFamily="34" charset="-120"/>
              </a:rPr>
              <a:t>€1.8M</a:t>
            </a:r>
            <a:endParaRPr lang="en-US" sz="4600" dirty="0"/>
          </a:p>
        </p:txBody>
      </p:sp>
      <p:sp>
        <p:nvSpPr>
          <p:cNvPr id="10" name="Text 8"/>
          <p:cNvSpPr txBox="1"/>
          <p:nvPr/>
        </p:nvSpPr>
        <p:spPr>
          <a:xfrm>
            <a:off x="4645152" y="3166662"/>
            <a:ext cx="2926080" cy="713232"/>
          </a:xfrm>
          <a:prstGeom prst="rect">
            <a:avLst/>
          </a:prstGeom>
          <a:noFill/>
          <a:ln/>
        </p:spPr>
        <p:txBody>
          <a:bodyPr wrap="square" lIns="0" tIns="0" rIns="0" bIns="0" rtlCol="0" anchor="t"/>
          <a:lstStyle/>
          <a:p>
            <a:pPr marL="0" indent="0">
              <a:lnSpc>
                <a:spcPts val="1500"/>
              </a:lnSpc>
              <a:buNone/>
            </a:pPr>
            <a:r>
              <a:rPr lang="en-US" sz="1200" dirty="0">
                <a:solidFill>
                  <a:srgbClr val="828C9A"/>
                </a:solidFill>
                <a:latin typeface="Barlow" pitchFamily="34" charset="0"/>
                <a:ea typeface="Barlow" pitchFamily="34" charset="-122"/>
                <a:cs typeface="Barlow" pitchFamily="34" charset="-120"/>
              </a:rPr>
              <a:t>Benchmarked against Sponsoo and OpenSponsorship, the two companies running the same model.</a:t>
            </a:r>
            <a:endParaRPr lang="en-US" sz="1200" dirty="0"/>
          </a:p>
        </p:txBody>
      </p:sp>
      <p:sp>
        <p:nvSpPr>
          <p:cNvPr id="11" name="Text 9"/>
          <p:cNvSpPr txBox="1"/>
          <p:nvPr/>
        </p:nvSpPr>
        <p:spPr>
          <a:xfrm>
            <a:off x="8577072" y="2194560"/>
            <a:ext cx="2926080" cy="219456"/>
          </a:xfrm>
          <a:prstGeom prst="rect">
            <a:avLst/>
          </a:prstGeom>
          <a:noFill/>
          <a:ln/>
        </p:spPr>
        <p:txBody>
          <a:bodyPr wrap="square" lIns="0" tIns="0" rIns="0" bIns="0" rtlCol="0" anchor="t"/>
          <a:lstStyle/>
          <a:p>
            <a:pPr marL="0" indent="0">
              <a:lnSpc>
                <a:spcPts val="1400"/>
              </a:lnSpc>
              <a:buNone/>
            </a:pPr>
            <a:r>
              <a:rPr lang="en-US" sz="1150" kern="0" spc="220" dirty="0">
                <a:solidFill>
                  <a:srgbClr val="828C9A"/>
                </a:solidFill>
                <a:latin typeface="Barlow Condensed" pitchFamily="34" charset="0"/>
                <a:ea typeface="Barlow Condensed" pitchFamily="34" charset="-122"/>
                <a:cs typeface="Barlow Condensed" pitchFamily="34" charset="-120"/>
              </a:rPr>
              <a:t>FOUNDER AND TEAM HOLD</a:t>
            </a:r>
            <a:endParaRPr lang="en-US" sz="1150" dirty="0"/>
          </a:p>
        </p:txBody>
      </p:sp>
      <p:sp>
        <p:nvSpPr>
          <p:cNvPr id="12" name="Text 10"/>
          <p:cNvSpPr txBox="1"/>
          <p:nvPr/>
        </p:nvSpPr>
        <p:spPr>
          <a:xfrm>
            <a:off x="8577072" y="2414016"/>
            <a:ext cx="2926080" cy="725214"/>
          </a:xfrm>
          <a:prstGeom prst="rect">
            <a:avLst/>
          </a:prstGeom>
          <a:noFill/>
          <a:ln/>
        </p:spPr>
        <p:txBody>
          <a:bodyPr wrap="square" lIns="0" tIns="0" rIns="0" bIns="0" rtlCol="0" anchor="t"/>
          <a:lstStyle/>
          <a:p>
            <a:pPr marL="0" indent="0">
              <a:lnSpc>
                <a:spcPts val="4508"/>
              </a:lnSpc>
              <a:buNone/>
            </a:pPr>
            <a:r>
              <a:rPr lang="en-US" sz="4600" dirty="0">
                <a:solidFill>
                  <a:srgbClr val="F2F4F7"/>
                </a:solidFill>
                <a:latin typeface="Barlow Condensed" pitchFamily="34" charset="0"/>
                <a:ea typeface="Barlow Condensed" pitchFamily="34" charset="-122"/>
                <a:cs typeface="Barlow Condensed" pitchFamily="34" charset="-120"/>
              </a:rPr>
              <a:t>65.2%</a:t>
            </a:r>
            <a:endParaRPr lang="en-US" sz="4600" dirty="0"/>
          </a:p>
        </p:txBody>
      </p:sp>
      <p:sp>
        <p:nvSpPr>
          <p:cNvPr id="13" name="Text 11"/>
          <p:cNvSpPr txBox="1"/>
          <p:nvPr/>
        </p:nvSpPr>
        <p:spPr>
          <a:xfrm>
            <a:off x="8577072" y="3166662"/>
            <a:ext cx="2926080" cy="713232"/>
          </a:xfrm>
          <a:prstGeom prst="rect">
            <a:avLst/>
          </a:prstGeom>
          <a:noFill/>
          <a:ln/>
        </p:spPr>
        <p:txBody>
          <a:bodyPr wrap="square" lIns="0" tIns="0" rIns="0" bIns="0" rtlCol="0" anchor="t"/>
          <a:lstStyle/>
          <a:p>
            <a:pPr marL="0" indent="0">
              <a:lnSpc>
                <a:spcPts val="1500"/>
              </a:lnSpc>
              <a:buNone/>
            </a:pPr>
            <a:r>
              <a:rPr lang="en-US" sz="1200" dirty="0">
                <a:solidFill>
                  <a:srgbClr val="828C9A"/>
                </a:solidFill>
                <a:latin typeface="Barlow" pitchFamily="34" charset="0"/>
                <a:ea typeface="Barlow" pitchFamily="34" charset="-122"/>
                <a:cs typeface="Barlow" pitchFamily="34" charset="-120"/>
              </a:rPr>
              <a:t>After both tranches, the optional growth round and a fully topped 10% ESOP.</a:t>
            </a:r>
            <a:endParaRPr lang="en-US" sz="1200" dirty="0"/>
          </a:p>
        </p:txBody>
      </p:sp>
      <p:sp>
        <p:nvSpPr>
          <p:cNvPr id="14" name="Shape 12"/>
          <p:cNvSpPr/>
          <p:nvPr/>
        </p:nvSpPr>
        <p:spPr>
          <a:xfrm>
            <a:off x="713232" y="4160520"/>
            <a:ext cx="10765231" cy="12802"/>
          </a:xfrm>
          <a:prstGeom prst="rect">
            <a:avLst/>
          </a:prstGeom>
          <a:solidFill>
            <a:srgbClr val="262C35"/>
          </a:solidFill>
          <a:ln w="12700">
            <a:solidFill>
              <a:srgbClr val="333333"/>
            </a:solidFill>
            <a:prstDash val="solid"/>
          </a:ln>
        </p:spPr>
      </p:sp>
      <p:sp>
        <p:nvSpPr>
          <p:cNvPr id="15" name="Text 13"/>
          <p:cNvSpPr txBox="1"/>
          <p:nvPr/>
        </p:nvSpPr>
        <p:spPr>
          <a:xfrm>
            <a:off x="713232" y="4343400"/>
            <a:ext cx="2554148" cy="219456"/>
          </a:xfrm>
          <a:prstGeom prst="rect">
            <a:avLst/>
          </a:prstGeom>
          <a:noFill/>
          <a:ln/>
        </p:spPr>
        <p:txBody>
          <a:bodyPr wrap="square" lIns="0" tIns="0" rIns="0" bIns="0" rtlCol="0" anchor="t"/>
          <a:lstStyle/>
          <a:p>
            <a:pPr marL="0" indent="0">
              <a:buNone/>
            </a:pPr>
            <a:r>
              <a:rPr lang="en-US" sz="1100" kern="0" spc="200" dirty="0">
                <a:solidFill>
                  <a:srgbClr val="828C9A"/>
                </a:solidFill>
                <a:latin typeface="Barlow Condensed" pitchFamily="34" charset="0"/>
                <a:ea typeface="Barlow Condensed" pitchFamily="34" charset="-122"/>
                <a:cs typeface="Barlow Condensed" pitchFamily="34" charset="-120"/>
              </a:rPr>
              <a:t>PRE-SEED</a:t>
            </a:r>
            <a:endParaRPr lang="en-US" sz="1100" dirty="0"/>
          </a:p>
        </p:txBody>
      </p:sp>
      <p:sp>
        <p:nvSpPr>
          <p:cNvPr id="16" name="Text 14"/>
          <p:cNvSpPr txBox="1"/>
          <p:nvPr/>
        </p:nvSpPr>
        <p:spPr>
          <a:xfrm>
            <a:off x="713232" y="4572000"/>
            <a:ext cx="2554148" cy="274320"/>
          </a:xfrm>
          <a:prstGeom prst="rect">
            <a:avLst/>
          </a:prstGeom>
          <a:noFill/>
          <a:ln/>
        </p:spPr>
        <p:txBody>
          <a:bodyPr wrap="square" lIns="0" tIns="0" rIns="0" bIns="0" rtlCol="0" anchor="t"/>
          <a:lstStyle/>
          <a:p>
            <a:pPr marL="0" indent="0">
              <a:lnSpc>
                <a:spcPts val="2200"/>
              </a:lnSpc>
              <a:buNone/>
            </a:pPr>
            <a:r>
              <a:rPr lang="en-US" sz="1250" dirty="0">
                <a:solidFill>
                  <a:srgbClr val="AEB6C2"/>
                </a:solidFill>
                <a:latin typeface="Barlow" pitchFamily="34" charset="0"/>
                <a:ea typeface="Barlow" pitchFamily="34" charset="-122"/>
                <a:cs typeface="Barlow" pitchFamily="34" charset="-120"/>
              </a:rPr>
              <a:t>€150k at €1.8M</a:t>
            </a:r>
            <a:endParaRPr lang="en-US" sz="1250" dirty="0"/>
          </a:p>
        </p:txBody>
      </p:sp>
      <p:sp>
        <p:nvSpPr>
          <p:cNvPr id="17" name="Text 15"/>
          <p:cNvSpPr txBox="1"/>
          <p:nvPr/>
        </p:nvSpPr>
        <p:spPr>
          <a:xfrm>
            <a:off x="713232" y="4846320"/>
            <a:ext cx="2554148" cy="384048"/>
          </a:xfrm>
          <a:prstGeom prst="rect">
            <a:avLst/>
          </a:prstGeom>
          <a:noFill/>
          <a:ln/>
        </p:spPr>
        <p:txBody>
          <a:bodyPr wrap="square" lIns="0" tIns="0" rIns="0" bIns="0" rtlCol="0" anchor="t"/>
          <a:lstStyle/>
          <a:p>
            <a:pPr marL="0" indent="0">
              <a:buNone/>
            </a:pPr>
            <a:r>
              <a:rPr lang="en-US" sz="2400" dirty="0">
                <a:solidFill>
                  <a:srgbClr val="F2F4F7"/>
                </a:solidFill>
                <a:latin typeface="Barlow Condensed" pitchFamily="34" charset="0"/>
                <a:ea typeface="Barlow Condensed" pitchFamily="34" charset="-122"/>
                <a:cs typeface="Barlow Condensed" pitchFamily="34" charset="-120"/>
              </a:rPr>
              <a:t>87.3%</a:t>
            </a:r>
            <a:endParaRPr lang="en-US" sz="2400" dirty="0"/>
          </a:p>
        </p:txBody>
      </p:sp>
      <p:sp>
        <p:nvSpPr>
          <p:cNvPr id="18" name="Text 16"/>
          <p:cNvSpPr txBox="1"/>
          <p:nvPr/>
        </p:nvSpPr>
        <p:spPr>
          <a:xfrm>
            <a:off x="3450260" y="4343400"/>
            <a:ext cx="2554148" cy="219456"/>
          </a:xfrm>
          <a:prstGeom prst="rect">
            <a:avLst/>
          </a:prstGeom>
          <a:noFill/>
          <a:ln/>
        </p:spPr>
        <p:txBody>
          <a:bodyPr wrap="square" lIns="0" tIns="0" rIns="0" bIns="0" rtlCol="0" anchor="t"/>
          <a:lstStyle/>
          <a:p>
            <a:pPr marL="0" indent="0">
              <a:buNone/>
            </a:pPr>
            <a:r>
              <a:rPr lang="en-US" sz="1100" kern="0" spc="200" dirty="0">
                <a:solidFill>
                  <a:srgbClr val="828C9A"/>
                </a:solidFill>
                <a:latin typeface="Barlow Condensed" pitchFamily="34" charset="0"/>
                <a:ea typeface="Barlow Condensed" pitchFamily="34" charset="-122"/>
                <a:cs typeface="Barlow Condensed" pitchFamily="34" charset="-120"/>
              </a:rPr>
              <a:t>EXTENSION</a:t>
            </a:r>
            <a:endParaRPr lang="en-US" sz="1100" dirty="0"/>
          </a:p>
        </p:txBody>
      </p:sp>
      <p:sp>
        <p:nvSpPr>
          <p:cNvPr id="19" name="Text 17"/>
          <p:cNvSpPr txBox="1"/>
          <p:nvPr/>
        </p:nvSpPr>
        <p:spPr>
          <a:xfrm>
            <a:off x="3450260" y="4572000"/>
            <a:ext cx="2554148" cy="274320"/>
          </a:xfrm>
          <a:prstGeom prst="rect">
            <a:avLst/>
          </a:prstGeom>
          <a:noFill/>
          <a:ln/>
        </p:spPr>
        <p:txBody>
          <a:bodyPr wrap="square" lIns="0" tIns="0" rIns="0" bIns="0" rtlCol="0" anchor="t"/>
          <a:lstStyle/>
          <a:p>
            <a:pPr marL="0" indent="0">
              <a:lnSpc>
                <a:spcPts val="2200"/>
              </a:lnSpc>
              <a:buNone/>
            </a:pPr>
            <a:r>
              <a:rPr lang="en-US" sz="1250" dirty="0">
                <a:solidFill>
                  <a:srgbClr val="AEB6C2"/>
                </a:solidFill>
                <a:latin typeface="Barlow" pitchFamily="34" charset="0"/>
                <a:ea typeface="Barlow" pitchFamily="34" charset="-122"/>
                <a:cs typeface="Barlow" pitchFamily="34" charset="-120"/>
              </a:rPr>
              <a:t>€250k at €3.5M</a:t>
            </a:r>
            <a:endParaRPr lang="en-US" sz="1250" dirty="0"/>
          </a:p>
        </p:txBody>
      </p:sp>
      <p:sp>
        <p:nvSpPr>
          <p:cNvPr id="20" name="Text 18"/>
          <p:cNvSpPr txBox="1"/>
          <p:nvPr/>
        </p:nvSpPr>
        <p:spPr>
          <a:xfrm>
            <a:off x="3450260" y="4846320"/>
            <a:ext cx="2554148" cy="384048"/>
          </a:xfrm>
          <a:prstGeom prst="rect">
            <a:avLst/>
          </a:prstGeom>
          <a:noFill/>
          <a:ln/>
        </p:spPr>
        <p:txBody>
          <a:bodyPr wrap="square" lIns="0" tIns="0" rIns="0" bIns="0" rtlCol="0" anchor="t"/>
          <a:lstStyle/>
          <a:p>
            <a:pPr marL="0" indent="0">
              <a:buNone/>
            </a:pPr>
            <a:r>
              <a:rPr lang="en-US" sz="2400" dirty="0">
                <a:solidFill>
                  <a:srgbClr val="F2F4F7"/>
                </a:solidFill>
                <a:latin typeface="Barlow Condensed" pitchFamily="34" charset="0"/>
                <a:ea typeface="Barlow Condensed" pitchFamily="34" charset="-122"/>
                <a:cs typeface="Barlow Condensed" pitchFamily="34" charset="-120"/>
              </a:rPr>
              <a:t>81.5%</a:t>
            </a:r>
            <a:endParaRPr lang="en-US" sz="2400" dirty="0"/>
          </a:p>
        </p:txBody>
      </p:sp>
      <p:sp>
        <p:nvSpPr>
          <p:cNvPr id="21" name="Text 19"/>
          <p:cNvSpPr txBox="1"/>
          <p:nvPr/>
        </p:nvSpPr>
        <p:spPr>
          <a:xfrm>
            <a:off x="6187288" y="4343400"/>
            <a:ext cx="2554148" cy="219456"/>
          </a:xfrm>
          <a:prstGeom prst="rect">
            <a:avLst/>
          </a:prstGeom>
          <a:noFill/>
          <a:ln/>
        </p:spPr>
        <p:txBody>
          <a:bodyPr wrap="square" lIns="0" tIns="0" rIns="0" bIns="0" rtlCol="0" anchor="t"/>
          <a:lstStyle/>
          <a:p>
            <a:pPr marL="0" indent="0">
              <a:buNone/>
            </a:pPr>
            <a:r>
              <a:rPr lang="en-US" sz="1100" kern="0" spc="200" dirty="0">
                <a:solidFill>
                  <a:srgbClr val="828C9A"/>
                </a:solidFill>
                <a:latin typeface="Barlow Condensed" pitchFamily="34" charset="0"/>
                <a:ea typeface="Barlow Condensed" pitchFamily="34" charset="-122"/>
                <a:cs typeface="Barlow Condensed" pitchFamily="34" charset="-120"/>
              </a:rPr>
              <a:t>GROWTH, OPTIONAL</a:t>
            </a:r>
            <a:endParaRPr lang="en-US" sz="1100" dirty="0"/>
          </a:p>
        </p:txBody>
      </p:sp>
      <p:sp>
        <p:nvSpPr>
          <p:cNvPr id="22" name="Text 20"/>
          <p:cNvSpPr txBox="1"/>
          <p:nvPr/>
        </p:nvSpPr>
        <p:spPr>
          <a:xfrm>
            <a:off x="6187288" y="4572000"/>
            <a:ext cx="2554148" cy="274320"/>
          </a:xfrm>
          <a:prstGeom prst="rect">
            <a:avLst/>
          </a:prstGeom>
          <a:noFill/>
          <a:ln/>
        </p:spPr>
        <p:txBody>
          <a:bodyPr wrap="square" lIns="0" tIns="0" rIns="0" bIns="0" rtlCol="0" anchor="t"/>
          <a:lstStyle/>
          <a:p>
            <a:pPr marL="0" indent="0">
              <a:lnSpc>
                <a:spcPts val="2200"/>
              </a:lnSpc>
              <a:buNone/>
            </a:pPr>
            <a:r>
              <a:rPr lang="en-US" sz="1250" dirty="0">
                <a:solidFill>
                  <a:srgbClr val="AEB6C2"/>
                </a:solidFill>
                <a:latin typeface="Barlow" pitchFamily="34" charset="0"/>
                <a:ea typeface="Barlow" pitchFamily="34" charset="-122"/>
                <a:cs typeface="Barlow" pitchFamily="34" charset="-120"/>
              </a:rPr>
              <a:t>€1.5M at €12M</a:t>
            </a:r>
            <a:endParaRPr lang="en-US" sz="1250" dirty="0"/>
          </a:p>
        </p:txBody>
      </p:sp>
      <p:sp>
        <p:nvSpPr>
          <p:cNvPr id="23" name="Text 21"/>
          <p:cNvSpPr txBox="1"/>
          <p:nvPr/>
        </p:nvSpPr>
        <p:spPr>
          <a:xfrm>
            <a:off x="6187288" y="4846320"/>
            <a:ext cx="2554148" cy="384048"/>
          </a:xfrm>
          <a:prstGeom prst="rect">
            <a:avLst/>
          </a:prstGeom>
          <a:noFill/>
          <a:ln/>
        </p:spPr>
        <p:txBody>
          <a:bodyPr wrap="square" lIns="0" tIns="0" rIns="0" bIns="0" rtlCol="0" anchor="t"/>
          <a:lstStyle/>
          <a:p>
            <a:pPr marL="0" indent="0">
              <a:buNone/>
            </a:pPr>
            <a:r>
              <a:rPr lang="en-US" sz="2400" dirty="0">
                <a:solidFill>
                  <a:srgbClr val="F2F4F7"/>
                </a:solidFill>
                <a:latin typeface="Barlow Condensed" pitchFamily="34" charset="0"/>
                <a:ea typeface="Barlow Condensed" pitchFamily="34" charset="-122"/>
                <a:cs typeface="Barlow Condensed" pitchFamily="34" charset="-120"/>
              </a:rPr>
              <a:t>72.4%</a:t>
            </a:r>
            <a:endParaRPr lang="en-US" sz="2400" dirty="0"/>
          </a:p>
        </p:txBody>
      </p:sp>
      <p:sp>
        <p:nvSpPr>
          <p:cNvPr id="24" name="Text 22"/>
          <p:cNvSpPr txBox="1"/>
          <p:nvPr/>
        </p:nvSpPr>
        <p:spPr>
          <a:xfrm>
            <a:off x="8924315" y="4343400"/>
            <a:ext cx="2554148" cy="219456"/>
          </a:xfrm>
          <a:prstGeom prst="rect">
            <a:avLst/>
          </a:prstGeom>
          <a:noFill/>
          <a:ln/>
        </p:spPr>
        <p:txBody>
          <a:bodyPr wrap="square" lIns="0" tIns="0" rIns="0" bIns="0" rtlCol="0" anchor="t"/>
          <a:lstStyle/>
          <a:p>
            <a:pPr marL="0" indent="0">
              <a:buNone/>
            </a:pPr>
            <a:r>
              <a:rPr lang="en-US" sz="1100" kern="0" spc="200" dirty="0">
                <a:solidFill>
                  <a:srgbClr val="828C9A"/>
                </a:solidFill>
                <a:latin typeface="Barlow Condensed" pitchFamily="34" charset="0"/>
                <a:ea typeface="Barlow Condensed" pitchFamily="34" charset="-122"/>
                <a:cs typeface="Barlow Condensed" pitchFamily="34" charset="-120"/>
              </a:rPr>
              <a:t>AFTER ESOP</a:t>
            </a:r>
            <a:endParaRPr lang="en-US" sz="1100" dirty="0"/>
          </a:p>
        </p:txBody>
      </p:sp>
      <p:sp>
        <p:nvSpPr>
          <p:cNvPr id="25" name="Text 23"/>
          <p:cNvSpPr txBox="1"/>
          <p:nvPr/>
        </p:nvSpPr>
        <p:spPr>
          <a:xfrm>
            <a:off x="8924315" y="4572000"/>
            <a:ext cx="2554148" cy="274320"/>
          </a:xfrm>
          <a:prstGeom prst="rect">
            <a:avLst/>
          </a:prstGeom>
          <a:noFill/>
          <a:ln/>
        </p:spPr>
        <p:txBody>
          <a:bodyPr wrap="square" lIns="0" tIns="0" rIns="0" bIns="0" rtlCol="0" anchor="t"/>
          <a:lstStyle/>
          <a:p>
            <a:pPr marL="0" indent="0">
              <a:lnSpc>
                <a:spcPts val="2200"/>
              </a:lnSpc>
              <a:buNone/>
            </a:pPr>
            <a:r>
              <a:rPr lang="en-US" sz="1250" dirty="0">
                <a:solidFill>
                  <a:srgbClr val="AEB6C2"/>
                </a:solidFill>
                <a:latin typeface="Barlow" pitchFamily="34" charset="0"/>
                <a:ea typeface="Barlow" pitchFamily="34" charset="-122"/>
                <a:cs typeface="Barlow" pitchFamily="34" charset="-120"/>
              </a:rPr>
              <a:t>10% pool</a:t>
            </a:r>
            <a:endParaRPr lang="en-US" sz="1250" dirty="0"/>
          </a:p>
        </p:txBody>
      </p:sp>
      <p:sp>
        <p:nvSpPr>
          <p:cNvPr id="26" name="Text 24"/>
          <p:cNvSpPr txBox="1"/>
          <p:nvPr/>
        </p:nvSpPr>
        <p:spPr>
          <a:xfrm>
            <a:off x="8924315" y="4846320"/>
            <a:ext cx="2554148" cy="384048"/>
          </a:xfrm>
          <a:prstGeom prst="rect">
            <a:avLst/>
          </a:prstGeom>
          <a:noFill/>
          <a:ln/>
        </p:spPr>
        <p:txBody>
          <a:bodyPr wrap="square" lIns="0" tIns="0" rIns="0" bIns="0" rtlCol="0" anchor="t"/>
          <a:lstStyle/>
          <a:p>
            <a:pPr marL="0" indent="0">
              <a:buNone/>
            </a:pPr>
            <a:r>
              <a:rPr lang="en-US" sz="2400" dirty="0">
                <a:solidFill>
                  <a:srgbClr val="FFB020"/>
                </a:solidFill>
                <a:latin typeface="Barlow Condensed" pitchFamily="34" charset="0"/>
                <a:ea typeface="Barlow Condensed" pitchFamily="34" charset="-122"/>
                <a:cs typeface="Barlow Condensed" pitchFamily="34" charset="-120"/>
              </a:rPr>
              <a:t>65.2%</a:t>
            </a:r>
            <a:endParaRPr lang="en-US" sz="2400" dirty="0"/>
          </a:p>
        </p:txBody>
      </p:sp>
      <p:sp>
        <p:nvSpPr>
          <p:cNvPr id="27" name="Text 25"/>
          <p:cNvSpPr txBox="1"/>
          <p:nvPr/>
        </p:nvSpPr>
        <p:spPr>
          <a:xfrm>
            <a:off x="713232" y="5285232"/>
            <a:ext cx="5486400" cy="274320"/>
          </a:xfrm>
          <a:prstGeom prst="rect">
            <a:avLst/>
          </a:prstGeom>
          <a:noFill/>
          <a:ln/>
        </p:spPr>
        <p:txBody>
          <a:bodyPr wrap="square" lIns="0" tIns="0" rIns="0" bIns="0" rtlCol="0" anchor="t"/>
          <a:lstStyle/>
          <a:p>
            <a:pPr marL="0" indent="0">
              <a:lnSpc>
                <a:spcPts val="2200"/>
              </a:lnSpc>
              <a:buNone/>
            </a:pPr>
            <a:r>
              <a:rPr lang="en-US" sz="1150" dirty="0">
                <a:solidFill>
                  <a:srgbClr val="828C9A"/>
                </a:solidFill>
                <a:latin typeface="Barlow" pitchFamily="34" charset="0"/>
                <a:ea typeface="Barlow" pitchFamily="34" charset="-122"/>
                <a:cs typeface="Barlow" pitchFamily="34" charset="-120"/>
              </a:rPr>
              <a:t>Founder stake retained through each round</a:t>
            </a:r>
            <a:endParaRPr lang="en-US" sz="1150" dirty="0"/>
          </a:p>
        </p:txBody>
      </p:sp>
      <p:sp>
        <p:nvSpPr>
          <p:cNvPr id="28" name="Text 26"/>
          <p:cNvSpPr txBox="1"/>
          <p:nvPr/>
        </p:nvSpPr>
        <p:spPr>
          <a:xfrm>
            <a:off x="713232" y="6382512"/>
            <a:ext cx="9667951" cy="274320"/>
          </a:xfrm>
          <a:prstGeom prst="rect">
            <a:avLst/>
          </a:prstGeom>
          <a:noFill/>
          <a:ln/>
        </p:spPr>
        <p:txBody>
          <a:bodyPr wrap="square" lIns="0" tIns="0" rIns="0" bIns="0" rtlCol="0" anchor="t"/>
          <a:lstStyle/>
          <a:p>
            <a:pPr marL="0" indent="0">
              <a:buNone/>
            </a:pPr>
            <a:r>
              <a:rPr lang="en-US" sz="950" dirty="0">
                <a:solidFill>
                  <a:srgbClr val="828C9A"/>
                </a:solidFill>
                <a:latin typeface="Barlow" pitchFamily="34" charset="0"/>
                <a:ea typeface="Barlow" pitchFamily="34" charset="-122"/>
                <a:cs typeface="Barlow" pitchFamily="34" charset="-120"/>
              </a:rPr>
              <a:t>Stride financial model: DCF, comparable transactions from PitchBook, and the dilution waterfall.</a:t>
            </a:r>
            <a:endParaRPr lang="en-US" sz="950" dirty="0"/>
          </a:p>
        </p:txBody>
      </p:sp>
      <p:sp>
        <p:nvSpPr>
          <p:cNvPr id="29"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13232" y="475488"/>
            <a:ext cx="10765231" cy="237744"/>
          </a:xfrm>
          <a:prstGeom prst="rect">
            <a:avLst/>
          </a:prstGeom>
          <a:noFill/>
          <a:ln/>
        </p:spPr>
        <p:txBody>
          <a:bodyPr wrap="square" lIns="0" tIns="0" rIns="0" bIns="0" rtlCol="0" anchor="t"/>
          <a:lstStyle/>
          <a:p>
            <a:pPr marL="0" indent="0">
              <a:buNone/>
            </a:pPr>
            <a:r>
              <a:rPr lang="en-US" sz="1250" kern="0" spc="320" dirty="0">
                <a:solidFill>
                  <a:srgbClr val="FFB020"/>
                </a:solidFill>
                <a:latin typeface="Barlow Condensed" pitchFamily="34" charset="0"/>
                <a:ea typeface="Barlow Condensed" pitchFamily="34" charset="-122"/>
                <a:cs typeface="Barlow Condensed" pitchFamily="34" charset="-120"/>
              </a:rPr>
              <a:t>BACKUP, THE GATE</a:t>
            </a:r>
            <a:endParaRPr lang="en-US" sz="1250" dirty="0"/>
          </a:p>
        </p:txBody>
      </p:sp>
      <p:sp>
        <p:nvSpPr>
          <p:cNvPr id="3" name="Text 1"/>
          <p:cNvSpPr txBox="1"/>
          <p:nvPr/>
        </p:nvSpPr>
        <p:spPr>
          <a:xfrm>
            <a:off x="713232" y="786384"/>
            <a:ext cx="10765231" cy="685800"/>
          </a:xfrm>
          <a:prstGeom prst="rect">
            <a:avLst/>
          </a:prstGeom>
          <a:noFill/>
          <a:ln/>
        </p:spPr>
        <p:txBody>
          <a:bodyPr wrap="square" lIns="0" tIns="0" rIns="0" bIns="0" rtlCol="0" anchor="t"/>
          <a:lstStyle/>
          <a:p>
            <a:pPr marL="0" indent="0">
              <a:lnSpc>
                <a:spcPts val="3800"/>
              </a:lnSpc>
              <a:buNone/>
            </a:pPr>
            <a:r>
              <a:rPr lang="en-US" sz="3200" dirty="0">
                <a:solidFill>
                  <a:srgbClr val="F2F4F7"/>
                </a:solidFill>
                <a:latin typeface="Barlow Condensed" pitchFamily="34" charset="0"/>
                <a:ea typeface="Barlow Condensed" pitchFamily="34" charset="-122"/>
                <a:cs typeface="Barlow Condensed" pitchFamily="34" charset="-120"/>
              </a:rPr>
              <a:t>What the admission gate actually costs to run</a:t>
            </a:r>
            <a:endParaRPr lang="en-US" sz="3200" dirty="0"/>
          </a:p>
        </p:txBody>
      </p:sp>
      <p:sp>
        <p:nvSpPr>
          <p:cNvPr id="4" name="Text 2"/>
          <p:cNvSpPr txBox="1"/>
          <p:nvPr/>
        </p:nvSpPr>
        <p:spPr>
          <a:xfrm>
            <a:off x="713232" y="1536192"/>
            <a:ext cx="10765231" cy="411480"/>
          </a:xfrm>
          <a:prstGeom prst="rect">
            <a:avLst/>
          </a:prstGeom>
          <a:noFill/>
          <a:ln/>
        </p:spPr>
        <p:txBody>
          <a:bodyPr wrap="square" lIns="0" tIns="0" rIns="0" bIns="0" rtlCol="0" anchor="t"/>
          <a:lstStyle/>
          <a:p>
            <a:pPr marL="0" indent="0">
              <a:lnSpc>
                <a:spcPts val="2200"/>
              </a:lnSpc>
              <a:buNone/>
            </a:pPr>
            <a:r>
              <a:rPr lang="en-US" sz="1400" dirty="0">
                <a:solidFill>
                  <a:srgbClr val="AEB6C2"/>
                </a:solidFill>
                <a:latin typeface="Barlow" pitchFamily="34" charset="0"/>
                <a:ea typeface="Barlow" pitchFamily="34" charset="-122"/>
                <a:cs typeface="Barlow" pitchFamily="34" charset="-120"/>
              </a:rPr>
              <a:t>The one human step in the chain, priced from the policy itself rather than assumed.</a:t>
            </a:r>
            <a:endParaRPr lang="en-US" sz="1400" dirty="0"/>
          </a:p>
        </p:txBody>
      </p:sp>
      <p:sp>
        <p:nvSpPr>
          <p:cNvPr id="5" name="Shape 3"/>
          <p:cNvSpPr/>
          <p:nvPr/>
        </p:nvSpPr>
        <p:spPr>
          <a:xfrm>
            <a:off x="713232" y="2194560"/>
            <a:ext cx="2519858" cy="2286000"/>
          </a:xfrm>
          <a:prstGeom prst="roundRect">
            <a:avLst>
              <a:gd name="adj" fmla="val 1600"/>
            </a:avLst>
          </a:prstGeom>
          <a:solidFill>
            <a:srgbClr val="171A20"/>
          </a:solidFill>
          <a:ln w="9525">
            <a:solidFill>
              <a:srgbClr val="262C35"/>
            </a:solidFill>
            <a:prstDash val="solid"/>
          </a:ln>
        </p:spPr>
      </p:sp>
      <p:sp>
        <p:nvSpPr>
          <p:cNvPr id="6" name="Text 4"/>
          <p:cNvSpPr txBox="1"/>
          <p:nvPr/>
        </p:nvSpPr>
        <p:spPr>
          <a:xfrm>
            <a:off x="950976" y="2414016"/>
            <a:ext cx="2044370" cy="640080"/>
          </a:xfrm>
          <a:prstGeom prst="rect">
            <a:avLst/>
          </a:prstGeom>
          <a:noFill/>
          <a:ln/>
        </p:spPr>
        <p:txBody>
          <a:bodyPr wrap="square" lIns="0" tIns="0" rIns="0" bIns="0" rtlCol="0" anchor="t"/>
          <a:lstStyle/>
          <a:p>
            <a:pPr marL="0" indent="0">
              <a:lnSpc>
                <a:spcPts val="3600"/>
              </a:lnSpc>
              <a:buNone/>
            </a:pPr>
            <a:r>
              <a:rPr lang="en-US" sz="3400" dirty="0">
                <a:solidFill>
                  <a:srgbClr val="FFB020"/>
                </a:solidFill>
                <a:latin typeface="Barlow Condensed" pitchFamily="34" charset="0"/>
                <a:ea typeface="Barlow Condensed" pitchFamily="34" charset="-122"/>
                <a:cs typeface="Barlow Condensed" pitchFamily="34" charset="-120"/>
              </a:rPr>
              <a:t>30.5%</a:t>
            </a:r>
            <a:endParaRPr lang="en-US" sz="3400" dirty="0"/>
          </a:p>
        </p:txBody>
      </p:sp>
      <p:sp>
        <p:nvSpPr>
          <p:cNvPr id="7" name="Text 5"/>
          <p:cNvSpPr txBox="1"/>
          <p:nvPr/>
        </p:nvSpPr>
        <p:spPr>
          <a:xfrm>
            <a:off x="950976" y="3090672"/>
            <a:ext cx="2044370" cy="384048"/>
          </a:xfrm>
          <a:prstGeom prst="rect">
            <a:avLst/>
          </a:prstGeom>
          <a:noFill/>
          <a:ln/>
        </p:spPr>
        <p:txBody>
          <a:bodyPr wrap="square" lIns="0" tIns="0" rIns="0" bIns="0" rtlCol="0" anchor="t"/>
          <a:lstStyle/>
          <a:p>
            <a:pPr marL="0" indent="0">
              <a:buNone/>
            </a:pPr>
            <a:r>
              <a:rPr lang="en-US" sz="1200" kern="0" spc="200" dirty="0">
                <a:solidFill>
                  <a:srgbClr val="828C9A"/>
                </a:solidFill>
                <a:latin typeface="Barlow Condensed" pitchFamily="34" charset="0"/>
                <a:ea typeface="Barlow Condensed" pitchFamily="34" charset="-122"/>
                <a:cs typeface="Barlow Condensed" pitchFamily="34" charset="-120"/>
              </a:rPr>
              <a:t>ADMISSION RATE BY Y7</a:t>
            </a:r>
            <a:endParaRPr lang="en-US" sz="1200" dirty="0"/>
          </a:p>
        </p:txBody>
      </p:sp>
      <p:sp>
        <p:nvSpPr>
          <p:cNvPr id="8" name="Text 6"/>
          <p:cNvSpPr txBox="1"/>
          <p:nvPr/>
        </p:nvSpPr>
        <p:spPr>
          <a:xfrm>
            <a:off x="950976" y="3529584"/>
            <a:ext cx="2044370" cy="822960"/>
          </a:xfrm>
          <a:prstGeom prst="rect">
            <a:avLst/>
          </a:prstGeom>
          <a:noFill/>
          <a:ln/>
        </p:spPr>
        <p:txBody>
          <a:bodyPr wrap="square" lIns="0" tIns="0" rIns="0" bIns="0" rtlCol="0" anchor="t"/>
          <a:lstStyle/>
          <a:p>
            <a:pPr marL="0" indent="0">
              <a:lnSpc>
                <a:spcPts val="1600"/>
              </a:lnSpc>
              <a:buNone/>
            </a:pPr>
            <a:r>
              <a:rPr lang="en-US" sz="1150" dirty="0">
                <a:solidFill>
                  <a:srgbClr val="AEB6C2"/>
                </a:solidFill>
                <a:latin typeface="Barlow" pitchFamily="34" charset="0"/>
                <a:ea typeface="Barlow" pitchFamily="34" charset="-122"/>
                <a:cs typeface="Barlow" pitchFamily="34" charset="-120"/>
              </a:rPr>
              <a:t>rising from 20% in Y1 as the funnel improves, which makes it a filter rather than a formality</a:t>
            </a:r>
            <a:endParaRPr lang="en-US" sz="1150" dirty="0"/>
          </a:p>
        </p:txBody>
      </p:sp>
      <p:sp>
        <p:nvSpPr>
          <p:cNvPr id="9" name="Shape 7"/>
          <p:cNvSpPr/>
          <p:nvPr/>
        </p:nvSpPr>
        <p:spPr>
          <a:xfrm>
            <a:off x="3461690" y="2194560"/>
            <a:ext cx="2519858" cy="2286000"/>
          </a:xfrm>
          <a:prstGeom prst="roundRect">
            <a:avLst>
              <a:gd name="adj" fmla="val 1600"/>
            </a:avLst>
          </a:prstGeom>
          <a:solidFill>
            <a:srgbClr val="171A20"/>
          </a:solidFill>
          <a:ln w="9525">
            <a:solidFill>
              <a:srgbClr val="262C35"/>
            </a:solidFill>
            <a:prstDash val="solid"/>
          </a:ln>
        </p:spPr>
      </p:sp>
      <p:sp>
        <p:nvSpPr>
          <p:cNvPr id="10" name="Text 8"/>
          <p:cNvSpPr txBox="1"/>
          <p:nvPr/>
        </p:nvSpPr>
        <p:spPr>
          <a:xfrm>
            <a:off x="3699434" y="2414016"/>
            <a:ext cx="2044370" cy="640080"/>
          </a:xfrm>
          <a:prstGeom prst="rect">
            <a:avLst/>
          </a:prstGeom>
          <a:noFill/>
          <a:ln/>
        </p:spPr>
        <p:txBody>
          <a:bodyPr wrap="square" lIns="0" tIns="0" rIns="0" bIns="0" rtlCol="0" anchor="t"/>
          <a:lstStyle/>
          <a:p>
            <a:pPr marL="0" indent="0">
              <a:lnSpc>
                <a:spcPts val="3600"/>
              </a:lnSpc>
              <a:buNone/>
            </a:pPr>
            <a:r>
              <a:rPr lang="en-US" sz="3400" dirty="0">
                <a:solidFill>
                  <a:srgbClr val="FFB020"/>
                </a:solidFill>
                <a:latin typeface="Barlow Condensed" pitchFamily="34" charset="0"/>
                <a:ea typeface="Barlow Condensed" pitchFamily="34" charset="-122"/>
                <a:cs typeface="Barlow Condensed" pitchFamily="34" charset="-120"/>
              </a:rPr>
              <a:t>4 min</a:t>
            </a:r>
            <a:endParaRPr lang="en-US" sz="3400" dirty="0"/>
          </a:p>
        </p:txBody>
      </p:sp>
      <p:sp>
        <p:nvSpPr>
          <p:cNvPr id="11" name="Text 9"/>
          <p:cNvSpPr txBox="1"/>
          <p:nvPr/>
        </p:nvSpPr>
        <p:spPr>
          <a:xfrm>
            <a:off x="3699434" y="3090672"/>
            <a:ext cx="2044370" cy="384048"/>
          </a:xfrm>
          <a:prstGeom prst="rect">
            <a:avLst/>
          </a:prstGeom>
          <a:noFill/>
          <a:ln/>
        </p:spPr>
        <p:txBody>
          <a:bodyPr wrap="square" lIns="0" tIns="0" rIns="0" bIns="0" rtlCol="0" anchor="t"/>
          <a:lstStyle/>
          <a:p>
            <a:pPr marL="0" indent="0">
              <a:buNone/>
            </a:pPr>
            <a:r>
              <a:rPr lang="en-US" sz="1200" kern="0" spc="200" dirty="0">
                <a:solidFill>
                  <a:srgbClr val="828C9A"/>
                </a:solidFill>
                <a:latin typeface="Barlow Condensed" pitchFamily="34" charset="0"/>
                <a:ea typeface="Barlow Condensed" pitchFamily="34" charset="-122"/>
                <a:cs typeface="Barlow Condensed" pitchFamily="34" charset="-120"/>
              </a:rPr>
              <a:t>MEDIAN MANUAL REVIEW</a:t>
            </a:r>
            <a:endParaRPr lang="en-US" sz="1200" dirty="0"/>
          </a:p>
        </p:txBody>
      </p:sp>
      <p:sp>
        <p:nvSpPr>
          <p:cNvPr id="12" name="Text 10"/>
          <p:cNvSpPr txBox="1"/>
          <p:nvPr/>
        </p:nvSpPr>
        <p:spPr>
          <a:xfrm>
            <a:off x="3699434" y="3529584"/>
            <a:ext cx="2044370" cy="822960"/>
          </a:xfrm>
          <a:prstGeom prst="rect">
            <a:avLst/>
          </a:prstGeom>
          <a:noFill/>
          <a:ln/>
        </p:spPr>
        <p:txBody>
          <a:bodyPr wrap="square" lIns="0" tIns="0" rIns="0" bIns="0" rtlCol="0" anchor="t"/>
          <a:lstStyle/>
          <a:p>
            <a:pPr marL="0" indent="0">
              <a:lnSpc>
                <a:spcPts val="1600"/>
              </a:lnSpc>
              <a:buNone/>
            </a:pPr>
            <a:r>
              <a:rPr lang="en-US" sz="1150" dirty="0">
                <a:solidFill>
                  <a:srgbClr val="AEB6C2"/>
                </a:solidFill>
                <a:latin typeface="Barlow" pitchFamily="34" charset="0"/>
                <a:ea typeface="Barlow" pitchFamily="34" charset="-122"/>
                <a:cs typeface="Barlow" pitchFamily="34" charset="-120"/>
              </a:rPr>
              <a:t>priced at the same loaded salary the people line uses</a:t>
            </a:r>
            <a:endParaRPr lang="en-US" sz="1150" dirty="0"/>
          </a:p>
        </p:txBody>
      </p:sp>
      <p:sp>
        <p:nvSpPr>
          <p:cNvPr id="13" name="Shape 11"/>
          <p:cNvSpPr/>
          <p:nvPr/>
        </p:nvSpPr>
        <p:spPr>
          <a:xfrm>
            <a:off x="6210148" y="2194560"/>
            <a:ext cx="2519858" cy="2286000"/>
          </a:xfrm>
          <a:prstGeom prst="roundRect">
            <a:avLst>
              <a:gd name="adj" fmla="val 1600"/>
            </a:avLst>
          </a:prstGeom>
          <a:solidFill>
            <a:srgbClr val="171A20"/>
          </a:solidFill>
          <a:ln w="9525">
            <a:solidFill>
              <a:srgbClr val="262C35"/>
            </a:solidFill>
            <a:prstDash val="solid"/>
          </a:ln>
        </p:spPr>
      </p:sp>
      <p:sp>
        <p:nvSpPr>
          <p:cNvPr id="14" name="Text 12"/>
          <p:cNvSpPr txBox="1"/>
          <p:nvPr/>
        </p:nvSpPr>
        <p:spPr>
          <a:xfrm>
            <a:off x="6447892" y="2414016"/>
            <a:ext cx="2044370" cy="640080"/>
          </a:xfrm>
          <a:prstGeom prst="rect">
            <a:avLst/>
          </a:prstGeom>
          <a:noFill/>
          <a:ln/>
        </p:spPr>
        <p:txBody>
          <a:bodyPr wrap="square" lIns="0" tIns="0" rIns="0" bIns="0" rtlCol="0" anchor="t"/>
          <a:lstStyle/>
          <a:p>
            <a:pPr marL="0" indent="0">
              <a:lnSpc>
                <a:spcPts val="3600"/>
              </a:lnSpc>
              <a:buNone/>
            </a:pPr>
            <a:r>
              <a:rPr lang="en-US" sz="3400" dirty="0">
                <a:solidFill>
                  <a:srgbClr val="FFB020"/>
                </a:solidFill>
                <a:latin typeface="Barlow Condensed" pitchFamily="34" charset="0"/>
                <a:ea typeface="Barlow Condensed" pitchFamily="34" charset="-122"/>
                <a:cs typeface="Barlow Condensed" pitchFamily="34" charset="-120"/>
              </a:rPr>
              <a:t>0.64 FTE</a:t>
            </a:r>
            <a:endParaRPr lang="en-US" sz="3400" dirty="0"/>
          </a:p>
        </p:txBody>
      </p:sp>
      <p:sp>
        <p:nvSpPr>
          <p:cNvPr id="15" name="Text 13"/>
          <p:cNvSpPr txBox="1"/>
          <p:nvPr/>
        </p:nvSpPr>
        <p:spPr>
          <a:xfrm>
            <a:off x="6447892" y="3090672"/>
            <a:ext cx="2044370" cy="384048"/>
          </a:xfrm>
          <a:prstGeom prst="rect">
            <a:avLst/>
          </a:prstGeom>
          <a:noFill/>
          <a:ln/>
        </p:spPr>
        <p:txBody>
          <a:bodyPr wrap="square" lIns="0" tIns="0" rIns="0" bIns="0" rtlCol="0" anchor="t"/>
          <a:lstStyle/>
          <a:p>
            <a:pPr marL="0" indent="0">
              <a:buNone/>
            </a:pPr>
            <a:r>
              <a:rPr lang="en-US" sz="1200" kern="0" spc="200" dirty="0">
                <a:solidFill>
                  <a:srgbClr val="828C9A"/>
                </a:solidFill>
                <a:latin typeface="Barlow Condensed" pitchFamily="34" charset="0"/>
                <a:ea typeface="Barlow Condensed" pitchFamily="34" charset="-122"/>
                <a:cs typeface="Barlow Condensed" pitchFamily="34" charset="-120"/>
              </a:rPr>
              <a:t>REVIEWER LOAD AT Y10</a:t>
            </a:r>
            <a:endParaRPr lang="en-US" sz="1200" dirty="0"/>
          </a:p>
        </p:txBody>
      </p:sp>
      <p:sp>
        <p:nvSpPr>
          <p:cNvPr id="16" name="Text 14"/>
          <p:cNvSpPr txBox="1"/>
          <p:nvPr/>
        </p:nvSpPr>
        <p:spPr>
          <a:xfrm>
            <a:off x="6447892" y="3529584"/>
            <a:ext cx="2044370" cy="822960"/>
          </a:xfrm>
          <a:prstGeom prst="rect">
            <a:avLst/>
          </a:prstGeom>
          <a:noFill/>
          <a:ln/>
        </p:spPr>
        <p:txBody>
          <a:bodyPr wrap="square" lIns="0" tIns="0" rIns="0" bIns="0" rtlCol="0" anchor="t"/>
          <a:lstStyle/>
          <a:p>
            <a:pPr marL="0" indent="0">
              <a:lnSpc>
                <a:spcPts val="1600"/>
              </a:lnSpc>
              <a:buNone/>
            </a:pPr>
            <a:r>
              <a:rPr lang="en-US" sz="1150" dirty="0">
                <a:solidFill>
                  <a:srgbClr val="AEB6C2"/>
                </a:solidFill>
                <a:latin typeface="Barlow" pitchFamily="34" charset="0"/>
                <a:ea typeface="Barlow" pitchFamily="34" charset="-122"/>
                <a:cs typeface="Barlow" pitchFamily="34" charset="-120"/>
              </a:rPr>
              <a:t>at 8,500 athletes. Verification is not a money problem at this scale</a:t>
            </a:r>
            <a:endParaRPr lang="en-US" sz="1150" dirty="0"/>
          </a:p>
        </p:txBody>
      </p:sp>
      <p:sp>
        <p:nvSpPr>
          <p:cNvPr id="17" name="Shape 15"/>
          <p:cNvSpPr/>
          <p:nvPr/>
        </p:nvSpPr>
        <p:spPr>
          <a:xfrm>
            <a:off x="8958605" y="2194560"/>
            <a:ext cx="2519858" cy="2286000"/>
          </a:xfrm>
          <a:prstGeom prst="roundRect">
            <a:avLst>
              <a:gd name="adj" fmla="val 1600"/>
            </a:avLst>
          </a:prstGeom>
          <a:solidFill>
            <a:srgbClr val="171A20"/>
          </a:solidFill>
          <a:ln w="9525">
            <a:solidFill>
              <a:srgbClr val="262C35"/>
            </a:solidFill>
            <a:prstDash val="solid"/>
          </a:ln>
        </p:spPr>
      </p:sp>
      <p:sp>
        <p:nvSpPr>
          <p:cNvPr id="18" name="Text 16"/>
          <p:cNvSpPr txBox="1"/>
          <p:nvPr/>
        </p:nvSpPr>
        <p:spPr>
          <a:xfrm>
            <a:off x="9196349" y="2414016"/>
            <a:ext cx="2044370" cy="640080"/>
          </a:xfrm>
          <a:prstGeom prst="rect">
            <a:avLst/>
          </a:prstGeom>
          <a:noFill/>
          <a:ln/>
        </p:spPr>
        <p:txBody>
          <a:bodyPr wrap="square" lIns="0" tIns="0" rIns="0" bIns="0" rtlCol="0" anchor="t"/>
          <a:lstStyle/>
          <a:p>
            <a:pPr marL="0" indent="0">
              <a:lnSpc>
                <a:spcPts val="3600"/>
              </a:lnSpc>
              <a:buNone/>
            </a:pPr>
            <a:r>
              <a:rPr lang="en-US" sz="3400" dirty="0">
                <a:solidFill>
                  <a:srgbClr val="FFB020"/>
                </a:solidFill>
                <a:latin typeface="Barlow Condensed" pitchFamily="34" charset="0"/>
                <a:ea typeface="Barlow Condensed" pitchFamily="34" charset="-122"/>
                <a:cs typeface="Barlow Condensed" pitchFamily="34" charset="-120"/>
              </a:rPr>
              <a:t>&lt; 48 h</a:t>
            </a:r>
            <a:endParaRPr lang="en-US" sz="3400" dirty="0"/>
          </a:p>
        </p:txBody>
      </p:sp>
      <p:sp>
        <p:nvSpPr>
          <p:cNvPr id="19" name="Text 17"/>
          <p:cNvSpPr txBox="1"/>
          <p:nvPr/>
        </p:nvSpPr>
        <p:spPr>
          <a:xfrm>
            <a:off x="9196349" y="3090672"/>
            <a:ext cx="2044370" cy="384048"/>
          </a:xfrm>
          <a:prstGeom prst="rect">
            <a:avLst/>
          </a:prstGeom>
          <a:noFill/>
          <a:ln/>
        </p:spPr>
        <p:txBody>
          <a:bodyPr wrap="square" lIns="0" tIns="0" rIns="0" bIns="0" rtlCol="0" anchor="t"/>
          <a:lstStyle/>
          <a:p>
            <a:pPr marL="0" indent="0">
              <a:buNone/>
            </a:pPr>
            <a:r>
              <a:rPr lang="en-US" sz="1200" kern="0" spc="200" dirty="0">
                <a:solidFill>
                  <a:srgbClr val="828C9A"/>
                </a:solidFill>
                <a:latin typeface="Barlow Condensed" pitchFamily="34" charset="0"/>
                <a:ea typeface="Barlow Condensed" pitchFamily="34" charset="-122"/>
                <a:cs typeface="Barlow Condensed" pitchFamily="34" charset="-120"/>
              </a:rPr>
              <a:t>SERVICE LEVEL</a:t>
            </a:r>
            <a:endParaRPr lang="en-US" sz="1200" dirty="0"/>
          </a:p>
        </p:txBody>
      </p:sp>
      <p:sp>
        <p:nvSpPr>
          <p:cNvPr id="20" name="Text 18"/>
          <p:cNvSpPr txBox="1"/>
          <p:nvPr/>
        </p:nvSpPr>
        <p:spPr>
          <a:xfrm>
            <a:off x="9196349" y="3529584"/>
            <a:ext cx="2044370" cy="822960"/>
          </a:xfrm>
          <a:prstGeom prst="rect">
            <a:avLst/>
          </a:prstGeom>
          <a:noFill/>
          <a:ln/>
        </p:spPr>
        <p:txBody>
          <a:bodyPr wrap="square" lIns="0" tIns="0" rIns="0" bIns="0" rtlCol="0" anchor="t"/>
          <a:lstStyle/>
          <a:p>
            <a:pPr marL="0" indent="0">
              <a:lnSpc>
                <a:spcPts val="1600"/>
              </a:lnSpc>
              <a:buNone/>
            </a:pPr>
            <a:r>
              <a:rPr lang="en-US" sz="1150" dirty="0">
                <a:solidFill>
                  <a:srgbClr val="AEB6C2"/>
                </a:solidFill>
                <a:latin typeface="Barlow" pitchFamily="34" charset="0"/>
                <a:ea typeface="Barlow" pitchFamily="34" charset="-122"/>
                <a:cs typeface="Barlow" pitchFamily="34" charset="-120"/>
              </a:rPr>
              <a:t>the reason to automate is latency, not cost: a queued athlete is not earning</a:t>
            </a:r>
            <a:endParaRPr lang="en-US" sz="1150" dirty="0"/>
          </a:p>
        </p:txBody>
      </p:sp>
      <p:sp>
        <p:nvSpPr>
          <p:cNvPr id="21" name="Text 19"/>
          <p:cNvSpPr txBox="1"/>
          <p:nvPr/>
        </p:nvSpPr>
        <p:spPr>
          <a:xfrm>
            <a:off x="713232" y="4663440"/>
            <a:ext cx="10765231" cy="731520"/>
          </a:xfrm>
          <a:prstGeom prst="rect">
            <a:avLst/>
          </a:prstGeom>
          <a:noFill/>
          <a:ln/>
        </p:spPr>
        <p:txBody>
          <a:bodyPr wrap="square" lIns="0" tIns="0" rIns="0" bIns="0" rtlCol="0" anchor="t"/>
          <a:lstStyle/>
          <a:p>
            <a:pPr marL="0" indent="0">
              <a:lnSpc>
                <a:spcPts val="1900"/>
              </a:lnSpc>
              <a:buNone/>
            </a:pPr>
            <a:r>
              <a:rPr lang="en-US" sz="1400" dirty="0">
                <a:solidFill>
                  <a:srgbClr val="AEB6C2"/>
                </a:solidFill>
                <a:latin typeface="Barlow" pitchFamily="34" charset="0"/>
                <a:ea typeface="Barlow" pitchFamily="34" charset="-122"/>
                <a:cs typeface="Barlow" pitchFamily="34" charset="-120"/>
              </a:rPr>
              <a:t>A club nomination brings a roster of 20 to 40 athletes with the verification problem already solved, and club-nominated applicants are admitted at 45% against 20% direct. That is the channel the growth plan opens at Y3.</a:t>
            </a:r>
            <a:endParaRPr lang="en-US" sz="1400" dirty="0"/>
          </a:p>
        </p:txBody>
      </p:sp>
      <p:sp>
        <p:nvSpPr>
          <p:cNvPr id="25" name="Slide Number Placeholder 0"/>
          <p:cNvSpPr>
            <a:spLocks noGrp="1"/>
          </p:cNvSpPr>
          <p:nvPr>
            <p:ph type="sldNum" sz="quarter" idx="4294967295"/>
          </p:nvPr>
        </p:nvSpPr>
        <p:spPr>
          <a:xfrm>
            <a:off x="10746943"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828C9A"/>
                </a:solidFill>
                <a:latin typeface="Barlow Condensed"/>
                <a:ea typeface="Barlow Condensed"/>
                <a:cs typeface="Barlow Condensed"/>
              </a:defRPr>
            </a:lvl1pPr>
          </a:lstStyle>
          <a:p>
            <a:pPr algn="r"/>
            <a:fld id="{F7021451-1387-4CA6-816F-3879F97B5CBC}" type="slidenum">
              <a:rPr lang="en-US" b="0"/>
              <a:t>28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7074</Words>
  <Application>Microsoft Office PowerPoint</Application>
  <PresentationFormat>Widescreen</PresentationFormat>
  <Paragraphs>533</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Barlow</vt:lpstr>
      <vt:lpstr>Arial</vt:lpstr>
      <vt:lpstr>Barlow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Stride: athlete monetisation built on analytics</dc:title>
  <dc:subject>ESADE MSc Business Plan, final presentation</dc:subject>
  <dc:creator>Jad Zoghaib</dc:creator>
  <cp:lastModifiedBy>Zoghaib, Jad</cp:lastModifiedBy>
  <cp:revision>2</cp:revision>
  <dcterms:created xsi:type="dcterms:W3CDTF">2026-10-11T16:16:37Z</dcterms:created>
  <dcterms:modified xsi:type="dcterms:W3CDTF">2026-10-11T16:16:57Z</dcterms:modified>
</cp:coreProperties>
</file>