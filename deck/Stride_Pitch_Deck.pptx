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0434A21F-CC77-C284-163D-286B411C53CC}">
          <p14:sldIdLst>
            <p14:sldId id="256"/>
          </p14:sldIdLst>
        </p14:section>
        <p14:section name="Problem" id="{8F2DBDBA-E065-6E13-0118-8D08905AF80B}">
          <p14:sldIdLst>
            <p14:sldId id="257"/>
            <p14:sldId id="258"/>
            <p14:sldId id="259"/>
            <p14:sldId id="260"/>
          </p14:sldIdLst>
        </p14:section>
        <p14:section name="Product" id="{A9DC15EC-B0B4-DF0B-CA17-2652BAB783EE}">
          <p14:sldIdLst>
            <p14:sldId id="261"/>
            <p14:sldId id="262"/>
            <p14:sldId id="263"/>
            <p14:sldId id="264"/>
            <p14:sldId id="265"/>
          </p14:sldIdLst>
        </p14:section>
        <p14:section name="Market" id="{56C381A4-CFF0-8467-9280-E084A20B1BA0}">
          <p14:sldIdLst>
            <p14:sldId id="266"/>
            <p14:sldId id="267"/>
            <p14:sldId id="268"/>
          </p14:sldIdLst>
        </p14:section>
        <p14:section name="Model" id="{EB9E722F-DDEB-7B79-E30C-917CF435CBB5}">
          <p14:sldIdLst>
            <p14:sldId id="269"/>
            <p14:sldId id="270"/>
            <p14:sldId id="271"/>
          </p14:sldIdLst>
        </p14:section>
        <p14:section name="Money" id="{CF85A7D2-B9B7-93CD-7A0D-2072A92B5B08}">
          <p14:sldIdLst>
            <p14:sldId id="272"/>
            <p14:sldId id="273"/>
            <p14:sldId id="274"/>
          </p14:sldIdLst>
        </p14:section>
        <p14:section name="Backup" id="{63A7A871-0727-CA89-391E-DF12C1E0F5DA}">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5FF6-441A-B64C-DEC951995098}"/>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5FF6-441A-B64C-DEC951995098}"/>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5FF6-441A-B64C-DEC95199509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B52A-42B7-A924-7E2D618A38D2}"/>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B52A-42B7-A924-7E2D618A38D2}"/>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8AA4-4047-AE02-7901A5C50CF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51681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Two sentences. Get the athlete paid, and show the brand what it bought. Those are the two halves of the company, and most of my fifteen minutes is about why they are one company rather than two.
Be clear about who I mean on both sides. The athletes are semi-professional and amateur, in niche sports, with a real following in a real place and no agent. A professional does not need me, they already have one, and they would not use this. The brands are the businesses near that athlete's club: the physiotherapy clinic, the gym, the car dealer.
And the thesis in one sentence: athletes are creators with a second payer. OnlyFans proved direct fan monetisation beats ad share. Nobody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and it starts with one person.
A friend I play rugby with is the CrossFit champion of Lebanon, and one of the best rugby league players in the country. Neither sport has ever paid him anything. Not a little. Nothing.
He is one of the five athletes in my research, and in that group he is not the exception. He is the median. Someone at the very top of two sports, with a real audience, and no mechanism anywhere that turns either of those things into income.
I started building this because of him.
And the reason I can see it at all is on the bottom line: these are teammates, not survey respondents. I am capped for Lebanon myself, which is why the conversations were candid. The consulting built the model, and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was one of five athletes in my own sports I asked the same question: what has your sport ever paid you.
The answer was not 'a little'. Across all five it is zero, and I want to be precise about what that zero is, because one of them does have a sponsor.
He did not get it as a rugby league player. It came to him some other way, and no part of it came through the sport. So the claim is not that these people are uncommercial. A brand pays him. The claim is that the sport captures none of it, because there is no route by which it could. That is a stronger finding than five zeros would have been.
And read the quote, because it is the one that matters most: they do not build an audience, because there is no return on building one. That is not a complaint about pricing. It is a market with no infrastructure in it.
If anyone asks why the figure is in euros when two of the three sports are in Lebanon: the whole plan is denominated in euros and Spain is the launch market, so it is the unit every other number in this deck uses. Zero is the one figure where the unit cannot change the answer.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There are two reasons and the second one is the better one.
The first is cost. A niche athlete costs 16 euros to acquire against 40 for a popular one, and by year seven 48 per cent of them monetise against 30 per cent. Cheaper, and more of them earn, because nobody is competing for them. A professional already has an agent and would not use this.
The second reason is the one I would argue for. A niche athlete's audience is concentrated in a place, around the club and the circuit they compete on. To a national advertiser that is close to worthless, which is why nobody bids for it. To the physiotherapy clinic two streets from the club it is the only thing worth buying, and there is currently no way to buy it. So the same decision that makes my supply cheap is what makes my demand side exist at all.
And what we learn here generalises upward into bigger sports.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If you want the long answer on SponsorUnited I have a backup slide for it, but the short one is this. They sell what the market did. We measure what one brand's money did, and we can only do that because the projection is written onto the deal at the moment the offer is made. A company that was not in the transaction never saw the promise. I am not beating them, to be clear. I am serving a customer their cost structure will not let them near.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Get the athlete paid.</a:t>
            </a:r>
            <a:endParaRPr lang="en-US" sz="4600" dirty="0"/>
          </a:p>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Show the brand what it bought.</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For semi-professional athletes in niche sports, and the local businesses near their club. Neither side is served today.</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national champion, and the sport has no way to pay him</a:t>
            </a:r>
            <a:endParaRPr lang="en-US" sz="3600" dirty="0"/>
          </a:p>
        </p:txBody>
      </p:sp>
      <p:sp>
        <p:nvSpPr>
          <p:cNvPr id="4" name="Shape 2"/>
          <p:cNvSpPr/>
          <p:nvPr/>
        </p:nvSpPr>
        <p:spPr>
          <a:xfrm>
            <a:off x="713232" y="1920240"/>
            <a:ext cx="6675120" cy="2926080"/>
          </a:xfrm>
          <a:prstGeom prst="roundRect">
            <a:avLst>
              <a:gd name="adj" fmla="val 1250"/>
            </a:avLst>
          </a:prstGeom>
          <a:solidFill>
            <a:srgbClr val="171A20"/>
          </a:solidFill>
          <a:ln w="9525">
            <a:solidFill>
              <a:srgbClr val="262C35"/>
            </a:solidFill>
            <a:prstDash val="solid"/>
          </a:ln>
        </p:spPr>
      </p:sp>
      <p:sp>
        <p:nvSpPr>
          <p:cNvPr id="5" name="Text 3"/>
          <p:cNvSpPr txBox="1"/>
          <p:nvPr/>
        </p:nvSpPr>
        <p:spPr>
          <a:xfrm>
            <a:off x="1005840" y="2121408"/>
            <a:ext cx="60350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TWO SPORTS, AT THE TOP OF BOTH</a:t>
            </a:r>
            <a:endParaRPr lang="en-US" sz="1200" dirty="0"/>
          </a:p>
        </p:txBody>
      </p:sp>
      <p:sp>
        <p:nvSpPr>
          <p:cNvPr id="6" name="Text 4"/>
          <p:cNvSpPr txBox="1"/>
          <p:nvPr/>
        </p:nvSpPr>
        <p:spPr>
          <a:xfrm>
            <a:off x="1005840" y="2523744"/>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CROSSFIT</a:t>
            </a:r>
            <a:endParaRPr lang="en-US" sz="1900" dirty="0"/>
          </a:p>
        </p:txBody>
      </p:sp>
      <p:sp>
        <p:nvSpPr>
          <p:cNvPr id="7" name="Text 5"/>
          <p:cNvSpPr txBox="1"/>
          <p:nvPr/>
        </p:nvSpPr>
        <p:spPr>
          <a:xfrm>
            <a:off x="3456432" y="2542032"/>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Champion of Lebanon</a:t>
            </a:r>
            <a:endParaRPr lang="en-US" sz="1900" dirty="0"/>
          </a:p>
        </p:txBody>
      </p:sp>
      <p:sp>
        <p:nvSpPr>
          <p:cNvPr id="8" name="Shape 6"/>
          <p:cNvSpPr/>
          <p:nvPr/>
        </p:nvSpPr>
        <p:spPr>
          <a:xfrm>
            <a:off x="1005840" y="2980944"/>
            <a:ext cx="6035040" cy="12802"/>
          </a:xfrm>
          <a:prstGeom prst="rect">
            <a:avLst/>
          </a:prstGeom>
          <a:solidFill>
            <a:srgbClr val="262C35"/>
          </a:solidFill>
          <a:ln w="12700">
            <a:solidFill>
              <a:srgbClr val="333333"/>
            </a:solidFill>
            <a:prstDash val="solid"/>
          </a:ln>
        </p:spPr>
      </p:sp>
      <p:sp>
        <p:nvSpPr>
          <p:cNvPr id="9" name="Text 7"/>
          <p:cNvSpPr txBox="1"/>
          <p:nvPr/>
        </p:nvSpPr>
        <p:spPr>
          <a:xfrm>
            <a:off x="1005840" y="3145536"/>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RUGBY LEAGUE</a:t>
            </a:r>
            <a:endParaRPr lang="en-US" sz="1900" dirty="0"/>
          </a:p>
        </p:txBody>
      </p:sp>
      <p:sp>
        <p:nvSpPr>
          <p:cNvPr id="10" name="Text 8"/>
          <p:cNvSpPr txBox="1"/>
          <p:nvPr/>
        </p:nvSpPr>
        <p:spPr>
          <a:xfrm>
            <a:off x="3456432" y="3163824"/>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Among the best in the country</a:t>
            </a:r>
            <a:endParaRPr lang="en-US" sz="1900" dirty="0"/>
          </a:p>
        </p:txBody>
      </p:sp>
      <p:sp>
        <p:nvSpPr>
          <p:cNvPr id="11" name="Shape 9"/>
          <p:cNvSpPr/>
          <p:nvPr/>
        </p:nvSpPr>
        <p:spPr>
          <a:xfrm>
            <a:off x="1005840" y="3602736"/>
            <a:ext cx="6035040" cy="12802"/>
          </a:xfrm>
          <a:prstGeom prst="rect">
            <a:avLst/>
          </a:prstGeom>
          <a:solidFill>
            <a:srgbClr val="262C35"/>
          </a:solidFill>
          <a:ln w="12700">
            <a:solidFill>
              <a:srgbClr val="333333"/>
            </a:solidFill>
            <a:prstDash val="solid"/>
          </a:ln>
        </p:spPr>
      </p:sp>
      <p:sp>
        <p:nvSpPr>
          <p:cNvPr id="12" name="Text 10"/>
          <p:cNvSpPr txBox="1"/>
          <p:nvPr/>
        </p:nvSpPr>
        <p:spPr>
          <a:xfrm>
            <a:off x="1005840" y="3767328"/>
            <a:ext cx="6035040" cy="91440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friend I play rugby with, and one of the five athletes in the research behind this plan. He is not the exception in that group. He is what a niche sport looks like at the very top of it.</a:t>
            </a:r>
            <a:endParaRPr lang="en-US" sz="1350" dirty="0"/>
          </a:p>
        </p:txBody>
      </p:sp>
      <p:sp>
        <p:nvSpPr>
          <p:cNvPr id="13" name="Shape 11"/>
          <p:cNvSpPr/>
          <p:nvPr/>
        </p:nvSpPr>
        <p:spPr>
          <a:xfrm>
            <a:off x="7662672" y="1920240"/>
            <a:ext cx="3815791" cy="2926080"/>
          </a:xfrm>
          <a:prstGeom prst="roundRect">
            <a:avLst>
              <a:gd name="adj" fmla="val 1250"/>
            </a:avLst>
          </a:prstGeom>
          <a:solidFill>
            <a:srgbClr val="1F242C"/>
          </a:solidFill>
          <a:ln w="9525">
            <a:solidFill>
              <a:srgbClr val="262C35"/>
            </a:solidFill>
            <a:prstDash val="solid"/>
          </a:ln>
        </p:spPr>
      </p:sp>
      <p:sp>
        <p:nvSpPr>
          <p:cNvPr id="14" name="Text 12"/>
          <p:cNvSpPr txBox="1"/>
          <p:nvPr/>
        </p:nvSpPr>
        <p:spPr>
          <a:xfrm>
            <a:off x="7936992" y="2121408"/>
            <a:ext cx="32918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EITHER SPORT HAS PAID HIM</a:t>
            </a:r>
            <a:endParaRPr lang="en-US" sz="1200" dirty="0"/>
          </a:p>
        </p:txBody>
      </p:sp>
      <p:sp>
        <p:nvSpPr>
          <p:cNvPr id="15" name="Text 13"/>
          <p:cNvSpPr txBox="1"/>
          <p:nvPr/>
        </p:nvSpPr>
        <p:spPr>
          <a:xfrm>
            <a:off x="7936992" y="2450592"/>
            <a:ext cx="3291840" cy="731520"/>
          </a:xfrm>
          <a:prstGeom prst="rect">
            <a:avLst/>
          </a:prstGeom>
          <a:noFill/>
          <a:ln/>
        </p:spPr>
        <p:txBody>
          <a:bodyPr wrap="square" lIns="0" tIns="0" rIns="0" bIns="0" rtlCol="0" anchor="t"/>
          <a:lstStyle/>
          <a:p>
            <a:pPr marL="0" indent="0">
              <a:lnSpc>
                <a:spcPts val="4800"/>
              </a:lnSpc>
              <a:buNone/>
            </a:pPr>
            <a:r>
              <a:rPr lang="en-US" sz="4600" dirty="0">
                <a:solidFill>
                  <a:srgbClr val="FFB020"/>
                </a:solidFill>
                <a:latin typeface="Barlow Condensed" pitchFamily="34" charset="0"/>
                <a:ea typeface="Barlow Condensed" pitchFamily="34" charset="-122"/>
                <a:cs typeface="Barlow Condensed" pitchFamily="34" charset="-120"/>
              </a:rPr>
              <a:t>Nothing</a:t>
            </a:r>
            <a:endParaRPr lang="en-US" sz="4600" dirty="0"/>
          </a:p>
        </p:txBody>
      </p:sp>
      <p:sp>
        <p:nvSpPr>
          <p:cNvPr id="16" name="Text 14"/>
          <p:cNvSpPr txBox="1"/>
          <p:nvPr/>
        </p:nvSpPr>
        <p:spPr>
          <a:xfrm>
            <a:off x="7936992" y="3255264"/>
            <a:ext cx="3291840" cy="96012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Not a small amount, and not an inconsistent one. Nothing either sport built for him converts into income, so whatever he earns arrives another way.</a:t>
            </a:r>
            <a:endParaRPr lang="en-US" sz="1300" dirty="0"/>
          </a:p>
        </p:txBody>
      </p:sp>
      <p:sp>
        <p:nvSpPr>
          <p:cNvPr id="17" name="Shape 15"/>
          <p:cNvSpPr/>
          <p:nvPr/>
        </p:nvSpPr>
        <p:spPr>
          <a:xfrm>
            <a:off x="7936992" y="4315968"/>
            <a:ext cx="3291840" cy="12802"/>
          </a:xfrm>
          <a:prstGeom prst="rect">
            <a:avLst/>
          </a:prstGeom>
          <a:solidFill>
            <a:srgbClr val="262C35"/>
          </a:solidFill>
          <a:ln w="12700">
            <a:solidFill>
              <a:srgbClr val="333333"/>
            </a:solidFill>
            <a:prstDash val="solid"/>
          </a:ln>
        </p:spPr>
      </p:sp>
      <p:sp>
        <p:nvSpPr>
          <p:cNvPr id="18" name="Text 16"/>
          <p:cNvSpPr txBox="1"/>
          <p:nvPr/>
        </p:nvSpPr>
        <p:spPr>
          <a:xfrm>
            <a:off x="7936992" y="4443984"/>
            <a:ext cx="3291840" cy="365760"/>
          </a:xfrm>
          <a:prstGeom prst="rect">
            <a:avLst/>
          </a:prstGeom>
          <a:noFill/>
          <a:ln/>
        </p:spPr>
        <p:txBody>
          <a:bodyPr wrap="square" lIns="0" tIns="0" rIns="0" bIns="0" rtlCol="0" anchor="t"/>
          <a:lstStyle/>
          <a:p>
            <a:pPr marL="0" indent="0">
              <a:lnSpc>
                <a:spcPts val="1800"/>
              </a:lnSpc>
              <a:buNone/>
            </a:pPr>
            <a:r>
              <a:rPr lang="en-US" sz="1300" dirty="0">
                <a:solidFill>
                  <a:srgbClr val="F2F4F7"/>
                </a:solidFill>
                <a:latin typeface="Barlow" pitchFamily="34" charset="0"/>
                <a:ea typeface="Barlow" pitchFamily="34" charset="-122"/>
                <a:cs typeface="Barlow" pitchFamily="34" charset="-120"/>
              </a:rPr>
              <a:t>I started building because of him.</a:t>
            </a:r>
            <a:endParaRPr lang="en-US" sz="1300" dirty="0"/>
          </a:p>
        </p:txBody>
      </p:sp>
      <p:sp>
        <p:nvSpPr>
          <p:cNvPr id="19" name="Shape 17"/>
          <p:cNvSpPr/>
          <p:nvPr/>
        </p:nvSpPr>
        <p:spPr>
          <a:xfrm>
            <a:off x="713232" y="5074920"/>
            <a:ext cx="10765231" cy="914400"/>
          </a:xfrm>
          <a:prstGeom prst="roundRect">
            <a:avLst>
              <a:gd name="adj" fmla="val 4000"/>
            </a:avLst>
          </a:prstGeom>
          <a:solidFill>
            <a:srgbClr val="1F242C"/>
          </a:solidFill>
          <a:ln w="9525">
            <a:solidFill>
              <a:srgbClr val="262C35"/>
            </a:solidFill>
            <a:prstDash val="solid"/>
          </a:ln>
        </p:spPr>
      </p:sp>
      <p:sp>
        <p:nvSpPr>
          <p:cNvPr id="20" name="Text 18"/>
          <p:cNvSpPr txBox="1"/>
          <p:nvPr/>
        </p:nvSpPr>
        <p:spPr>
          <a:xfrm>
            <a:off x="987552" y="5276088"/>
            <a:ext cx="301752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WHY I CAN SEE THIS AT ALL</a:t>
            </a:r>
            <a:endParaRPr lang="en-US" sz="1300" dirty="0"/>
          </a:p>
        </p:txBody>
      </p:sp>
      <p:sp>
        <p:nvSpPr>
          <p:cNvPr id="21" name="Text 19"/>
          <p:cNvSpPr txBox="1"/>
          <p:nvPr/>
        </p:nvSpPr>
        <p:spPr>
          <a:xfrm>
            <a:off x="4279392" y="5239512"/>
            <a:ext cx="6924751" cy="65836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Capped by the Lebanese national rugby team, so these are teammates rather than survey respondents. Four years of consulting built the model; the MSc and the build produced the product and its code.</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One of the five athletes in the primary research. Full method and limitations in section 3.1.5.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713232" y="1005840"/>
            <a:ext cx="5120640" cy="274320"/>
          </a:xfrm>
          <a:prstGeom prst="rect">
            <a:avLst/>
          </a:prstGeom>
          <a:noFill/>
          <a:ln/>
        </p:spPr>
        <p:txBody>
          <a:bodyPr wrap="square" lIns="0" tIns="0" rIns="0" bIns="0" rtlCol="0" anchor="t"/>
          <a:lstStyle/>
          <a:p>
            <a:pPr marL="0" indent="0">
              <a:buNone/>
            </a:pPr>
            <a:r>
              <a:rPr lang="en-US" sz="1300" kern="0" spc="260" dirty="0">
                <a:solidFill>
                  <a:srgbClr val="828C9A"/>
                </a:solidFill>
                <a:latin typeface="Barlow Condensed" pitchFamily="34" charset="0"/>
                <a:ea typeface="Barlow Condensed" pitchFamily="34" charset="-122"/>
                <a:cs typeface="Barlow Condensed" pitchFamily="34" charset="-120"/>
              </a:rPr>
              <a:t>INCOME THE SPORT ITSELF PRODUCED</a:t>
            </a:r>
            <a:endParaRPr lang="en-US" sz="1300" dirty="0"/>
          </a:p>
        </p:txBody>
      </p:sp>
      <p:sp>
        <p:nvSpPr>
          <p:cNvPr id="4" name="Text 2"/>
          <p:cNvSpPr txBox="1"/>
          <p:nvPr/>
        </p:nvSpPr>
        <p:spPr>
          <a:xfrm>
            <a:off x="713232" y="1353312"/>
            <a:ext cx="4754880" cy="2286000"/>
          </a:xfrm>
          <a:prstGeom prst="rect">
            <a:avLst/>
          </a:prstGeom>
          <a:noFill/>
          <a:ln/>
        </p:spPr>
        <p:txBody>
          <a:bodyPr wrap="square" lIns="0" tIns="0" rIns="0" bIns="0" rtlCol="0" anchor="t"/>
          <a:lstStyle/>
          <a:p>
            <a:pPr marL="0" indent="0">
              <a:lnSpc>
                <a:spcPts val="16000"/>
              </a:lnSpc>
              <a:buNone/>
            </a:pPr>
            <a:r>
              <a:rPr lang="en-US" sz="16800" dirty="0">
                <a:solidFill>
                  <a:srgbClr val="F2F4F7"/>
                </a:solidFill>
                <a:latin typeface="Barlow Condensed" pitchFamily="34" charset="0"/>
                <a:ea typeface="Barlow Condensed" pitchFamily="34" charset="-122"/>
                <a:cs typeface="Barlow Condensed" pitchFamily="34" charset="-120"/>
              </a:rPr>
              <a:t>€0</a:t>
            </a:r>
            <a:endParaRPr lang="en-US" sz="16800" dirty="0"/>
          </a:p>
        </p:txBody>
      </p:sp>
      <p:sp>
        <p:nvSpPr>
          <p:cNvPr id="5" name="Text 3"/>
          <p:cNvSpPr txBox="1"/>
          <p:nvPr/>
        </p:nvSpPr>
        <p:spPr>
          <a:xfrm>
            <a:off x="713232" y="3255264"/>
            <a:ext cx="5120640" cy="822960"/>
          </a:xfrm>
          <a:prstGeom prst="rect">
            <a:avLst/>
          </a:prstGeom>
          <a:noFill/>
          <a:ln/>
        </p:spPr>
        <p:txBody>
          <a:bodyPr wrap="square" lIns="0" tIns="0" rIns="0" bIns="0" rtlCol="0" anchor="t"/>
          <a:lstStyle/>
          <a:p>
            <a:pPr marL="0" indent="0">
              <a:lnSpc>
                <a:spcPts val="3400"/>
              </a:lnSpc>
              <a:buNone/>
            </a:pPr>
            <a:r>
              <a:rPr lang="en-US" sz="3000" dirty="0">
                <a:solidFill>
                  <a:srgbClr val="FFB020"/>
                </a:solidFill>
                <a:latin typeface="Barlow Condensed" pitchFamily="34" charset="0"/>
                <a:ea typeface="Barlow Condensed" pitchFamily="34" charset="-122"/>
                <a:cs typeface="Barlow Condensed" pitchFamily="34" charset="-120"/>
              </a:rPr>
              <a:t>Not low. Not inconsistent. Nothing</a:t>
            </a:r>
            <a:endParaRPr lang="en-US" sz="3000" dirty="0"/>
          </a:p>
        </p:txBody>
      </p:sp>
      <p:sp>
        <p:nvSpPr>
          <p:cNvPr id="6" name="Shape 4"/>
          <p:cNvSpPr/>
          <p:nvPr/>
        </p:nvSpPr>
        <p:spPr>
          <a:xfrm>
            <a:off x="713232" y="3968496"/>
            <a:ext cx="5212080" cy="859536"/>
          </a:xfrm>
          <a:prstGeom prst="roundRect">
            <a:avLst>
              <a:gd name="adj" fmla="val 4255"/>
            </a:avLst>
          </a:prstGeom>
          <a:solidFill>
            <a:srgbClr val="1F242C"/>
          </a:solidFill>
          <a:ln w="9525">
            <a:solidFill>
              <a:srgbClr val="262C35"/>
            </a:solidFill>
            <a:prstDash val="solid"/>
          </a:ln>
        </p:spPr>
      </p:sp>
      <p:sp>
        <p:nvSpPr>
          <p:cNvPr id="7" name="Text 5"/>
          <p:cNvSpPr txBox="1"/>
          <p:nvPr/>
        </p:nvSpPr>
        <p:spPr>
          <a:xfrm>
            <a:off x="969264" y="4133088"/>
            <a:ext cx="4754880" cy="219456"/>
          </a:xfrm>
          <a:prstGeom prst="rect">
            <a:avLst/>
          </a:prstGeom>
          <a:noFill/>
          <a:ln/>
        </p:spPr>
        <p:txBody>
          <a:bodyPr wrap="square" lIns="0" tIns="0" rIns="0" bIns="0" rtlCol="0" anchor="t"/>
          <a:lstStyle/>
          <a:p>
            <a:pPr marL="0" indent="0">
              <a:buNone/>
            </a:pPr>
            <a:r>
              <a:rPr lang="en-US" sz="1150" kern="0" spc="200" dirty="0">
                <a:solidFill>
                  <a:srgbClr val="FFB020"/>
                </a:solidFill>
                <a:latin typeface="Barlow Condensed" pitchFamily="34" charset="0"/>
                <a:ea typeface="Barlow Condensed" pitchFamily="34" charset="-122"/>
                <a:cs typeface="Barlow Condensed" pitchFamily="34" charset="-120"/>
              </a:rPr>
              <a:t>ONE OF THE FIVE DOES HAVE A SPONSOR</a:t>
            </a:r>
            <a:endParaRPr lang="en-US" sz="1150" dirty="0"/>
          </a:p>
        </p:txBody>
      </p:sp>
      <p:sp>
        <p:nvSpPr>
          <p:cNvPr id="8" name="Text 6"/>
          <p:cNvSpPr txBox="1"/>
          <p:nvPr/>
        </p:nvSpPr>
        <p:spPr>
          <a:xfrm>
            <a:off x="969264" y="4370832"/>
            <a:ext cx="4754880" cy="402336"/>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He did not get it as a rugby league player. None of it came through the sport, which is the finding and not an exception to it.</a:t>
            </a:r>
            <a:endParaRPr lang="en-US" sz="1200" dirty="0"/>
          </a:p>
        </p:txBody>
      </p:sp>
      <p:sp>
        <p:nvSpPr>
          <p:cNvPr id="9" name="Shape 7"/>
          <p:cNvSpPr/>
          <p:nvPr/>
        </p:nvSpPr>
        <p:spPr>
          <a:xfrm>
            <a:off x="6309360" y="1234440"/>
            <a:ext cx="5169103" cy="3611880"/>
          </a:xfrm>
          <a:prstGeom prst="roundRect">
            <a:avLst>
              <a:gd name="adj" fmla="val 1013"/>
            </a:avLst>
          </a:prstGeom>
          <a:solidFill>
            <a:srgbClr val="171A20"/>
          </a:solidFill>
          <a:ln w="9525">
            <a:solidFill>
              <a:srgbClr val="262C35"/>
            </a:solidFill>
            <a:prstDash val="solid"/>
          </a:ln>
        </p:spPr>
      </p:sp>
      <p:sp>
        <p:nvSpPr>
          <p:cNvPr id="10" name="Text 8"/>
          <p:cNvSpPr txBox="1"/>
          <p:nvPr/>
        </p:nvSpPr>
        <p:spPr>
          <a:xfrm>
            <a:off x="6583680" y="1298448"/>
            <a:ext cx="914400" cy="914400"/>
          </a:xfrm>
          <a:prstGeom prst="rect">
            <a:avLst/>
          </a:prstGeom>
          <a:noFill/>
          <a:ln/>
        </p:spPr>
        <p:txBody>
          <a:bodyPr wrap="square" lIns="0" tIns="0" rIns="0" bIns="0" rtlCol="0" anchor="t"/>
          <a:lstStyle/>
          <a:p>
            <a:pPr marL="0" indent="0">
              <a:buNone/>
            </a:pPr>
            <a:r>
              <a:rPr lang="en-US" sz="8000" dirty="0">
                <a:solidFill>
                  <a:srgbClr val="262C35"/>
                </a:solidFill>
                <a:latin typeface="Barlow Condensed" pitchFamily="34" charset="0"/>
                <a:ea typeface="Barlow Condensed" pitchFamily="34" charset="-122"/>
                <a:cs typeface="Barlow Condensed" pitchFamily="34" charset="-120"/>
              </a:rPr>
              <a:t>“</a:t>
            </a:r>
            <a:endParaRPr lang="en-US" sz="8000" dirty="0"/>
          </a:p>
        </p:txBody>
      </p:sp>
      <p:sp>
        <p:nvSpPr>
          <p:cNvPr id="11" name="Text 9"/>
          <p:cNvSpPr txBox="1"/>
          <p:nvPr/>
        </p:nvSpPr>
        <p:spPr>
          <a:xfrm>
            <a:off x="6675120" y="2057400"/>
            <a:ext cx="4364431" cy="1371600"/>
          </a:xfrm>
          <a:prstGeom prst="rect">
            <a:avLst/>
          </a:prstGeom>
          <a:noFill/>
          <a:ln/>
        </p:spPr>
        <p:txBody>
          <a:bodyPr wrap="square" lIns="0" tIns="0" rIns="0" bIns="0" rtlCol="0" anchor="t"/>
          <a:lstStyle/>
          <a:p>
            <a:pPr marL="0" indent="0">
              <a:lnSpc>
                <a:spcPts val="2700"/>
              </a:lnSpc>
              <a:buNone/>
            </a:pPr>
            <a:r>
              <a:rPr lang="en-US" sz="1900" dirty="0">
                <a:solidFill>
                  <a:srgbClr val="F2F4F7"/>
                </a:solidFill>
                <a:latin typeface="Barlow" pitchFamily="34" charset="0"/>
                <a:ea typeface="Barlow" pitchFamily="34" charset="-122"/>
                <a:cs typeface="Barlow" pitchFamily="34" charset="-120"/>
              </a:rPr>
              <a:t>People are not going to spend time setting up social media and building followers purely around their sport if nothing comes back.</a:t>
            </a:r>
            <a:endParaRPr lang="en-US" sz="1900" dirty="0"/>
          </a:p>
        </p:txBody>
      </p:sp>
      <p:sp>
        <p:nvSpPr>
          <p:cNvPr id="12" name="Shape 10"/>
          <p:cNvSpPr/>
          <p:nvPr/>
        </p:nvSpPr>
        <p:spPr>
          <a:xfrm>
            <a:off x="6675120" y="3566160"/>
            <a:ext cx="1005840" cy="18288"/>
          </a:xfrm>
          <a:prstGeom prst="rect">
            <a:avLst/>
          </a:prstGeom>
          <a:solidFill>
            <a:srgbClr val="FFB020"/>
          </a:solidFill>
          <a:ln w="12700">
            <a:solidFill>
              <a:srgbClr val="333333"/>
            </a:solidFill>
            <a:prstDash val="solid"/>
          </a:ln>
        </p:spPr>
      </p:sp>
      <p:sp>
        <p:nvSpPr>
          <p:cNvPr id="13" name="Text 11"/>
          <p:cNvSpPr txBox="1"/>
          <p:nvPr/>
        </p:nvSpPr>
        <p:spPr>
          <a:xfrm>
            <a:off x="6675120" y="3730752"/>
            <a:ext cx="4364431"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Rugby league players competing in Spain and Lebanon, and top-ranked Lebanese CrossFit athletes. The founder is capped by the Lebanese national rugby team, which is how this access exists.</a:t>
            </a:r>
            <a:endParaRPr lang="en-US" sz="1250" dirty="0"/>
          </a:p>
        </p:txBody>
      </p:sp>
      <p:sp>
        <p:nvSpPr>
          <p:cNvPr id="14" name="Shape 12"/>
          <p:cNvSpPr/>
          <p:nvPr/>
        </p:nvSpPr>
        <p:spPr>
          <a:xfrm>
            <a:off x="713232" y="5248656"/>
            <a:ext cx="5245456" cy="12802"/>
          </a:xfrm>
          <a:prstGeom prst="rect">
            <a:avLst/>
          </a:prstGeom>
          <a:solidFill>
            <a:srgbClr val="262C35"/>
          </a:solidFill>
          <a:ln w="12700">
            <a:solidFill>
              <a:srgbClr val="333333"/>
            </a:solidFill>
            <a:prstDash val="solid"/>
          </a:ln>
        </p:spPr>
      </p:sp>
      <p:sp>
        <p:nvSpPr>
          <p:cNvPr id="15" name="Text 13"/>
          <p:cNvSpPr txBox="1"/>
          <p:nvPr/>
        </p:nvSpPr>
        <p:spPr>
          <a:xfrm>
            <a:off x="713232" y="5376672"/>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6" name="Text 14"/>
          <p:cNvSpPr txBox="1"/>
          <p:nvPr/>
        </p:nvSpPr>
        <p:spPr>
          <a:xfrm>
            <a:off x="713232" y="5614416"/>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17" name="Shape 15"/>
          <p:cNvSpPr/>
          <p:nvPr/>
        </p:nvSpPr>
        <p:spPr>
          <a:xfrm>
            <a:off x="6233008" y="5248656"/>
            <a:ext cx="5245456" cy="12802"/>
          </a:xfrm>
          <a:prstGeom prst="rect">
            <a:avLst/>
          </a:prstGeom>
          <a:solidFill>
            <a:srgbClr val="262C35"/>
          </a:solidFill>
          <a:ln w="12700">
            <a:solidFill>
              <a:srgbClr val="333333"/>
            </a:solidFill>
            <a:prstDash val="solid"/>
          </a:ln>
        </p:spPr>
      </p:sp>
      <p:sp>
        <p:nvSpPr>
          <p:cNvPr id="18" name="Text 16"/>
          <p:cNvSpPr txBox="1"/>
          <p:nvPr/>
        </p:nvSpPr>
        <p:spPr>
          <a:xfrm>
            <a:off x="6233008" y="5376672"/>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19" name="Text 17"/>
          <p:cNvSpPr txBox="1"/>
          <p:nvPr/>
        </p:nvSpPr>
        <p:spPr>
          <a:xfrm>
            <a:off x="6233008" y="5614416"/>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Primary research, five semi-structured interviews, 2026. Convenience sample, reported as one.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19" name="Shape 17"/>
          <p:cNvSpPr/>
          <p:nvPr/>
        </p:nvSpPr>
        <p:spPr>
          <a:xfrm>
            <a:off x="713232" y="5266944"/>
            <a:ext cx="10765231" cy="804672"/>
          </a:xfrm>
          <a:prstGeom prst="roundRect">
            <a:avLst>
              <a:gd name="adj" fmla="val 4545"/>
            </a:avLst>
          </a:prstGeom>
          <a:solidFill>
            <a:srgbClr val="1F242C"/>
          </a:solidFill>
          <a:ln w="9525">
            <a:solidFill>
              <a:srgbClr val="262C35"/>
            </a:solidFill>
            <a:prstDash val="solid"/>
          </a:ln>
        </p:spPr>
      </p:sp>
      <p:sp>
        <p:nvSpPr>
          <p:cNvPr id="20" name="Text 18"/>
          <p:cNvSpPr txBox="1"/>
          <p:nvPr/>
        </p:nvSpPr>
        <p:spPr>
          <a:xfrm>
            <a:off x="987552" y="5449824"/>
            <a:ext cx="292608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ASSUMPTION I TEST FIRST</a:t>
            </a:r>
            <a:endParaRPr lang="en-US" sz="1350" dirty="0"/>
          </a:p>
        </p:txBody>
      </p:sp>
      <p:sp>
        <p:nvSpPr>
          <p:cNvPr id="21" name="Text 19"/>
          <p:cNvSpPr txBox="1"/>
          <p:nvPr/>
        </p:nvSpPr>
        <p:spPr>
          <a:xfrm>
            <a:off x="4187952" y="5413248"/>
            <a:ext cx="7016191" cy="56692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Twenty sponsor conversations before the pre-seed gate, and the answer that kills it is written down in advance: if brands say they already know what they get, the analytics engine is not a differentiator.</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Sponsor discovery programme, section 4.6: four buyer groups, seven questions, each one aimed at an assumption the model depends 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r>
              <a:rPr lang="en-US" sz="1200" dirty="0">
                <a:solidFill>
                  <a:srgbClr val="828C9A"/>
                </a:solidFill>
                <a:latin typeface="Barlow" pitchFamily="34" charset="0"/>
                <a:ea typeface="Barlow" pitchFamily="34" charset="-122"/>
                <a:cs typeface="Barlow" pitchFamily="34" charset="-120"/>
              </a:rPr>
              <a:t>   ·   48% of Y7</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r>
              <a:rPr lang="en-US" sz="1200" dirty="0">
                <a:solidFill>
                  <a:srgbClr val="828C9A"/>
                </a:solidFill>
                <a:latin typeface="Barlow" pitchFamily="34" charset="0"/>
                <a:ea typeface="Barlow" pitchFamily="34" charset="-122"/>
                <a:cs typeface="Barlow" pitchFamily="34" charset="-120"/>
              </a:rPr>
              <a:t>   ·   52% of Y7</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Y7 net revenue of €3.01M, 48% from fans and 52% from the two sponsor streams.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sp>
        <p:nvSpPr>
          <p:cNvPr id="17" name="Text 15"/>
          <p:cNvSpPr txBox="1"/>
          <p:nvPr/>
        </p:nvSpPr>
        <p:spPr>
          <a:xfrm>
            <a:off x="713232" y="4846320"/>
            <a:ext cx="36576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Fourteen demo accounts. Registration is open.</a:t>
            </a:r>
            <a:endParaRPr lang="en-US" sz="1150" dirty="0"/>
          </a:p>
        </p:txBody>
      </p:sp>
      <p:pic>
        <p:nvPicPr>
          <p:cNvPr id="18"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19"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Athlete dashboard,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18"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Campaign result view, captured from the running application. The demo's engagement figures are seeded, and the product labels them simulated on the screen itself.</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A professional already has an agent and would not use this, so nobody is fighting us for a trail runner with 25,000 followers and an inbox of unanswered brand DMs. What we learn there generalises upward. Football does not generalise downward.</a:t>
            </a:r>
            <a:endParaRPr lang="en-US" sz="1450" dirty="0"/>
          </a:p>
        </p:txBody>
      </p:sp>
      <p:sp>
        <p:nvSpPr>
          <p:cNvPr id="17" name="Shape 15"/>
          <p:cNvSpPr/>
          <p:nvPr/>
        </p:nvSpPr>
        <p:spPr>
          <a:xfrm>
            <a:off x="713232" y="5138928"/>
            <a:ext cx="10765231" cy="896112"/>
          </a:xfrm>
          <a:prstGeom prst="roundRect">
            <a:avLst>
              <a:gd name="adj" fmla="val 4082"/>
            </a:avLst>
          </a:prstGeom>
          <a:solidFill>
            <a:srgbClr val="1F242C"/>
          </a:solidFill>
          <a:ln w="9525">
            <a:solidFill>
              <a:srgbClr val="262C35"/>
            </a:solidFill>
            <a:prstDash val="solid"/>
          </a:ln>
        </p:spPr>
      </p:sp>
      <p:sp>
        <p:nvSpPr>
          <p:cNvPr id="18" name="Text 16"/>
          <p:cNvSpPr txBox="1"/>
          <p:nvPr/>
        </p:nvSpPr>
        <p:spPr>
          <a:xfrm>
            <a:off x="987552" y="5340096"/>
            <a:ext cx="274320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WHY THE TWO SIDES FIT</a:t>
            </a:r>
            <a:endParaRPr lang="en-US" sz="1350" dirty="0"/>
          </a:p>
        </p:txBody>
      </p:sp>
      <p:sp>
        <p:nvSpPr>
          <p:cNvPr id="19" name="Text 17"/>
          <p:cNvSpPr txBox="1"/>
          <p:nvPr/>
        </p:nvSpPr>
        <p:spPr>
          <a:xfrm>
            <a:off x="3913632" y="5303520"/>
            <a:ext cx="729051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niche athlete's audience is concentrated where they train and compete. That concentration is worth little to a national advertiser, and it is exactly what the clinic two streets from the club is trying to buy and has no other way of buying. The same choice makes supply cheap and demand local.</a:t>
            </a:r>
            <a:endParaRPr lang="en-US" sz="130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Text 34"/>
          <p:cNvSpPr txBox="1"/>
          <p:nvPr/>
        </p:nvSpPr>
        <p:spPr>
          <a:xfrm>
            <a:off x="713232" y="4389120"/>
            <a:ext cx="10765231" cy="512064"/>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one that got large sells data to agencies and rights holders, and never executes a deal. 355 people is what enterprise sales costs, and it is the reason nobody runs this motion down at a €2,000 sponsorship.</a:t>
            </a:r>
            <a:endParaRPr lang="en-US" sz="1350" dirty="0"/>
          </a:p>
        </p:txBody>
      </p:sp>
      <p:sp>
        <p:nvSpPr>
          <p:cNvPr id="37" name="Shape 35"/>
          <p:cNvSpPr/>
          <p:nvPr/>
        </p:nvSpPr>
        <p:spPr>
          <a:xfrm>
            <a:off x="713232" y="501091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519379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515721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14" name="Text 1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base case. Three scenarios are modelled; the pessimistic case still breaks even in Y5.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9509760" cy="64008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how we differ from the data companies,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the mean of five computed dimensions,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the match is scored on eight weighted components, each one decomposed: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R4</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 funded entrant copies the model</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The defence is scoring history and athlete relationships, which take time nobody can buy</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R5</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Regulatory: DAC7, age assurance, startup law</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Compliance built in rather than retrofitted; reporting is a product feature</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0.64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7407</Words>
  <Application>Microsoft Office PowerPoint</Application>
  <PresentationFormat>Widescreen</PresentationFormat>
  <Paragraphs>539</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Barlow</vt:lpstr>
      <vt:lpstr>Arial</vt:lpstr>
      <vt:lpstr>Barlow Condensed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athlete monetisation built on analytics</dc:title>
  <dc:subject>ESADE MSc Business Plan, final presentation</dc:subject>
  <dc:creator>Jad Zoghaib</dc:creator>
  <cp:lastModifiedBy>Zoghaib, Jad</cp:lastModifiedBy>
  <cp:revision>2</cp:revision>
  <dcterms:created xsi:type="dcterms:W3CDTF">2026-10-11T18:41:14Z</dcterms:created>
  <dcterms:modified xsi:type="dcterms:W3CDTF">2026-10-11T19:45:42Z</dcterms:modified>
</cp:coreProperties>
</file>