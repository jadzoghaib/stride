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20050C95-6CD3-B569-314C-D1085F66DCCA}">
          <p14:sldIdLst>
            <p14:sldId id="256"/>
          </p14:sldIdLst>
        </p14:section>
        <p14:section name="Problem" id="{85014AF7-E8E8-31E6-BAA8-20250BAB93AC}">
          <p14:sldIdLst>
            <p14:sldId id="257"/>
            <p14:sldId id="258"/>
            <p14:sldId id="259"/>
            <p14:sldId id="260"/>
          </p14:sldIdLst>
        </p14:section>
        <p14:section name="Product" id="{9E62D5DB-86E1-D76C-74C8-C9036FBCA3BC}">
          <p14:sldIdLst>
            <p14:sldId id="261"/>
            <p14:sldId id="262"/>
            <p14:sldId id="263"/>
            <p14:sldId id="264"/>
            <p14:sldId id="265"/>
          </p14:sldIdLst>
        </p14:section>
        <p14:section name="Market" id="{6B6E327D-9593-DF2C-E0BC-729E03103B13}">
          <p14:sldIdLst>
            <p14:sldId id="266"/>
            <p14:sldId id="267"/>
            <p14:sldId id="268"/>
          </p14:sldIdLst>
        </p14:section>
        <p14:section name="Model" id="{9CD66308-E522-5547-123F-B18451274A4D}">
          <p14:sldIdLst>
            <p14:sldId id="269"/>
            <p14:sldId id="270"/>
            <p14:sldId id="271"/>
          </p14:sldIdLst>
        </p14:section>
        <p14:section name="Money" id="{3BF0C6AD-B642-72BB-0F52-C9776517F189}">
          <p14:sldIdLst>
            <p14:sldId id="272"/>
            <p14:sldId id="273"/>
            <p14:sldId id="274"/>
          </p14:sldIdLst>
        </p14:section>
        <p14:section name="Backup" id="{1D89A03C-7D10-9B69-8458-A4B30610AA8B}">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8700-404D-9BBC-B1659AF9B719}"/>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8700-404D-9BBC-B1659AF9B719}"/>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8700-404D-9BBC-B1659AF9B719}"/>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0431-46DD-BF92-DA41CC74CF77}"/>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0431-46DD-BF92-DA41CC74CF7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ACB6-4710-841E-7FE0BD976A32}"/>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33502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Neither sport pays him.
I want to be precise, because the easy version of this is a big zero and it would not be true. He gets given things. Gear, product, the odd paid post. What none of it has is a price, a contract, or any reason to arrive a second time.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does your sport actually pay you.
I want to be careful here, because the easy version of this slide is a big zero and it would not be true. They do get things. Gear, product, the occasional paid post, prize money now and then. A national champion is given plenty.
What none of it has is a rate, a contract, or any reason at all to expect it a second time. Nobody is buying anything. They are being given things, and you cannot build a career, or a business, on being given things.
One of the five does have a proper sponsor, and he did not get it as a rugby league player. It arrived some other way, and no part of it came through the sport.
And read the quote, because it is the finding that matters most: they do not build an audience, because there is no return on building one. That is not a complaint about money.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 Neither side is served today.</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EITHER SPORT PAYS HIM</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 rate</a:t>
            </a:r>
            <a:endParaRPr lang="en-US" sz="4600" dirty="0"/>
          </a:p>
        </p:txBody>
      </p:sp>
      <p:sp>
        <p:nvSpPr>
          <p:cNvPr id="16" name="Text 14"/>
          <p:cNvSpPr txBox="1"/>
          <p:nvPr/>
        </p:nvSpPr>
        <p:spPr>
          <a:xfrm>
            <a:off x="7936992" y="3255264"/>
            <a:ext cx="3291840" cy="96012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He is given things. Gear, product, the occasional paid post. None of it carries a price, a contract, or any reason to arrive a second time.</a:t>
            </a:r>
            <a:endParaRPr lang="en-US" sz="1300" dirty="0"/>
          </a:p>
        </p:txBody>
      </p:sp>
      <p:sp>
        <p:nvSpPr>
          <p:cNvPr id="17" name="Shape 15"/>
          <p:cNvSpPr/>
          <p:nvPr/>
        </p:nvSpPr>
        <p:spPr>
          <a:xfrm>
            <a:off x="7936992" y="4315968"/>
            <a:ext cx="3291840" cy="12802"/>
          </a:xfrm>
          <a:prstGeom prst="rect">
            <a:avLst/>
          </a:prstGeom>
          <a:solidFill>
            <a:srgbClr val="262C35"/>
          </a:solidFill>
          <a:ln w="12700">
            <a:solidFill>
              <a:srgbClr val="333333"/>
            </a:solidFill>
            <a:prstDash val="solid"/>
          </a:ln>
        </p:spPr>
      </p:sp>
      <p:sp>
        <p:nvSpPr>
          <p:cNvPr id="18" name="Text 16"/>
          <p:cNvSpPr txBox="1"/>
          <p:nvPr/>
        </p:nvSpPr>
        <p:spPr>
          <a:xfrm>
            <a:off x="7936992" y="4443984"/>
            <a:ext cx="3291840" cy="365760"/>
          </a:xfrm>
          <a:prstGeom prst="rect">
            <a:avLst/>
          </a:prstGeom>
          <a:noFill/>
          <a:ln/>
        </p:spPr>
        <p:txBody>
          <a:bodyPr wrap="square" lIns="0" tIns="0" rIns="0" bIns="0" rtlCol="0" anchor="t"/>
          <a:lstStyle/>
          <a:p>
            <a:pPr marL="0" indent="0">
              <a:lnSpc>
                <a:spcPts val="1800"/>
              </a:lnSpc>
              <a:buNone/>
            </a:pPr>
            <a:r>
              <a:rPr lang="en-US" sz="1300" dirty="0">
                <a:solidFill>
                  <a:srgbClr val="F2F4F7"/>
                </a:solidFill>
                <a:latin typeface="Barlow" pitchFamily="34" charset="0"/>
                <a:ea typeface="Barlow" pitchFamily="34" charset="-122"/>
                <a:cs typeface="Barlow" pitchFamily="34" charset="-120"/>
              </a:rPr>
              <a:t>I started building because of him.</a:t>
            </a:r>
            <a:endParaRPr lang="en-US" sz="1300" dirty="0"/>
          </a:p>
        </p:txBody>
      </p:sp>
      <p:sp>
        <p:nvSpPr>
          <p:cNvPr id="19" name="Shape 17"/>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20" name="Text 18"/>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21" name="Text 19"/>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658368" y="841248"/>
            <a:ext cx="1097280" cy="914400"/>
          </a:xfrm>
          <a:prstGeom prst="rect">
            <a:avLst/>
          </a:prstGeom>
          <a:noFill/>
          <a:ln/>
        </p:spPr>
        <p:txBody>
          <a:bodyPr wrap="square" lIns="0" tIns="0" rIns="0" bIns="0" rtlCol="0" anchor="t"/>
          <a:lstStyle/>
          <a:p>
            <a:pPr marL="0" indent="0">
              <a:buNone/>
            </a:pPr>
            <a:r>
              <a:rPr lang="en-US" sz="8600" dirty="0">
                <a:solidFill>
                  <a:srgbClr val="262C35"/>
                </a:solidFill>
                <a:latin typeface="Barlow Condensed" pitchFamily="34" charset="0"/>
                <a:ea typeface="Barlow Condensed" pitchFamily="34" charset="-122"/>
                <a:cs typeface="Barlow Condensed" pitchFamily="34" charset="-120"/>
              </a:rPr>
              <a:t>“</a:t>
            </a:r>
            <a:endParaRPr lang="en-US" sz="8600" dirty="0"/>
          </a:p>
        </p:txBody>
      </p:sp>
      <p:sp>
        <p:nvSpPr>
          <p:cNvPr id="4" name="Text 2"/>
          <p:cNvSpPr txBox="1"/>
          <p:nvPr/>
        </p:nvSpPr>
        <p:spPr>
          <a:xfrm>
            <a:off x="713232" y="1481328"/>
            <a:ext cx="6583680" cy="1920240"/>
          </a:xfrm>
          <a:prstGeom prst="rect">
            <a:avLst/>
          </a:prstGeom>
          <a:noFill/>
          <a:ln/>
        </p:spPr>
        <p:txBody>
          <a:bodyPr wrap="square" lIns="0" tIns="0" rIns="0" bIns="0" rtlCol="0" anchor="t"/>
          <a:lstStyle/>
          <a:p>
            <a:pPr marL="0" indent="0">
              <a:lnSpc>
                <a:spcPts val="3600"/>
              </a:lnSpc>
              <a:buNone/>
            </a:pPr>
            <a:r>
              <a:rPr lang="en-US" sz="3200" dirty="0">
                <a:solidFill>
                  <a:srgbClr val="F2F4F7"/>
                </a:solidFill>
                <a:latin typeface="Barlow Condensed" pitchFamily="34" charset="0"/>
                <a:ea typeface="Barlow Condensed" pitchFamily="34" charset="-122"/>
                <a:cs typeface="Barlow Condensed" pitchFamily="34" charset="-120"/>
              </a:rPr>
              <a:t>People are not going to spend time setting up social media and building followers purely around their sport if nothing comes back.</a:t>
            </a:r>
            <a:endParaRPr lang="en-US" sz="3200" dirty="0"/>
          </a:p>
        </p:txBody>
      </p:sp>
      <p:sp>
        <p:nvSpPr>
          <p:cNvPr id="5" name="Shape 3"/>
          <p:cNvSpPr/>
          <p:nvPr/>
        </p:nvSpPr>
        <p:spPr>
          <a:xfrm>
            <a:off x="713232" y="35112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675888"/>
            <a:ext cx="640080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One of the five. Rugby league players competing in Spain and Lebanon, and top-ranked Lebanese CrossFit athletes. The founder is capped by the Lebanese national rugby team, which is how this access exists.</a:t>
            </a:r>
            <a:endParaRPr lang="en-US" sz="1250" dirty="0"/>
          </a:p>
        </p:txBody>
      </p:sp>
      <p:sp>
        <p:nvSpPr>
          <p:cNvPr id="7" name="Shape 5"/>
          <p:cNvSpPr/>
          <p:nvPr/>
        </p:nvSpPr>
        <p:spPr>
          <a:xfrm>
            <a:off x="7589520" y="1188720"/>
            <a:ext cx="3888943" cy="3108960"/>
          </a:xfrm>
          <a:prstGeom prst="roundRect">
            <a:avLst>
              <a:gd name="adj" fmla="val 1176"/>
            </a:avLst>
          </a:prstGeom>
          <a:solidFill>
            <a:srgbClr val="171A20"/>
          </a:solidFill>
          <a:ln w="9525">
            <a:solidFill>
              <a:srgbClr val="262C35"/>
            </a:solidFill>
            <a:prstDash val="solid"/>
          </a:ln>
        </p:spPr>
      </p:sp>
      <p:sp>
        <p:nvSpPr>
          <p:cNvPr id="8" name="Text 6"/>
          <p:cNvSpPr txBox="1"/>
          <p:nvPr/>
        </p:nvSpPr>
        <p:spPr>
          <a:xfrm>
            <a:off x="7845552" y="1389888"/>
            <a:ext cx="338328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THEY DO GET</a:t>
            </a:r>
            <a:endParaRPr lang="en-US" sz="1200" dirty="0"/>
          </a:p>
        </p:txBody>
      </p:sp>
      <p:sp>
        <p:nvSpPr>
          <p:cNvPr id="9" name="Shape 7"/>
          <p:cNvSpPr/>
          <p:nvPr/>
        </p:nvSpPr>
        <p:spPr>
          <a:xfrm>
            <a:off x="7845552" y="1851660"/>
            <a:ext cx="128016" cy="27432"/>
          </a:xfrm>
          <a:prstGeom prst="rect">
            <a:avLst/>
          </a:prstGeom>
          <a:solidFill>
            <a:srgbClr val="FFB020"/>
          </a:solidFill>
          <a:ln w="12700">
            <a:solidFill>
              <a:srgbClr val="333333"/>
            </a:solidFill>
            <a:prstDash val="solid"/>
          </a:ln>
        </p:spPr>
      </p:sp>
      <p:sp>
        <p:nvSpPr>
          <p:cNvPr id="10" name="Text 8"/>
          <p:cNvSpPr txBox="1"/>
          <p:nvPr/>
        </p:nvSpPr>
        <p:spPr>
          <a:xfrm>
            <a:off x="8119872" y="175564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Gear and product</a:t>
            </a:r>
            <a:endParaRPr lang="en-US" sz="1350" dirty="0"/>
          </a:p>
        </p:txBody>
      </p:sp>
      <p:sp>
        <p:nvSpPr>
          <p:cNvPr id="11" name="Shape 9"/>
          <p:cNvSpPr/>
          <p:nvPr/>
        </p:nvSpPr>
        <p:spPr>
          <a:xfrm>
            <a:off x="7845552" y="2217420"/>
            <a:ext cx="128016" cy="27432"/>
          </a:xfrm>
          <a:prstGeom prst="rect">
            <a:avLst/>
          </a:prstGeom>
          <a:solidFill>
            <a:srgbClr val="FFB020"/>
          </a:solidFill>
          <a:ln w="12700">
            <a:solidFill>
              <a:srgbClr val="333333"/>
            </a:solidFill>
            <a:prstDash val="solid"/>
          </a:ln>
        </p:spPr>
      </p:sp>
      <p:sp>
        <p:nvSpPr>
          <p:cNvPr id="12" name="Text 10"/>
          <p:cNvSpPr txBox="1"/>
          <p:nvPr/>
        </p:nvSpPr>
        <p:spPr>
          <a:xfrm>
            <a:off x="8119872" y="212140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The occasional paid post</a:t>
            </a:r>
            <a:endParaRPr lang="en-US" sz="1350" dirty="0"/>
          </a:p>
        </p:txBody>
      </p:sp>
      <p:sp>
        <p:nvSpPr>
          <p:cNvPr id="13" name="Shape 11"/>
          <p:cNvSpPr/>
          <p:nvPr/>
        </p:nvSpPr>
        <p:spPr>
          <a:xfrm>
            <a:off x="7845552" y="2583180"/>
            <a:ext cx="128016" cy="27432"/>
          </a:xfrm>
          <a:prstGeom prst="rect">
            <a:avLst/>
          </a:prstGeom>
          <a:solidFill>
            <a:srgbClr val="FFB020"/>
          </a:solidFill>
          <a:ln w="12700">
            <a:solidFill>
              <a:srgbClr val="333333"/>
            </a:solidFill>
            <a:prstDash val="solid"/>
          </a:ln>
        </p:spPr>
      </p:sp>
      <p:sp>
        <p:nvSpPr>
          <p:cNvPr id="14" name="Text 12"/>
          <p:cNvSpPr txBox="1"/>
          <p:nvPr/>
        </p:nvSpPr>
        <p:spPr>
          <a:xfrm>
            <a:off x="8119872" y="2487168"/>
            <a:ext cx="3108960" cy="292608"/>
          </a:xfrm>
          <a:prstGeom prst="rect">
            <a:avLst/>
          </a:prstGeom>
          <a:noFill/>
          <a:ln/>
        </p:spPr>
        <p:txBody>
          <a:bodyPr wrap="square" lIns="0" tIns="0" rIns="0" bIns="0" rtlCol="0" anchor="t"/>
          <a:lstStyle/>
          <a:p>
            <a:pPr marL="0" indent="0">
              <a:lnSpc>
                <a:spcPts val="2200"/>
              </a:lnSpc>
              <a:buNone/>
            </a:pPr>
            <a:r>
              <a:rPr lang="en-US" sz="1350" dirty="0">
                <a:solidFill>
                  <a:srgbClr val="F2F4F7"/>
                </a:solidFill>
                <a:latin typeface="Barlow" pitchFamily="34" charset="0"/>
                <a:ea typeface="Barlow" pitchFamily="34" charset="-122"/>
                <a:cs typeface="Barlow" pitchFamily="34" charset="-120"/>
              </a:rPr>
              <a:t>Prize money, sometimes</a:t>
            </a:r>
            <a:endParaRPr lang="en-US" sz="1350" dirty="0"/>
          </a:p>
        </p:txBody>
      </p:sp>
      <p:sp>
        <p:nvSpPr>
          <p:cNvPr id="15" name="Shape 13"/>
          <p:cNvSpPr/>
          <p:nvPr/>
        </p:nvSpPr>
        <p:spPr>
          <a:xfrm>
            <a:off x="7845552" y="2980944"/>
            <a:ext cx="3383280" cy="12802"/>
          </a:xfrm>
          <a:prstGeom prst="rect">
            <a:avLst/>
          </a:prstGeom>
          <a:solidFill>
            <a:srgbClr val="262C35"/>
          </a:solidFill>
          <a:ln w="12700">
            <a:solidFill>
              <a:srgbClr val="333333"/>
            </a:solidFill>
            <a:prstDash val="solid"/>
          </a:ln>
        </p:spPr>
      </p:sp>
      <p:sp>
        <p:nvSpPr>
          <p:cNvPr id="16" name="Text 14"/>
          <p:cNvSpPr txBox="1"/>
          <p:nvPr/>
        </p:nvSpPr>
        <p:spPr>
          <a:xfrm>
            <a:off x="7845552" y="3145536"/>
            <a:ext cx="3383280" cy="9144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Real value, and not one euro of it carrying a rate, a contract, or any reason to expect it a second time. One of the five does have a sponsor, and it did not come through his sport.</a:t>
            </a:r>
            <a:endParaRPr lang="en-US" sz="1250" dirty="0"/>
          </a:p>
        </p:txBody>
      </p:sp>
      <p:sp>
        <p:nvSpPr>
          <p:cNvPr id="17" name="Text 15"/>
          <p:cNvSpPr txBox="1"/>
          <p:nvPr/>
        </p:nvSpPr>
        <p:spPr>
          <a:xfrm>
            <a:off x="713232" y="4553712"/>
            <a:ext cx="10765231" cy="457200"/>
          </a:xfrm>
          <a:prstGeom prst="rect">
            <a:avLst/>
          </a:prstGeom>
          <a:noFill/>
          <a:ln/>
        </p:spPr>
        <p:txBody>
          <a:bodyPr wrap="square" lIns="0" tIns="0" rIns="0" bIns="0" rtlCol="0" anchor="t"/>
          <a:lstStyle/>
          <a:p>
            <a:pPr marL="0" indent="0">
              <a:lnSpc>
                <a:spcPts val="3000"/>
              </a:lnSpc>
              <a:buNone/>
            </a:pPr>
            <a:r>
              <a:rPr lang="en-US" sz="2600" dirty="0">
                <a:solidFill>
                  <a:srgbClr val="FFB020"/>
                </a:solidFill>
                <a:latin typeface="Barlow Condensed" pitchFamily="34" charset="0"/>
                <a:ea typeface="Barlow Condensed" pitchFamily="34" charset="-122"/>
                <a:cs typeface="Barlow Condensed" pitchFamily="34" charset="-120"/>
              </a:rPr>
              <a:t>A champion gets given things. Nobody is buying anything.</a:t>
            </a:r>
            <a:endParaRPr lang="en-US" sz="2600" dirty="0"/>
          </a:p>
        </p:txBody>
      </p:sp>
      <p:sp>
        <p:nvSpPr>
          <p:cNvPr id="18" name="Shape 16"/>
          <p:cNvSpPr/>
          <p:nvPr/>
        </p:nvSpPr>
        <p:spPr>
          <a:xfrm>
            <a:off x="713232" y="5248656"/>
            <a:ext cx="5245456" cy="12802"/>
          </a:xfrm>
          <a:prstGeom prst="rect">
            <a:avLst/>
          </a:prstGeom>
          <a:solidFill>
            <a:srgbClr val="262C35"/>
          </a:solidFill>
          <a:ln w="12700">
            <a:solidFill>
              <a:srgbClr val="333333"/>
            </a:solidFill>
            <a:prstDash val="solid"/>
          </a:ln>
        </p:spPr>
      </p:sp>
      <p:sp>
        <p:nvSpPr>
          <p:cNvPr id="19" name="Text 17"/>
          <p:cNvSpPr txBox="1"/>
          <p:nvPr/>
        </p:nvSpPr>
        <p:spPr>
          <a:xfrm>
            <a:off x="713232"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20" name="Text 18"/>
          <p:cNvSpPr txBox="1"/>
          <p:nvPr/>
        </p:nvSpPr>
        <p:spPr>
          <a:xfrm>
            <a:off x="713232"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21" name="Shape 19"/>
          <p:cNvSpPr/>
          <p:nvPr/>
        </p:nvSpPr>
        <p:spPr>
          <a:xfrm>
            <a:off x="6233008" y="5248656"/>
            <a:ext cx="5245456" cy="12802"/>
          </a:xfrm>
          <a:prstGeom prst="rect">
            <a:avLst/>
          </a:prstGeom>
          <a:solidFill>
            <a:srgbClr val="262C35"/>
          </a:solidFill>
          <a:ln w="12700">
            <a:solidFill>
              <a:srgbClr val="333333"/>
            </a:solidFill>
            <a:prstDash val="solid"/>
          </a:ln>
        </p:spPr>
      </p:sp>
      <p:sp>
        <p:nvSpPr>
          <p:cNvPr id="22" name="Text 20"/>
          <p:cNvSpPr txBox="1"/>
          <p:nvPr/>
        </p:nvSpPr>
        <p:spPr>
          <a:xfrm>
            <a:off x="6233008" y="5376672"/>
            <a:ext cx="5245456"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23" name="Text 21"/>
          <p:cNvSpPr txBox="1"/>
          <p:nvPr/>
        </p:nvSpPr>
        <p:spPr>
          <a:xfrm>
            <a:off x="6233008" y="5614416"/>
            <a:ext cx="5245456"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4" name="Text 2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7454</Words>
  <Application>Microsoft Office PowerPoint</Application>
  <PresentationFormat>Widescreen</PresentationFormat>
  <Paragraphs>540</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vt:lpstr>
      <vt:lpstr>Barlow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2026-10-11T20:12:28Z</dcterms:created>
  <dcterms:modified xsi:type="dcterms:W3CDTF">2026-10-11T20:13:10Z</dcterms:modified>
</cp:coreProperties>
</file>