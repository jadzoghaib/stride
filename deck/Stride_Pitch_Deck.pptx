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rts/chart2.xml" ContentType="application/vnd.openxmlformats-officedocument.drawingml.chart+xml"/>
  <Override PartName="/ppt/notesSlides/notesSlide16.xml" ContentType="application/vnd.openxmlformats-officedocument.presentationml.notesSlide+xml"/>
  <Override PartName="/ppt/charts/chart3.xml" ContentType="application/vnd.openxmlformats-officedocument.drawingml.chart+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12192000" cy="6858000"/>
  <p:notesSz cx="6858000" cy="12192000"/>
  <p:embeddedFontLst>
    <p:embeddedFont>
      <p:font typeface="Barlow" panose="00000500000000000000" pitchFamily="2" charset="0"/>
      <p:regular r:id="rId26"/>
    </p:embeddedFont>
    <p:embeddedFont>
      <p:font typeface="Barlow Condensed" panose="00000806000000000000" pitchFamily="2" charset="0"/>
      <p:bold r:id="rId27"/>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D360C2DB-6458-6625-50CC-3D27E4973061}">
          <p14:sldIdLst>
            <p14:sldId id="256"/>
          </p14:sldIdLst>
        </p14:section>
        <p14:section name="Problem" id="{63526B05-061C-3940-1D59-341E5A1432F8}">
          <p14:sldIdLst>
            <p14:sldId id="257"/>
            <p14:sldId id="258"/>
            <p14:sldId id="259"/>
          </p14:sldIdLst>
        </p14:section>
        <p14:section name="Product" id="{ECBC2CA6-39E0-C102-E250-E3A1EDAE5744}">
          <p14:sldIdLst>
            <p14:sldId id="260"/>
            <p14:sldId id="261"/>
            <p14:sldId id="262"/>
            <p14:sldId id="263"/>
          </p14:sldIdLst>
        </p14:section>
        <p14:section name="Market" id="{C46056B0-65F2-C556-DE73-38E726440D88}">
          <p14:sldIdLst>
            <p14:sldId id="264"/>
            <p14:sldId id="265"/>
            <p14:sldId id="266"/>
          </p14:sldIdLst>
        </p14:section>
        <p14:section name="Model" id="{7CC0FDF2-4675-0A30-8298-F96DB8A17FF7}">
          <p14:sldIdLst>
            <p14:sldId id="267"/>
            <p14:sldId id="268"/>
            <p14:sldId id="269"/>
          </p14:sldIdLst>
        </p14:section>
        <p14:section name="Money" id="{E41DF97B-29B4-D049-3377-423BCF8FF785}">
          <p14:sldIdLst>
            <p14:sldId id="270"/>
            <p14:sldId id="271"/>
            <p14:sldId id="272"/>
          </p14:sldIdLst>
        </p14:section>
        <p14:section name="Backup" id="{BB56E35F-D3CF-80AB-F87F-897E5D9B58E1}">
          <p14:sldIdLst>
            <p14:sldId id="273"/>
            <p14:sldId id="274"/>
            <p14:sldId id="275"/>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1.fntdata"/><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2.fntdata"/><Relationship Id="rId30"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Fan subscriptions</c:v>
                </c:pt>
              </c:strCache>
            </c:strRef>
          </c:tx>
          <c:spPr>
            <a:solidFill>
              <a:srgbClr val="FFB020"/>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Sheet1!$B$2:$B$8</c:f>
              <c:numCache>
                <c:formatCode>General</c:formatCode>
                <c:ptCount val="7"/>
                <c:pt idx="0">
                  <c:v>0</c:v>
                </c:pt>
                <c:pt idx="1">
                  <c:v>5.0999999999999997E-2</c:v>
                </c:pt>
                <c:pt idx="2">
                  <c:v>0.184</c:v>
                </c:pt>
                <c:pt idx="3">
                  <c:v>0.39600000000000002</c:v>
                </c:pt>
                <c:pt idx="4">
                  <c:v>0.68400000000000005</c:v>
                </c:pt>
                <c:pt idx="5">
                  <c:v>1.034</c:v>
                </c:pt>
                <c:pt idx="6">
                  <c:v>1.4359999999999999</c:v>
                </c:pt>
              </c:numCache>
            </c:numRef>
          </c:val>
          <c:extLst>
            <c:ext xmlns:c16="http://schemas.microsoft.com/office/drawing/2014/chart" uri="{C3380CC4-5D6E-409C-BE32-E72D297353CC}">
              <c16:uniqueId val="{00000000-C3B8-48BC-8900-7DF2AB3B710A}"/>
            </c:ext>
          </c:extLst>
        </c:ser>
        <c:ser>
          <c:idx val="1"/>
          <c:order val="1"/>
          <c:tx>
            <c:strRef>
              <c:f>Sheet1!$C$1</c:f>
              <c:strCache>
                <c:ptCount val="1"/>
                <c:pt idx="0">
                  <c:v>Sponsorship commission</c:v>
                </c:pt>
              </c:strCache>
            </c:strRef>
          </c:tx>
          <c:spPr>
            <a:solidFill>
              <a:srgbClr val="3B86E0"/>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Sheet1!$C$2:$C$8</c:f>
              <c:numCache>
                <c:formatCode>General</c:formatCode>
                <c:ptCount val="7"/>
                <c:pt idx="0">
                  <c:v>2E-3</c:v>
                </c:pt>
                <c:pt idx="1">
                  <c:v>8.9999999999999993E-3</c:v>
                </c:pt>
                <c:pt idx="2">
                  <c:v>4.5999999999999999E-2</c:v>
                </c:pt>
                <c:pt idx="3">
                  <c:v>0.14899999999999999</c:v>
                </c:pt>
                <c:pt idx="4">
                  <c:v>0.34599999999999997</c:v>
                </c:pt>
                <c:pt idx="5">
                  <c:v>0.64900000000000002</c:v>
                </c:pt>
                <c:pt idx="6">
                  <c:v>0.98199999999999998</c:v>
                </c:pt>
              </c:numCache>
            </c:numRef>
          </c:val>
          <c:extLst>
            <c:ext xmlns:c16="http://schemas.microsoft.com/office/drawing/2014/chart" uri="{C3380CC4-5D6E-409C-BE32-E72D297353CC}">
              <c16:uniqueId val="{00000001-C3B8-48BC-8900-7DF2AB3B710A}"/>
            </c:ext>
          </c:extLst>
        </c:ser>
        <c:ser>
          <c:idx val="2"/>
          <c:order val="2"/>
          <c:tx>
            <c:strRef>
              <c:f>Sheet1!$D$1</c:f>
              <c:strCache>
                <c:ptCount val="1"/>
                <c:pt idx="0">
                  <c:v>Sponsor SaaS</c:v>
                </c:pt>
              </c:strCache>
            </c:strRef>
          </c:tx>
          <c:spPr>
            <a:solidFill>
              <a:srgbClr val="A884E8"/>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Sheet1!$D$2:$D$8</c:f>
              <c:numCache>
                <c:formatCode>General</c:formatCode>
                <c:ptCount val="7"/>
                <c:pt idx="0">
                  <c:v>1E-3</c:v>
                </c:pt>
                <c:pt idx="1">
                  <c:v>8.0000000000000002E-3</c:v>
                </c:pt>
                <c:pt idx="2">
                  <c:v>5.6000000000000001E-2</c:v>
                </c:pt>
                <c:pt idx="3">
                  <c:v>0.159</c:v>
                </c:pt>
                <c:pt idx="4">
                  <c:v>0.29199999999999998</c:v>
                </c:pt>
                <c:pt idx="5">
                  <c:v>0.441</c:v>
                </c:pt>
                <c:pt idx="6">
                  <c:v>0.59499999999999997</c:v>
                </c:pt>
              </c:numCache>
            </c:numRef>
          </c:val>
          <c:extLst>
            <c:ext xmlns:c16="http://schemas.microsoft.com/office/drawing/2014/chart" uri="{C3380CC4-5D6E-409C-BE32-E72D297353CC}">
              <c16:uniqueId val="{00000002-C3B8-48BC-8900-7DF2AB3B710A}"/>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2"/>
        <c:crosses val="autoZero"/>
        <c:auto val="1"/>
        <c:lblAlgn val="ctr"/>
        <c:lblOffset val="100"/>
        <c:noMultiLvlLbl val="1"/>
      </c:catAx>
      <c:valAx>
        <c:axId val="2094734552"/>
        <c:scaling>
          <c:orientation val="minMax"/>
          <c:max val="3.2"/>
          <c:min val="0"/>
        </c:scaling>
        <c:delete val="0"/>
        <c:axPos val="l"/>
        <c:majorGridlines>
          <c:spPr>
            <a:ln w="9525" cap="flat">
              <a:solidFill>
                <a:srgbClr val="262C35"/>
              </a:solidFill>
              <a:prstDash val="solid"/>
              <a:round/>
            </a:ln>
          </c:spPr>
        </c:majorGridlines>
        <c:numFmt formatCode="&quot;€&quot;0.0&quot;M&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4"/>
        <c:crosses val="autoZero"/>
        <c:crossBetween val="between"/>
      </c:valAx>
      <c:spPr>
        <a:solidFill>
          <a:srgbClr val="101216"/>
        </a:solidFill>
        <a:ln w="12700" cap="flat">
          <a:solidFill>
            <a:srgbClr val="101216"/>
          </a:solidFill>
        </a:ln>
        <a:effectLst/>
      </c:spPr>
    </c:plotArea>
    <c:legend>
      <c:legendPos val="b"/>
      <c:overlay val="0"/>
      <c:txPr>
        <a:bodyPr/>
        <a:lstStyle/>
        <a:p>
          <a:pPr>
            <a:defRPr sz="1100">
              <a:solidFill>
                <a:srgbClr val="828C9A"/>
              </a:solidFill>
              <a:latin typeface="Barlow"/>
              <a:cs typeface="Barlow"/>
            </a:defRPr>
          </a:pPr>
          <a:endParaRPr lang="en-US"/>
        </a:p>
      </c:txPr>
    </c:legend>
    <c:plotVisOnly val="1"/>
    <c:dispBlanksAs val="span"/>
    <c:showDLblsOverMax val="1"/>
  </c:chart>
  <c:spPr>
    <a:solidFill>
      <a:srgbClr val="101216"/>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Net revenue</c:v>
                </c:pt>
              </c:strCache>
            </c:strRef>
          </c:tx>
          <c:spPr>
            <a:solidFill>
              <a:srgbClr val="262C35"/>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Sheet1!$B$2:$B$8</c:f>
              <c:numCache>
                <c:formatCode>General</c:formatCode>
                <c:ptCount val="7"/>
                <c:pt idx="0">
                  <c:v>2E-3</c:v>
                </c:pt>
                <c:pt idx="1">
                  <c:v>6.8000000000000005E-2</c:v>
                </c:pt>
                <c:pt idx="2">
                  <c:v>0.28699999999999998</c:v>
                </c:pt>
                <c:pt idx="3">
                  <c:v>0.70399999999999996</c:v>
                </c:pt>
                <c:pt idx="4">
                  <c:v>1.321</c:v>
                </c:pt>
                <c:pt idx="5">
                  <c:v>2.1240000000000001</c:v>
                </c:pt>
                <c:pt idx="6">
                  <c:v>3.0129999999999999</c:v>
                </c:pt>
              </c:numCache>
            </c:numRef>
          </c:val>
          <c:extLst>
            <c:ext xmlns:c16="http://schemas.microsoft.com/office/drawing/2014/chart" uri="{C3380CC4-5D6E-409C-BE32-E72D297353CC}">
              <c16:uniqueId val="{00000000-00A2-4803-8951-EA94A88CAAC4}"/>
            </c:ext>
          </c:extLst>
        </c:ser>
        <c:dLbls>
          <c:showLegendKey val="0"/>
          <c:showVal val="0"/>
          <c:showCatName val="0"/>
          <c:showSerName val="0"/>
          <c:showPercent val="0"/>
          <c:showBubbleSize val="0"/>
        </c:dLbls>
        <c:gapWidth val="55"/>
        <c:axId val="2094734554"/>
        <c:axId val="2094734552"/>
      </c:barChart>
      <c:lineChart>
        <c:grouping val="standard"/>
        <c:varyColors val="0"/>
        <c:ser>
          <c:idx val="1"/>
          <c:order val="1"/>
          <c:tx>
            <c:strRef>
              <c:f>Sheet1!$C$1</c:f>
              <c:strCache>
                <c:ptCount val="1"/>
                <c:pt idx="0">
                  <c:v>EBITDA</c:v>
                </c:pt>
              </c:strCache>
            </c:strRef>
          </c:tx>
          <c:spPr>
            <a:ln w="38100" cap="flat">
              <a:solidFill>
                <a:srgbClr val="FFB020"/>
              </a:solidFill>
              <a:prstDash val="solid"/>
              <a:round/>
            </a:ln>
            <a:effectLst/>
          </c:spPr>
          <c:marker>
            <c:symbol val="circle"/>
            <c:size val="7"/>
            <c:spPr>
              <a:solidFill>
                <a:srgbClr val="FFB020"/>
              </a:solidFill>
              <a:ln w="9525" cap="flat">
                <a:solidFill>
                  <a:srgbClr val="FFB020"/>
                </a:solidFill>
                <a:prstDash val="solid"/>
                <a:round/>
              </a:ln>
              <a:effectLst/>
            </c:spPr>
          </c:marker>
          <c:cat>
            <c:strRef>
              <c:f>Sheet1!$A$2:$A$8</c:f>
              <c:strCache>
                <c:ptCount val="7"/>
                <c:pt idx="0">
                  <c:v>Y1</c:v>
                </c:pt>
                <c:pt idx="1">
                  <c:v>Y2</c:v>
                </c:pt>
                <c:pt idx="2">
                  <c:v>Y3</c:v>
                </c:pt>
                <c:pt idx="3">
                  <c:v>Y4</c:v>
                </c:pt>
                <c:pt idx="4">
                  <c:v>Y5</c:v>
                </c:pt>
                <c:pt idx="5">
                  <c:v>Y6</c:v>
                </c:pt>
                <c:pt idx="6">
                  <c:v>Y7</c:v>
                </c:pt>
              </c:strCache>
            </c:strRef>
          </c:cat>
          <c:val>
            <c:numRef>
              <c:f>Sheet1!$C$2:$C$8</c:f>
              <c:numCache>
                <c:formatCode>General</c:formatCode>
                <c:ptCount val="7"/>
                <c:pt idx="0">
                  <c:v>-0.111</c:v>
                </c:pt>
                <c:pt idx="1">
                  <c:v>-0.14199999999999999</c:v>
                </c:pt>
                <c:pt idx="2">
                  <c:v>-7.1999999999999995E-2</c:v>
                </c:pt>
                <c:pt idx="3">
                  <c:v>0.04</c:v>
                </c:pt>
                <c:pt idx="4">
                  <c:v>0.17299999999999999</c:v>
                </c:pt>
                <c:pt idx="5">
                  <c:v>0.39300000000000002</c:v>
                </c:pt>
                <c:pt idx="6">
                  <c:v>0.74299999999999999</c:v>
                </c:pt>
              </c:numCache>
            </c:numRef>
          </c:val>
          <c:smooth val="0"/>
          <c:extLst>
            <c:ext xmlns:c16="http://schemas.microsoft.com/office/drawing/2014/chart" uri="{C3380CC4-5D6E-409C-BE32-E72D297353CC}">
              <c16:uniqueId val="{00000001-00A2-4803-8951-EA94A88CAAC4}"/>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9525" cap="flat">
              <a:solidFill>
                <a:srgbClr val="262C35"/>
              </a:solidFill>
              <a:prstDash val="solid"/>
              <a:round/>
            </a:ln>
          </c:spPr>
        </c:majorGridlines>
        <c:numFmt formatCode="&quot;€&quot;0.0&quot;M&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4"/>
        <c:crosses val="autoZero"/>
        <c:crossBetween val="between"/>
      </c:valAx>
      <c:spPr>
        <a:solidFill>
          <a:srgbClr val="101216"/>
        </a:solidFill>
        <a:ln w="12700" cap="flat">
          <a:solidFill>
            <a:srgbClr val="101216"/>
          </a:solidFill>
        </a:ln>
        <a:effectLst/>
      </c:spPr>
    </c:plotArea>
    <c:legend>
      <c:legendPos val="b"/>
      <c:overlay val="0"/>
      <c:txPr>
        <a:bodyPr/>
        <a:lstStyle/>
        <a:p>
          <a:pPr>
            <a:defRPr sz="1100">
              <a:solidFill>
                <a:srgbClr val="828C9A"/>
              </a:solidFill>
              <a:latin typeface="Barlow"/>
              <a:cs typeface="Barlow"/>
            </a:defRPr>
          </a:pPr>
          <a:endParaRPr lang="en-US"/>
        </a:p>
      </c:txPr>
    </c:legend>
    <c:plotVisOnly val="1"/>
    <c:dispBlanksAs val="span"/>
    <c:showDLblsOverMax val="1"/>
  </c:chart>
  <c:spPr>
    <a:solidFill>
      <a:srgbClr val="101216"/>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Cumulative cash before raises</c:v>
                </c:pt>
              </c:strCache>
            </c:strRef>
          </c:tx>
          <c:spPr>
            <a:ln w="38100" cap="flat">
              <a:solidFill>
                <a:srgbClr val="FFB020"/>
              </a:solidFill>
              <a:prstDash val="solid"/>
              <a:round/>
            </a:ln>
            <a:effectLst/>
          </c:spPr>
          <c:marker>
            <c:symbol val="circle"/>
            <c:size val="7"/>
            <c:spPr>
              <a:solidFill>
                <a:srgbClr val="FFB020"/>
              </a:solidFill>
              <a:ln w="9525" cap="flat">
                <a:solidFill>
                  <a:srgbClr val="FFB020"/>
                </a:solidFill>
                <a:prstDash val="solid"/>
                <a:round/>
              </a:ln>
              <a:effectLst/>
            </c:spPr>
          </c:marker>
          <c:cat>
            <c:strRef>
              <c:f>Sheet1!$A$2:$A$8</c:f>
              <c:strCache>
                <c:ptCount val="7"/>
                <c:pt idx="0">
                  <c:v>Y1</c:v>
                </c:pt>
                <c:pt idx="1">
                  <c:v>Y2</c:v>
                </c:pt>
                <c:pt idx="2">
                  <c:v>Y3</c:v>
                </c:pt>
                <c:pt idx="3">
                  <c:v>Y4</c:v>
                </c:pt>
                <c:pt idx="4">
                  <c:v>Y5</c:v>
                </c:pt>
                <c:pt idx="5">
                  <c:v>Y6</c:v>
                </c:pt>
                <c:pt idx="6">
                  <c:v>Y7</c:v>
                </c:pt>
              </c:strCache>
            </c:strRef>
          </c:cat>
          <c:val>
            <c:numRef>
              <c:f>Sheet1!$B$2:$B$8</c:f>
              <c:numCache>
                <c:formatCode>General</c:formatCode>
                <c:ptCount val="7"/>
                <c:pt idx="0">
                  <c:v>-0.113</c:v>
                </c:pt>
                <c:pt idx="1">
                  <c:v>-0.254</c:v>
                </c:pt>
                <c:pt idx="2">
                  <c:v>-0.29599999999999999</c:v>
                </c:pt>
                <c:pt idx="3">
                  <c:v>-0.186</c:v>
                </c:pt>
                <c:pt idx="4">
                  <c:v>0.08</c:v>
                </c:pt>
                <c:pt idx="5">
                  <c:v>0.55200000000000005</c:v>
                </c:pt>
                <c:pt idx="6">
                  <c:v>1.25</c:v>
                </c:pt>
              </c:numCache>
            </c:numRef>
          </c:val>
          <c:smooth val="0"/>
          <c:extLst>
            <c:ext xmlns:c16="http://schemas.microsoft.com/office/drawing/2014/chart" uri="{C3380CC4-5D6E-409C-BE32-E72D297353CC}">
              <c16:uniqueId val="{00000000-1929-41A8-A947-370FEDE873E5}"/>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9525" cap="flat">
              <a:solidFill>
                <a:srgbClr val="262C35"/>
              </a:solidFill>
              <a:prstDash val="solid"/>
              <a:round/>
            </a:ln>
          </c:spPr>
        </c:majorGridlines>
        <c:numFmt formatCode="&quot;€&quot;0.0&quot;M&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4"/>
        <c:crosses val="autoZero"/>
        <c:crossBetween val="between"/>
      </c:valAx>
      <c:spPr>
        <a:solidFill>
          <a:srgbClr val="0A0C0F"/>
        </a:solidFill>
        <a:ln w="12700" cap="flat">
          <a:solidFill>
            <a:srgbClr val="0A0C0F"/>
          </a:solidFill>
        </a:ln>
        <a:effectLst/>
      </c:spPr>
    </c:plotArea>
    <c:plotVisOnly val="1"/>
    <c:dispBlanksAs val="span"/>
    <c:showDLblsOverMax val="1"/>
  </c:chart>
  <c:spPr>
    <a:solidFill>
      <a:srgbClr val="0A0C0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386782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 am Jad Zoghaib and this is Stride.
One sentence for the whole plan: athletes are creators with a second payer. OnlyFans proved direct fan monetisation beats ad share. Nobody has built it for athletes, who unlike lifestyle creators also have sponsors, clubs and a competitive record that makes their audience measurable.
Everything I show you is live at that URL, and I am happy to open it in the Q&amp;A.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on why I am the person telling you this.
I am capped by the Lebanese national rugby team. The athletes I interviewed are people I play with, so I am inside the segment this plan describes, not studying it from outside.
Four years of consulting gave me the modelling. The MSc and the build gave me the product. Everything in the demo is my own code.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asked five athletes in my own sports what they earn from their audience.
The answer was not 'a little'. It was zero. Nothing.
And read the quote carefully, because it is the finding that matters most: they do not build an audience, because there is no return on building one. That is not a complaint about pricing. It is a market with no infrastructure in it.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this happen? Because the intermediation layer that converts audience into income was never built below the professional tier.
In football an agent takes 10 to 20 per cent. Expensive, but it exists. In trail running or rugby league there is no agent at all.
And the absence compounds: no route to income, so no reason to build an audience, so the market counts smaller than it really is. That means every number I am about to show you is the conservative reading.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Stride. A creator platform with a sponsorship feature.
Three customers. The athlete is the constraint and pays nothing. The fan pays for access, and we take 15 per cent. The sponsor pays for attention, and we take 10.
The flat take with no athlete fee is deliberate: the athlete earning 200 euros a month pays the same rate as the one earning 5,000. A subscription fee would have been regressive.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most business plans cannot show you.
It is not a mockup and not a prototype. It is deployed, and the URL is on the slide. Fourteen demo accounts, registration open, you can sign in during the questions if you want to.
What you are looking at is an athlete's marketability score, 72, decomposed into the five dimensions that produced it, with the connected platforms and the live offers underneath. Every number on that screen traces back to a platform sync.</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Apply, score, match, deal.
I will not go through the arithmetic now, it is in appendix I and I am happy to take it in questions. The one thing worth your attention is the rule at the bottom.
Nothing self-verifies. Every other platform in this space lets supply assert its own numbers. Ours cannot. That is precisely what the sponsor is paying for, and it is why the admission gate is the product rather than a feature of it.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interviewed an expert with eleven years inside Olympic broadcasting.
I pitched him a product for the IOC, Olympic athletes only. He rejected it and told me to open registration to everyone but filter who gets in.
The admission gate you just saw exists because of that sentence. I want to be precise about this: the research changed the product, it did not decorate it. And it settled where we enter the market, because the IOC's athletes are already represented and already monetised.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Market, bottom up, because top down does not work here.
European sport sponsorship is 24.8 billion euros and Spain is the fastest growing major market at plus 14 per cent. But none of that breaks below the professional tier, so I refuse to divide it by a number and call it my market.
Instead: 138,000 niche-sport athletes in Europe with over 5,000 followers. 55,000 in the six markets we would enter. We target 6,300 by year seven, which is 11 per cent of the serviceable market. That is deliberately modest.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niche sports first, and this is the strategic heart of the plan.
A niche athlete costs 16 euros to acquire against 40 for a popular one, and by year seven 48 per cent of them monetise against 30 per cent.
Cheaper, and more of them earn. And nobody is competing for them, because there is no agent there to compete with. What we learn in niche sports generalises upward into bigger ones. Starting in football and working down does not work, because in football we would be the fifth option.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straight with you about the comparables, because they are not flattering.
Four companies have built in this space. The two doing exactly what we do are small after more than a decade. Sponsoo has thirteen people after eleven years and its total equity is zero, which means accumulated losses have eaten everything shareholders put in. PitchBook models it at a 94 per cent probability of no exit.
So what is different. One thing. All four monetise the brand side only. The fan is not in their business model at all. For us fan subscriptions are 48 per cent of year seven revenue. That is a second payer none of them has, and it is the whole thesis. If it works we are not Sponsoo. If it does not, we are.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revenue model in one picture. Three streams.
Fan subscriptions in amber lead and fund the early years. Sponsorship commission and the sponsor SaaS tier compound behind them.
The shape is the point: this starts as a subscription business and becomes a two-sided one. Three million euros of net revenue at year seven.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Year one, concretely, because a plan that cannot say what happens first is not a plan.
250 athletes from 1,250 applications in two or three niche Spanish sports. Twenty sponsor conversations that are the first sales as much as they are research, closing about fifteen deals. One salary, mine, plus an anchor athlete on equity rather than cash. 113,000 euros.
And note the build order, because it is counter-intuitive. We build the sponsorship rail first and the fan product last, even though the fan product is the thesis. Commission earns inside year one. The fan tier cannot, because it needs moderation and safeguarding built first.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Operations and people, briefly, because the exam asks for both.
Payments, compute and media are all subcontracted. The only human step in the whole chain is admission review, and it scales with applications, not with transactions. That is why sixteen people can run this at five million of revenue.
And I will name the weak point before you do: 301,000 euros of revenue per employee is above the top quartile for B2B SaaS. If that is wrong, headcount is what gives, and the consequence is slower growth, not insolvency.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financials. Revenue in grey, EBITDA the amber line.
We are loss-making for four years and the losses are small: the worst year is 142,000 euros. EBITDA turns positive in year four, cash in year five, and year seven is three million of revenue at a 24.7 per cent margin.
One honest note on margin. We climb to 70 per cent, not the 80 a SaaS business would claim, because we move real money and Stripe takes its cut. I would rather show you 70 that survives diligence.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150,000 euros at 1.8 million pre-money, and it is the first of two.
Look at the curve. The worst point is 296,000 euros in year three. Total requirement with a 40 per cent buffer is 414,000. But I do not need it now.
150 now, which also unlocks a 75,000 ENISA loan at no equity cost. Then 250 in year two, priced against three months of real subscription revenue instead of against the same promise I am making today. That staging costs me about two points of equity and it is worth it.
The important property: the pre-seed clears the trough on its own. Every round after it is a growth option, not a rescue.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finish where the plan is weakest, because you are going to ask anyway.
One assumption carries this: will fans of a semi-professional athlete actually pay? No interview I did answers that. No market sizing answers it. Only real subscription revenue does.
So the plan is arranged so that question costs 80,000 euros and one year to answer, instead of 2.6 million and four. If the answer is no, what is left is a smaller sponsorship marketplace: viable, but a less interesting company, and I would tell you that rather than find out quietly.
Everything else is already built. Thank you, and I am happy to open the demo.</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A0C0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OARD">
    <p:bg>
      <p:bgPr>
        <a:solidFill>
          <a:srgbClr val="101216"/>
        </a:solidFill>
        <a:effectLst/>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OARD_DEEP">
    <p:bg>
      <p:bgPr>
        <a:solidFill>
          <a:srgbClr val="0A0C0F"/>
        </a:solidFill>
        <a:effectLst/>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713232" y="1759483"/>
            <a:ext cx="378823" cy="53035"/>
          </a:xfrm>
          <a:prstGeom prst="rect">
            <a:avLst/>
          </a:prstGeom>
          <a:solidFill>
            <a:srgbClr val="FFB020"/>
          </a:solidFill>
          <a:ln w="12700">
            <a:solidFill>
              <a:srgbClr val="333333"/>
            </a:solidFill>
            <a:prstDash val="solid"/>
          </a:ln>
        </p:spPr>
      </p:sp>
      <p:sp>
        <p:nvSpPr>
          <p:cNvPr id="3" name="Text 1"/>
          <p:cNvSpPr txBox="1"/>
          <p:nvPr/>
        </p:nvSpPr>
        <p:spPr>
          <a:xfrm>
            <a:off x="1296036" y="1417320"/>
            <a:ext cx="7576457" cy="1019908"/>
          </a:xfrm>
          <a:prstGeom prst="rect">
            <a:avLst/>
          </a:prstGeom>
          <a:noFill/>
          <a:ln/>
        </p:spPr>
        <p:txBody>
          <a:bodyPr wrap="square" lIns="0" tIns="0" rIns="0" bIns="0" rtlCol="0" anchor="t"/>
          <a:lstStyle/>
          <a:p>
            <a:pPr marL="0" indent="0">
              <a:buNone/>
            </a:pPr>
            <a:r>
              <a:rPr lang="en-US" sz="5800" kern="0" spc="414" dirty="0">
                <a:solidFill>
                  <a:srgbClr val="F2F4F7"/>
                </a:solidFill>
                <a:latin typeface="Barlow Condensed" pitchFamily="34" charset="0"/>
                <a:ea typeface="Barlow Condensed" pitchFamily="34" charset="-122"/>
                <a:cs typeface="Barlow Condensed" pitchFamily="34" charset="-120"/>
              </a:rPr>
              <a:t>STRIDE</a:t>
            </a:r>
            <a:endParaRPr lang="en-US" sz="5800" dirty="0"/>
          </a:p>
        </p:txBody>
      </p:sp>
      <p:sp>
        <p:nvSpPr>
          <p:cNvPr id="4" name="Text 2"/>
          <p:cNvSpPr txBox="1"/>
          <p:nvPr/>
        </p:nvSpPr>
        <p:spPr>
          <a:xfrm>
            <a:off x="713232" y="2487168"/>
            <a:ext cx="9509760" cy="1371600"/>
          </a:xfrm>
          <a:prstGeom prst="rect">
            <a:avLst/>
          </a:prstGeom>
          <a:noFill/>
          <a:ln/>
        </p:spPr>
        <p:txBody>
          <a:bodyPr wrap="square" lIns="0" tIns="0" rIns="0" bIns="0" rtlCol="0" anchor="t"/>
          <a:lstStyle/>
          <a:p>
            <a:pPr marL="0" indent="0">
              <a:lnSpc>
                <a:spcPts val="5000"/>
              </a:lnSpc>
              <a:buNone/>
            </a:pPr>
            <a:r>
              <a:rPr lang="en-US" sz="4600" dirty="0">
                <a:solidFill>
                  <a:srgbClr val="F2F4F7"/>
                </a:solidFill>
                <a:latin typeface="Barlow Condensed" pitchFamily="34" charset="0"/>
                <a:ea typeface="Barlow Condensed" pitchFamily="34" charset="-122"/>
                <a:cs typeface="Barlow Condensed" pitchFamily="34" charset="-120"/>
              </a:rPr>
              <a:t>Athletes are creators with a second payer</a:t>
            </a:r>
            <a:endParaRPr lang="en-US" sz="4600" dirty="0"/>
          </a:p>
        </p:txBody>
      </p:sp>
      <p:sp>
        <p:nvSpPr>
          <p:cNvPr id="5" name="Text 3"/>
          <p:cNvSpPr txBox="1"/>
          <p:nvPr/>
        </p:nvSpPr>
        <p:spPr>
          <a:xfrm>
            <a:off x="713232" y="3858768"/>
            <a:ext cx="7863840" cy="822960"/>
          </a:xfrm>
          <a:prstGeom prst="rect">
            <a:avLst/>
          </a:prstGeom>
          <a:noFill/>
          <a:ln/>
        </p:spPr>
        <p:txBody>
          <a:bodyPr wrap="square" lIns="0" tIns="0" rIns="0" bIns="0" rtlCol="0" anchor="t"/>
          <a:lstStyle/>
          <a:p>
            <a:pPr marL="0" indent="0">
              <a:lnSpc>
                <a:spcPts val="2300"/>
              </a:lnSpc>
              <a:buNone/>
            </a:pPr>
            <a:r>
              <a:rPr lang="en-US" sz="1550" dirty="0">
                <a:solidFill>
                  <a:srgbClr val="AEB6C2"/>
                </a:solidFill>
                <a:latin typeface="Barlow" pitchFamily="34" charset="0"/>
                <a:ea typeface="Barlow" pitchFamily="34" charset="-122"/>
                <a:cs typeface="Barlow" pitchFamily="34" charset="-120"/>
              </a:rPr>
              <a:t>Fan subscriptions, sponsorship and the analytics engine that makes the second payer possible. Built for the athletes no agent has ever called.</a:t>
            </a:r>
            <a:endParaRPr lang="en-US" sz="1550" dirty="0"/>
          </a:p>
        </p:txBody>
      </p:sp>
      <p:sp>
        <p:nvSpPr>
          <p:cNvPr id="6" name="Shape 4"/>
          <p:cNvSpPr/>
          <p:nvPr/>
        </p:nvSpPr>
        <p:spPr>
          <a:xfrm>
            <a:off x="713232" y="5029200"/>
            <a:ext cx="10765231" cy="12802"/>
          </a:xfrm>
          <a:prstGeom prst="rect">
            <a:avLst/>
          </a:prstGeom>
          <a:solidFill>
            <a:srgbClr val="262C35"/>
          </a:solidFill>
          <a:ln w="12700">
            <a:solidFill>
              <a:srgbClr val="333333"/>
            </a:solidFill>
            <a:prstDash val="solid"/>
          </a:ln>
        </p:spPr>
      </p:sp>
      <p:sp>
        <p:nvSpPr>
          <p:cNvPr id="7" name="Text 5"/>
          <p:cNvSpPr txBox="1"/>
          <p:nvPr/>
        </p:nvSpPr>
        <p:spPr>
          <a:xfrm>
            <a:off x="713232" y="5230368"/>
            <a:ext cx="8412480" cy="329184"/>
          </a:xfrm>
          <a:prstGeom prst="rect">
            <a:avLst/>
          </a:prstGeom>
          <a:noFill/>
          <a:ln/>
        </p:spPr>
        <p:txBody>
          <a:bodyPr wrap="square" lIns="0" tIns="0" rIns="0" bIns="0" rtlCol="0" anchor="ctr"/>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Jad Zoghaib</a:t>
            </a:r>
            <a:r>
              <a:rPr lang="en-US" sz="1250" dirty="0">
                <a:solidFill>
                  <a:srgbClr val="828C9A"/>
                </a:solidFill>
                <a:latin typeface="Barlow" pitchFamily="34" charset="0"/>
                <a:ea typeface="Barlow" pitchFamily="34" charset="-122"/>
                <a:cs typeface="Barlow" pitchFamily="34" charset="-120"/>
              </a:rPr>
              <a:t>   MSc Business Plan, ESADE   ·   Tutor: Ignacio Gallardo Albajar   ·   October 2026</a:t>
            </a:r>
            <a:endParaRPr lang="en-US" sz="1700" dirty="0"/>
          </a:p>
        </p:txBody>
      </p:sp>
      <p:sp>
        <p:nvSpPr>
          <p:cNvPr id="8" name="Text 6"/>
          <p:cNvSpPr txBox="1"/>
          <p:nvPr/>
        </p:nvSpPr>
        <p:spPr>
          <a:xfrm>
            <a:off x="8460943" y="5193792"/>
            <a:ext cx="3017520" cy="182880"/>
          </a:xfrm>
          <a:prstGeom prst="rect">
            <a:avLst/>
          </a:prstGeom>
          <a:noFill/>
          <a:ln/>
        </p:spPr>
        <p:txBody>
          <a:bodyPr wrap="square" lIns="0" tIns="0" rIns="0" bIns="0" rtlCol="0" anchor="t"/>
          <a:lstStyle/>
          <a:p>
            <a:pPr marL="0" indent="0" algn="r">
              <a:buNone/>
            </a:pPr>
            <a:r>
              <a:rPr lang="en-US" sz="1050" kern="0" spc="260" dirty="0">
                <a:solidFill>
                  <a:srgbClr val="828C9A"/>
                </a:solidFill>
                <a:latin typeface="Barlow Condensed" pitchFamily="34" charset="0"/>
                <a:ea typeface="Barlow Condensed" pitchFamily="34" charset="-122"/>
                <a:cs typeface="Barlow Condensed" pitchFamily="34" charset="-120"/>
              </a:rPr>
              <a:t>LIVE DEMO</a:t>
            </a:r>
            <a:endParaRPr lang="en-US" sz="1050" dirty="0"/>
          </a:p>
        </p:txBody>
      </p:sp>
      <p:sp>
        <p:nvSpPr>
          <p:cNvPr id="9" name="Text 7"/>
          <p:cNvSpPr txBox="1"/>
          <p:nvPr/>
        </p:nvSpPr>
        <p:spPr>
          <a:xfrm>
            <a:off x="8460943" y="5376672"/>
            <a:ext cx="3017520" cy="274320"/>
          </a:xfrm>
          <a:prstGeom prst="rect">
            <a:avLst/>
          </a:prstGeom>
          <a:noFill/>
          <a:ln/>
        </p:spPr>
        <p:txBody>
          <a:bodyPr wrap="square" lIns="0" tIns="0" rIns="0" bIns="0" rtlCol="0" anchor="t"/>
          <a:lstStyle/>
          <a:p>
            <a:pPr marL="0" indent="0" algn="r">
              <a:buNone/>
            </a:pPr>
            <a:r>
              <a:rPr lang="en-US" sz="1600" dirty="0">
                <a:solidFill>
                  <a:srgbClr val="FFB020"/>
                </a:solidFill>
                <a:latin typeface="Barlow Condensed" pitchFamily="34" charset="0"/>
                <a:ea typeface="Barlow Condensed" pitchFamily="34" charset="-122"/>
                <a:cs typeface="Barlow Condensed" pitchFamily="34" charset="-120"/>
              </a:rPr>
              <a:t>stride-demo.onrender.com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WHY THIS, FROM ME</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I am not researching this market from outside it</a:t>
            </a:r>
            <a:endParaRPr lang="en-US" sz="3600" dirty="0"/>
          </a:p>
        </p:txBody>
      </p:sp>
      <p:sp>
        <p:nvSpPr>
          <p:cNvPr id="4" name="Shape 2"/>
          <p:cNvSpPr/>
          <p:nvPr/>
        </p:nvSpPr>
        <p:spPr>
          <a:xfrm>
            <a:off x="713232" y="2029968"/>
            <a:ext cx="3405530" cy="2395728"/>
          </a:xfrm>
          <a:prstGeom prst="roundRect">
            <a:avLst>
              <a:gd name="adj" fmla="val 1527"/>
            </a:avLst>
          </a:prstGeom>
          <a:solidFill>
            <a:srgbClr val="171A20"/>
          </a:solidFill>
          <a:ln w="9525">
            <a:solidFill>
              <a:srgbClr val="262C35"/>
            </a:solidFill>
            <a:prstDash val="solid"/>
          </a:ln>
        </p:spPr>
      </p:sp>
      <p:sp>
        <p:nvSpPr>
          <p:cNvPr id="5" name="Text 3"/>
          <p:cNvSpPr txBox="1"/>
          <p:nvPr/>
        </p:nvSpPr>
        <p:spPr>
          <a:xfrm>
            <a:off x="987552" y="2304288"/>
            <a:ext cx="2856890" cy="274320"/>
          </a:xfrm>
          <a:prstGeom prst="rect">
            <a:avLst/>
          </a:prstGeom>
          <a:noFill/>
          <a:ln/>
        </p:spPr>
        <p:txBody>
          <a:bodyPr wrap="square" lIns="0" tIns="0" rIns="0" bIns="0" rtlCol="0" anchor="t"/>
          <a:lstStyle/>
          <a:p>
            <a:pPr marL="0" indent="0">
              <a:buNone/>
            </a:pPr>
            <a:r>
              <a:rPr lang="en-US" sz="1900" kern="0" spc="180" dirty="0">
                <a:solidFill>
                  <a:srgbClr val="FFB020"/>
                </a:solidFill>
                <a:latin typeface="Barlow Condensed" pitchFamily="34" charset="0"/>
                <a:ea typeface="Barlow Condensed" pitchFamily="34" charset="-122"/>
                <a:cs typeface="Barlow Condensed" pitchFamily="34" charset="-120"/>
              </a:rPr>
              <a:t>ATHLETE</a:t>
            </a:r>
            <a:endParaRPr lang="en-US" sz="1900" dirty="0"/>
          </a:p>
        </p:txBody>
      </p:sp>
      <p:sp>
        <p:nvSpPr>
          <p:cNvPr id="6" name="Text 4"/>
          <p:cNvSpPr txBox="1"/>
          <p:nvPr/>
        </p:nvSpPr>
        <p:spPr>
          <a:xfrm>
            <a:off x="987552" y="2697480"/>
            <a:ext cx="2856890" cy="210312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Capped by the Lebanese national rugby team, with international tournament experience. The athletes in my research are people I play with, which is why the conversations were candid rather than performative.</a:t>
            </a:r>
            <a:endParaRPr lang="en-US" sz="1350" dirty="0"/>
          </a:p>
        </p:txBody>
      </p:sp>
      <p:sp>
        <p:nvSpPr>
          <p:cNvPr id="7" name="Shape 5"/>
          <p:cNvSpPr/>
          <p:nvPr/>
        </p:nvSpPr>
        <p:spPr>
          <a:xfrm>
            <a:off x="4393082" y="2029968"/>
            <a:ext cx="3405530" cy="2395728"/>
          </a:xfrm>
          <a:prstGeom prst="roundRect">
            <a:avLst>
              <a:gd name="adj" fmla="val 1527"/>
            </a:avLst>
          </a:prstGeom>
          <a:solidFill>
            <a:srgbClr val="171A20"/>
          </a:solidFill>
          <a:ln w="9525">
            <a:solidFill>
              <a:srgbClr val="262C35"/>
            </a:solidFill>
            <a:prstDash val="solid"/>
          </a:ln>
        </p:spPr>
      </p:sp>
      <p:sp>
        <p:nvSpPr>
          <p:cNvPr id="8" name="Text 6"/>
          <p:cNvSpPr txBox="1"/>
          <p:nvPr/>
        </p:nvSpPr>
        <p:spPr>
          <a:xfrm>
            <a:off x="4667402" y="2304288"/>
            <a:ext cx="2856890" cy="274320"/>
          </a:xfrm>
          <a:prstGeom prst="rect">
            <a:avLst/>
          </a:prstGeom>
          <a:noFill/>
          <a:ln/>
        </p:spPr>
        <p:txBody>
          <a:bodyPr wrap="square" lIns="0" tIns="0" rIns="0" bIns="0" rtlCol="0" anchor="t"/>
          <a:lstStyle/>
          <a:p>
            <a:pPr marL="0" indent="0">
              <a:buNone/>
            </a:pPr>
            <a:r>
              <a:rPr lang="en-US" sz="1900" kern="0" spc="180" dirty="0">
                <a:solidFill>
                  <a:srgbClr val="FFB020"/>
                </a:solidFill>
                <a:latin typeface="Barlow Condensed" pitchFamily="34" charset="0"/>
                <a:ea typeface="Barlow Condensed" pitchFamily="34" charset="-122"/>
                <a:cs typeface="Barlow Condensed" pitchFamily="34" charset="-120"/>
              </a:rPr>
              <a:t>OPERATOR</a:t>
            </a:r>
            <a:endParaRPr lang="en-US" sz="1900" dirty="0"/>
          </a:p>
        </p:txBody>
      </p:sp>
      <p:sp>
        <p:nvSpPr>
          <p:cNvPr id="9" name="Text 7"/>
          <p:cNvSpPr txBox="1"/>
          <p:nvPr/>
        </p:nvSpPr>
        <p:spPr>
          <a:xfrm>
            <a:off x="4667402" y="2697480"/>
            <a:ext cx="2856890" cy="210312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Four years in management consulting across MENA. Feasibility studies at $5 to 15M, DCF modelling, and an OpEx reorganisation that delivered SAR 650M of capital optimisation.</a:t>
            </a:r>
            <a:endParaRPr lang="en-US" sz="1350" dirty="0"/>
          </a:p>
        </p:txBody>
      </p:sp>
      <p:sp>
        <p:nvSpPr>
          <p:cNvPr id="10" name="Shape 8"/>
          <p:cNvSpPr/>
          <p:nvPr/>
        </p:nvSpPr>
        <p:spPr>
          <a:xfrm>
            <a:off x="8072933" y="2029968"/>
            <a:ext cx="3405530" cy="2395728"/>
          </a:xfrm>
          <a:prstGeom prst="roundRect">
            <a:avLst>
              <a:gd name="adj" fmla="val 1527"/>
            </a:avLst>
          </a:prstGeom>
          <a:solidFill>
            <a:srgbClr val="171A20"/>
          </a:solidFill>
          <a:ln w="9525">
            <a:solidFill>
              <a:srgbClr val="262C35"/>
            </a:solidFill>
            <a:prstDash val="solid"/>
          </a:ln>
        </p:spPr>
      </p:sp>
      <p:sp>
        <p:nvSpPr>
          <p:cNvPr id="11" name="Text 9"/>
          <p:cNvSpPr txBox="1"/>
          <p:nvPr/>
        </p:nvSpPr>
        <p:spPr>
          <a:xfrm>
            <a:off x="8347253" y="2304288"/>
            <a:ext cx="2856890" cy="274320"/>
          </a:xfrm>
          <a:prstGeom prst="rect">
            <a:avLst/>
          </a:prstGeom>
          <a:noFill/>
          <a:ln/>
        </p:spPr>
        <p:txBody>
          <a:bodyPr wrap="square" lIns="0" tIns="0" rIns="0" bIns="0" rtlCol="0" anchor="t"/>
          <a:lstStyle/>
          <a:p>
            <a:pPr marL="0" indent="0">
              <a:buNone/>
            </a:pPr>
            <a:r>
              <a:rPr lang="en-US" sz="1900" kern="0" spc="180" dirty="0">
                <a:solidFill>
                  <a:srgbClr val="FFB020"/>
                </a:solidFill>
                <a:latin typeface="Barlow Condensed" pitchFamily="34" charset="0"/>
                <a:ea typeface="Barlow Condensed" pitchFamily="34" charset="-122"/>
                <a:cs typeface="Barlow Condensed" pitchFamily="34" charset="-120"/>
              </a:rPr>
              <a:t>BUILDER</a:t>
            </a:r>
            <a:endParaRPr lang="en-US" sz="1900" dirty="0"/>
          </a:p>
        </p:txBody>
      </p:sp>
      <p:sp>
        <p:nvSpPr>
          <p:cNvPr id="12" name="Text 10"/>
          <p:cNvSpPr txBox="1"/>
          <p:nvPr/>
        </p:nvSpPr>
        <p:spPr>
          <a:xfrm>
            <a:off x="8347253" y="2697480"/>
            <a:ext cx="2856890" cy="210312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MSc Business Analytics at ESADE. The deployed product, the analytics engine and the financial model behind this plan are all my own work.</a:t>
            </a:r>
            <a:endParaRPr lang="en-US" sz="1350" dirty="0"/>
          </a:p>
        </p:txBody>
      </p:sp>
      <p:sp>
        <p:nvSpPr>
          <p:cNvPr id="13" name="Text 11"/>
          <p:cNvSpPr txBox="1"/>
          <p:nvPr/>
        </p:nvSpPr>
        <p:spPr>
          <a:xfrm>
            <a:off x="713232" y="4681728"/>
            <a:ext cx="10765231" cy="365760"/>
          </a:xfrm>
          <a:prstGeom prst="rect">
            <a:avLst/>
          </a:prstGeom>
          <a:noFill/>
          <a:ln/>
        </p:spPr>
        <p:txBody>
          <a:bodyPr wrap="square" lIns="0" tIns="0" rIns="0" bIns="0" rtlCol="0" anchor="t"/>
          <a:lstStyle/>
          <a:p>
            <a:pPr marL="0" indent="0">
              <a:lnSpc>
                <a:spcPts val="2200"/>
              </a:lnSpc>
              <a:buNone/>
            </a:pPr>
            <a:r>
              <a:rPr lang="en-US" sz="1400" dirty="0">
                <a:solidFill>
                  <a:srgbClr val="828C9A"/>
                </a:solidFill>
                <a:latin typeface="Barlow" pitchFamily="34" charset="0"/>
                <a:ea typeface="Barlow" pitchFamily="34" charset="-122"/>
                <a:cs typeface="Barlow" pitchFamily="34" charset="-120"/>
              </a:rPr>
              <a:t>The plan can make claims about the technology that are checkable rather than aspirational, because I wrote it.</a:t>
            </a:r>
            <a:endParaRPr lang="en-US" sz="14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WHAT FIVE ATHLETES TOLD ME</a:t>
            </a:r>
            <a:endParaRPr lang="en-US" sz="1250" dirty="0"/>
          </a:p>
        </p:txBody>
      </p:sp>
      <p:sp>
        <p:nvSpPr>
          <p:cNvPr id="3" name="Text 1"/>
          <p:cNvSpPr txBox="1"/>
          <p:nvPr/>
        </p:nvSpPr>
        <p:spPr>
          <a:xfrm>
            <a:off x="713232" y="1143000"/>
            <a:ext cx="4754880" cy="2286000"/>
          </a:xfrm>
          <a:prstGeom prst="rect">
            <a:avLst/>
          </a:prstGeom>
          <a:noFill/>
          <a:ln/>
        </p:spPr>
        <p:txBody>
          <a:bodyPr wrap="square" lIns="0" tIns="0" rIns="0" bIns="0" rtlCol="0" anchor="t"/>
          <a:lstStyle/>
          <a:p>
            <a:pPr marL="0" indent="0">
              <a:lnSpc>
                <a:spcPts val="16000"/>
              </a:lnSpc>
              <a:buNone/>
            </a:pPr>
            <a:r>
              <a:rPr lang="en-US" sz="16800" dirty="0">
                <a:solidFill>
                  <a:srgbClr val="F2F4F7"/>
                </a:solidFill>
                <a:latin typeface="Barlow Condensed" pitchFamily="34" charset="0"/>
                <a:ea typeface="Barlow Condensed" pitchFamily="34" charset="-122"/>
                <a:cs typeface="Barlow Condensed" pitchFamily="34" charset="-120"/>
              </a:rPr>
              <a:t>€0</a:t>
            </a:r>
            <a:endParaRPr lang="en-US" sz="16800" dirty="0"/>
          </a:p>
        </p:txBody>
      </p:sp>
      <p:sp>
        <p:nvSpPr>
          <p:cNvPr id="4" name="Text 2"/>
          <p:cNvSpPr txBox="1"/>
          <p:nvPr/>
        </p:nvSpPr>
        <p:spPr>
          <a:xfrm>
            <a:off x="713232" y="3310128"/>
            <a:ext cx="4937760" cy="274320"/>
          </a:xfrm>
          <a:prstGeom prst="rect">
            <a:avLst/>
          </a:prstGeom>
          <a:noFill/>
          <a:ln/>
        </p:spPr>
        <p:txBody>
          <a:bodyPr wrap="square" lIns="0" tIns="0" rIns="0" bIns="0" rtlCol="0" anchor="t"/>
          <a:lstStyle/>
          <a:p>
            <a:pPr marL="0" indent="0">
              <a:buNone/>
            </a:pPr>
            <a:r>
              <a:rPr lang="en-US" sz="1300" kern="0" spc="260" dirty="0">
                <a:solidFill>
                  <a:srgbClr val="828C9A"/>
                </a:solidFill>
                <a:latin typeface="Barlow Condensed" pitchFamily="34" charset="0"/>
                <a:ea typeface="Barlow Condensed" pitchFamily="34" charset="-122"/>
                <a:cs typeface="Barlow Condensed" pitchFamily="34" charset="-120"/>
              </a:rPr>
              <a:t>CURRENT INCOME FROM THEIR AUDIENCE</a:t>
            </a:r>
            <a:endParaRPr lang="en-US" sz="1300" dirty="0"/>
          </a:p>
        </p:txBody>
      </p:sp>
      <p:sp>
        <p:nvSpPr>
          <p:cNvPr id="5" name="Text 3"/>
          <p:cNvSpPr txBox="1"/>
          <p:nvPr/>
        </p:nvSpPr>
        <p:spPr>
          <a:xfrm>
            <a:off x="713232" y="3703320"/>
            <a:ext cx="5120640" cy="822960"/>
          </a:xfrm>
          <a:prstGeom prst="rect">
            <a:avLst/>
          </a:prstGeom>
          <a:noFill/>
          <a:ln/>
        </p:spPr>
        <p:txBody>
          <a:bodyPr wrap="square" lIns="0" tIns="0" rIns="0" bIns="0" rtlCol="0" anchor="t"/>
          <a:lstStyle/>
          <a:p>
            <a:pPr marL="0" indent="0">
              <a:lnSpc>
                <a:spcPts val="3400"/>
              </a:lnSpc>
              <a:buNone/>
            </a:pPr>
            <a:r>
              <a:rPr lang="en-US" sz="3000" dirty="0">
                <a:solidFill>
                  <a:srgbClr val="FFB020"/>
                </a:solidFill>
                <a:latin typeface="Barlow Condensed" pitchFamily="34" charset="0"/>
                <a:ea typeface="Barlow Condensed" pitchFamily="34" charset="-122"/>
                <a:cs typeface="Barlow Condensed" pitchFamily="34" charset="-120"/>
              </a:rPr>
              <a:t>Not low. Not inconsistent. Nothing</a:t>
            </a:r>
            <a:endParaRPr lang="en-US" sz="3000" dirty="0"/>
          </a:p>
        </p:txBody>
      </p:sp>
      <p:sp>
        <p:nvSpPr>
          <p:cNvPr id="6" name="Shape 4"/>
          <p:cNvSpPr/>
          <p:nvPr/>
        </p:nvSpPr>
        <p:spPr>
          <a:xfrm>
            <a:off x="6309360" y="1234440"/>
            <a:ext cx="5169103" cy="3611880"/>
          </a:xfrm>
          <a:prstGeom prst="roundRect">
            <a:avLst>
              <a:gd name="adj" fmla="val 1013"/>
            </a:avLst>
          </a:prstGeom>
          <a:solidFill>
            <a:srgbClr val="171A20"/>
          </a:solidFill>
          <a:ln w="9525">
            <a:solidFill>
              <a:srgbClr val="262C35"/>
            </a:solidFill>
            <a:prstDash val="solid"/>
          </a:ln>
        </p:spPr>
      </p:sp>
      <p:sp>
        <p:nvSpPr>
          <p:cNvPr id="7" name="Text 5"/>
          <p:cNvSpPr txBox="1"/>
          <p:nvPr/>
        </p:nvSpPr>
        <p:spPr>
          <a:xfrm>
            <a:off x="6583680" y="1298448"/>
            <a:ext cx="914400" cy="914400"/>
          </a:xfrm>
          <a:prstGeom prst="rect">
            <a:avLst/>
          </a:prstGeom>
          <a:noFill/>
          <a:ln/>
        </p:spPr>
        <p:txBody>
          <a:bodyPr wrap="square" lIns="0" tIns="0" rIns="0" bIns="0" rtlCol="0" anchor="t"/>
          <a:lstStyle/>
          <a:p>
            <a:pPr marL="0" indent="0">
              <a:buNone/>
            </a:pPr>
            <a:r>
              <a:rPr lang="en-US" sz="8000" dirty="0">
                <a:solidFill>
                  <a:srgbClr val="262C35"/>
                </a:solidFill>
                <a:latin typeface="Barlow Condensed" pitchFamily="34" charset="0"/>
                <a:ea typeface="Barlow Condensed" pitchFamily="34" charset="-122"/>
                <a:cs typeface="Barlow Condensed" pitchFamily="34" charset="-120"/>
              </a:rPr>
              <a:t>“</a:t>
            </a:r>
            <a:endParaRPr lang="en-US" sz="8000" dirty="0"/>
          </a:p>
        </p:txBody>
      </p:sp>
      <p:sp>
        <p:nvSpPr>
          <p:cNvPr id="8" name="Text 6"/>
          <p:cNvSpPr txBox="1"/>
          <p:nvPr/>
        </p:nvSpPr>
        <p:spPr>
          <a:xfrm>
            <a:off x="6675120" y="2057400"/>
            <a:ext cx="4364431" cy="1371600"/>
          </a:xfrm>
          <a:prstGeom prst="rect">
            <a:avLst/>
          </a:prstGeom>
          <a:noFill/>
          <a:ln/>
        </p:spPr>
        <p:txBody>
          <a:bodyPr wrap="square" lIns="0" tIns="0" rIns="0" bIns="0" rtlCol="0" anchor="t"/>
          <a:lstStyle/>
          <a:p>
            <a:pPr marL="0" indent="0">
              <a:lnSpc>
                <a:spcPts val="2700"/>
              </a:lnSpc>
              <a:buNone/>
            </a:pPr>
            <a:r>
              <a:rPr lang="en-US" sz="1900" dirty="0">
                <a:solidFill>
                  <a:srgbClr val="F2F4F7"/>
                </a:solidFill>
                <a:latin typeface="Barlow" pitchFamily="34" charset="0"/>
                <a:ea typeface="Barlow" pitchFamily="34" charset="-122"/>
                <a:cs typeface="Barlow" pitchFamily="34" charset="-120"/>
              </a:rPr>
              <a:t>People are not going to spend time setting up social media and building followers purely around their sport if nothing comes back.</a:t>
            </a:r>
            <a:endParaRPr lang="en-US" sz="1900" dirty="0"/>
          </a:p>
        </p:txBody>
      </p:sp>
      <p:sp>
        <p:nvSpPr>
          <p:cNvPr id="9" name="Shape 7"/>
          <p:cNvSpPr/>
          <p:nvPr/>
        </p:nvSpPr>
        <p:spPr>
          <a:xfrm>
            <a:off x="6675120" y="3566160"/>
            <a:ext cx="1005840" cy="18288"/>
          </a:xfrm>
          <a:prstGeom prst="rect">
            <a:avLst/>
          </a:prstGeom>
          <a:solidFill>
            <a:srgbClr val="FFB020"/>
          </a:solidFill>
          <a:ln w="12700">
            <a:solidFill>
              <a:srgbClr val="333333"/>
            </a:solidFill>
            <a:prstDash val="solid"/>
          </a:ln>
        </p:spPr>
      </p:sp>
      <p:sp>
        <p:nvSpPr>
          <p:cNvPr id="10" name="Text 8"/>
          <p:cNvSpPr txBox="1"/>
          <p:nvPr/>
        </p:nvSpPr>
        <p:spPr>
          <a:xfrm>
            <a:off x="6675120" y="3730752"/>
            <a:ext cx="4364431" cy="1005840"/>
          </a:xfrm>
          <a:prstGeom prst="rect">
            <a:avLst/>
          </a:prstGeom>
          <a:noFill/>
          <a:ln/>
        </p:spPr>
        <p:txBody>
          <a:bodyPr wrap="square" lIns="0" tIns="0" rIns="0" bIns="0" rtlCol="0" anchor="t"/>
          <a:lstStyle/>
          <a:p>
            <a:pPr marL="0" indent="0">
              <a:lnSpc>
                <a:spcPts val="1700"/>
              </a:lnSpc>
              <a:buNone/>
            </a:pPr>
            <a:r>
              <a:rPr lang="en-US" sz="1250" dirty="0">
                <a:solidFill>
                  <a:srgbClr val="828C9A"/>
                </a:solidFill>
                <a:latin typeface="Barlow" pitchFamily="34" charset="0"/>
                <a:ea typeface="Barlow" pitchFamily="34" charset="-122"/>
                <a:cs typeface="Barlow" pitchFamily="34" charset="-120"/>
              </a:rPr>
              <a:t>Rugby league players competing in Spain and Lebanon, and top-ranked Lebanese CrossFit athletes. The founder is capped by the Lebanese national rugby team, which is how this access exists.</a:t>
            </a:r>
            <a:endParaRPr lang="en-US" sz="1250" dirty="0"/>
          </a:p>
        </p:txBody>
      </p:sp>
      <p:sp>
        <p:nvSpPr>
          <p:cNvPr id="11" name="Shape 9"/>
          <p:cNvSpPr/>
          <p:nvPr/>
        </p:nvSpPr>
        <p:spPr>
          <a:xfrm>
            <a:off x="713232" y="5138928"/>
            <a:ext cx="3405530" cy="12802"/>
          </a:xfrm>
          <a:prstGeom prst="rect">
            <a:avLst/>
          </a:prstGeom>
          <a:solidFill>
            <a:srgbClr val="262C35"/>
          </a:solidFill>
          <a:ln w="12700">
            <a:solidFill>
              <a:srgbClr val="333333"/>
            </a:solidFill>
            <a:prstDash val="solid"/>
          </a:ln>
        </p:spPr>
      </p:sp>
      <p:sp>
        <p:nvSpPr>
          <p:cNvPr id="12" name="Text 10"/>
          <p:cNvSpPr txBox="1"/>
          <p:nvPr/>
        </p:nvSpPr>
        <p:spPr>
          <a:xfrm>
            <a:off x="713232" y="5266944"/>
            <a:ext cx="3405530" cy="219456"/>
          </a:xfrm>
          <a:prstGeom prst="rect">
            <a:avLst/>
          </a:prstGeom>
          <a:noFill/>
          <a:ln/>
        </p:spPr>
        <p:txBody>
          <a:bodyPr wrap="square" lIns="0" tIns="0" rIns="0" bIns="0" rtlCol="0" anchor="t"/>
          <a:lstStyle/>
          <a:p>
            <a:pPr marL="0" indent="0">
              <a:buNone/>
            </a:pPr>
            <a:r>
              <a:rPr lang="en-US" sz="1200" kern="0" spc="180" dirty="0">
                <a:solidFill>
                  <a:srgbClr val="F2F4F7"/>
                </a:solidFill>
                <a:latin typeface="Barlow Condensed" pitchFamily="34" charset="0"/>
                <a:ea typeface="Barlow Condensed" pitchFamily="34" charset="-122"/>
                <a:cs typeface="Barlow Condensed" pitchFamily="34" charset="-120"/>
              </a:rPr>
              <a:t>THE INEQUITY IS FELT</a:t>
            </a:r>
            <a:endParaRPr lang="en-US" sz="1200" dirty="0"/>
          </a:p>
        </p:txBody>
      </p:sp>
      <p:sp>
        <p:nvSpPr>
          <p:cNvPr id="13" name="Text 11"/>
          <p:cNvSpPr txBox="1"/>
          <p:nvPr/>
        </p:nvSpPr>
        <p:spPr>
          <a:xfrm>
            <a:off x="713232" y="5504688"/>
            <a:ext cx="3405530" cy="54864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Influencers producing far less demanding content earn more than competing athletes do</a:t>
            </a:r>
            <a:endParaRPr lang="en-US" sz="1150" dirty="0"/>
          </a:p>
        </p:txBody>
      </p:sp>
      <p:sp>
        <p:nvSpPr>
          <p:cNvPr id="14" name="Shape 12"/>
          <p:cNvSpPr/>
          <p:nvPr/>
        </p:nvSpPr>
        <p:spPr>
          <a:xfrm>
            <a:off x="4393082" y="5138928"/>
            <a:ext cx="3405530" cy="12802"/>
          </a:xfrm>
          <a:prstGeom prst="rect">
            <a:avLst/>
          </a:prstGeom>
          <a:solidFill>
            <a:srgbClr val="262C35"/>
          </a:solidFill>
          <a:ln w="12700">
            <a:solidFill>
              <a:srgbClr val="333333"/>
            </a:solidFill>
            <a:prstDash val="solid"/>
          </a:ln>
        </p:spPr>
      </p:sp>
      <p:sp>
        <p:nvSpPr>
          <p:cNvPr id="15" name="Text 13"/>
          <p:cNvSpPr txBox="1"/>
          <p:nvPr/>
        </p:nvSpPr>
        <p:spPr>
          <a:xfrm>
            <a:off x="4393082" y="5266944"/>
            <a:ext cx="3405530" cy="219456"/>
          </a:xfrm>
          <a:prstGeom prst="rect">
            <a:avLst/>
          </a:prstGeom>
          <a:noFill/>
          <a:ln/>
        </p:spPr>
        <p:txBody>
          <a:bodyPr wrap="square" lIns="0" tIns="0" rIns="0" bIns="0" rtlCol="0" anchor="t"/>
          <a:lstStyle/>
          <a:p>
            <a:pPr marL="0" indent="0">
              <a:buNone/>
            </a:pPr>
            <a:r>
              <a:rPr lang="en-US" sz="1200" kern="0" spc="180" dirty="0">
                <a:solidFill>
                  <a:srgbClr val="F2F4F7"/>
                </a:solidFill>
                <a:latin typeface="Barlow Condensed" pitchFamily="34" charset="0"/>
                <a:ea typeface="Barlow Condensed" pitchFamily="34" charset="-122"/>
                <a:cs typeface="Barlow Condensed" pitchFamily="34" charset="-120"/>
              </a:rPr>
              <a:t>SPONSORSHIP ARRIVES DESPITE THE SPORT</a:t>
            </a:r>
            <a:endParaRPr lang="en-US" sz="1200" dirty="0"/>
          </a:p>
        </p:txBody>
      </p:sp>
      <p:sp>
        <p:nvSpPr>
          <p:cNvPr id="16" name="Text 14"/>
          <p:cNvSpPr txBox="1"/>
          <p:nvPr/>
        </p:nvSpPr>
        <p:spPr>
          <a:xfrm>
            <a:off x="4393082" y="5504688"/>
            <a:ext cx="3405530" cy="54864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The one athlete who has a sponsor did not get it as a rugby league player</a:t>
            </a:r>
            <a:endParaRPr lang="en-US" sz="1150" dirty="0"/>
          </a:p>
        </p:txBody>
      </p:sp>
      <p:sp>
        <p:nvSpPr>
          <p:cNvPr id="17" name="Shape 15"/>
          <p:cNvSpPr/>
          <p:nvPr/>
        </p:nvSpPr>
        <p:spPr>
          <a:xfrm>
            <a:off x="8072933" y="5138928"/>
            <a:ext cx="3405530" cy="12802"/>
          </a:xfrm>
          <a:prstGeom prst="rect">
            <a:avLst/>
          </a:prstGeom>
          <a:solidFill>
            <a:srgbClr val="262C35"/>
          </a:solidFill>
          <a:ln w="12700">
            <a:solidFill>
              <a:srgbClr val="333333"/>
            </a:solidFill>
            <a:prstDash val="solid"/>
          </a:ln>
        </p:spPr>
      </p:sp>
      <p:sp>
        <p:nvSpPr>
          <p:cNvPr id="18" name="Text 16"/>
          <p:cNvSpPr txBox="1"/>
          <p:nvPr/>
        </p:nvSpPr>
        <p:spPr>
          <a:xfrm>
            <a:off x="8072933" y="5266944"/>
            <a:ext cx="3405530" cy="219456"/>
          </a:xfrm>
          <a:prstGeom prst="rect">
            <a:avLst/>
          </a:prstGeom>
          <a:noFill/>
          <a:ln/>
        </p:spPr>
        <p:txBody>
          <a:bodyPr wrap="square" lIns="0" tIns="0" rIns="0" bIns="0" rtlCol="0" anchor="t"/>
          <a:lstStyle/>
          <a:p>
            <a:pPr marL="0" indent="0">
              <a:buNone/>
            </a:pPr>
            <a:r>
              <a:rPr lang="en-US" sz="1200" kern="0" spc="180" dirty="0">
                <a:solidFill>
                  <a:srgbClr val="F2F4F7"/>
                </a:solidFill>
                <a:latin typeface="Barlow Condensed" pitchFamily="34" charset="0"/>
                <a:ea typeface="Barlow Condensed" pitchFamily="34" charset="-122"/>
                <a:cs typeface="Barlow Condensed" pitchFamily="34" charset="-120"/>
              </a:rPr>
              <a:t>SO THEY STOP BUILDING AN AUDIENCE</a:t>
            </a:r>
            <a:endParaRPr lang="en-US" sz="1200" dirty="0"/>
          </a:p>
        </p:txBody>
      </p:sp>
      <p:sp>
        <p:nvSpPr>
          <p:cNvPr id="19" name="Text 17"/>
          <p:cNvSpPr txBox="1"/>
          <p:nvPr/>
        </p:nvSpPr>
        <p:spPr>
          <a:xfrm>
            <a:off x="8072933" y="5504688"/>
            <a:ext cx="3405530" cy="54864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Which suppresses the very supply the market is measured on</a:t>
            </a:r>
            <a:endParaRPr lang="en-US" sz="1150" dirty="0"/>
          </a:p>
        </p:txBody>
      </p:sp>
      <p:sp>
        <p:nvSpPr>
          <p:cNvPr id="20" name="Text 18"/>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Primary research, five semi-structured interviews, 2026. Convenience sample, reported as one.</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MECHANISM</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The layer that turns an audience into income was never built for these sports</a:t>
            </a:r>
            <a:endParaRPr lang="en-US" sz="3600" dirty="0"/>
          </a:p>
        </p:txBody>
      </p:sp>
      <p:sp>
        <p:nvSpPr>
          <p:cNvPr id="4" name="Shape 2"/>
          <p:cNvSpPr/>
          <p:nvPr/>
        </p:nvSpPr>
        <p:spPr>
          <a:xfrm>
            <a:off x="713232" y="1920240"/>
            <a:ext cx="5245456" cy="1481328"/>
          </a:xfrm>
          <a:prstGeom prst="roundRect">
            <a:avLst>
              <a:gd name="adj" fmla="val 2469"/>
            </a:avLst>
          </a:prstGeom>
          <a:solidFill>
            <a:srgbClr val="171A20"/>
          </a:solidFill>
          <a:ln w="9525">
            <a:solidFill>
              <a:srgbClr val="262C35"/>
            </a:solidFill>
            <a:prstDash val="solid"/>
          </a:ln>
        </p:spPr>
      </p:sp>
      <p:sp>
        <p:nvSpPr>
          <p:cNvPr id="5" name="Text 3"/>
          <p:cNvSpPr txBox="1"/>
          <p:nvPr/>
        </p:nvSpPr>
        <p:spPr>
          <a:xfrm>
            <a:off x="969264" y="2121408"/>
            <a:ext cx="4733392" cy="237744"/>
          </a:xfrm>
          <a:prstGeom prst="rect">
            <a:avLst/>
          </a:prstGeom>
          <a:noFill/>
          <a:ln/>
        </p:spPr>
        <p:txBody>
          <a:bodyPr wrap="square" lIns="0" tIns="0" rIns="0" bIns="0" rtlCol="0" anchor="t"/>
          <a:lstStyle/>
          <a:p>
            <a:pPr marL="0" indent="0">
              <a:buNone/>
            </a:pPr>
            <a:r>
              <a:rPr lang="en-US" sz="1250" kern="0" spc="260" dirty="0">
                <a:solidFill>
                  <a:srgbClr val="828C9A"/>
                </a:solidFill>
                <a:latin typeface="Barlow Condensed" pitchFamily="34" charset="0"/>
                <a:ea typeface="Barlow Condensed" pitchFamily="34" charset="-122"/>
                <a:cs typeface="Barlow Condensed" pitchFamily="34" charset="-120"/>
              </a:rPr>
              <a:t>IN A POPULAR SPORT</a:t>
            </a:r>
            <a:endParaRPr lang="en-US" sz="1250" dirty="0"/>
          </a:p>
        </p:txBody>
      </p:sp>
      <p:sp>
        <p:nvSpPr>
          <p:cNvPr id="6" name="Text 4"/>
          <p:cNvSpPr txBox="1"/>
          <p:nvPr/>
        </p:nvSpPr>
        <p:spPr>
          <a:xfrm>
            <a:off x="969264" y="2395728"/>
            <a:ext cx="4733392" cy="914400"/>
          </a:xfrm>
          <a:prstGeom prst="rect">
            <a:avLst/>
          </a:prstGeom>
          <a:noFill/>
          <a:ln/>
        </p:spPr>
        <p:txBody>
          <a:bodyPr wrap="square" lIns="0" tIns="0" rIns="0" bIns="0" rtlCol="0" anchor="t"/>
          <a:lstStyle/>
          <a:p>
            <a:pPr marL="0" indent="0">
              <a:lnSpc>
                <a:spcPts val="2300"/>
              </a:lnSpc>
              <a:buNone/>
            </a:pPr>
            <a:r>
              <a:rPr lang="en-US" sz="1600" dirty="0">
                <a:solidFill>
                  <a:srgbClr val="AEB6C2"/>
                </a:solidFill>
                <a:latin typeface="Barlow" pitchFamily="34" charset="0"/>
                <a:ea typeface="Barlow" pitchFamily="34" charset="-122"/>
                <a:cs typeface="Barlow" pitchFamily="34" charset="-120"/>
              </a:rPr>
              <a:t>An agent takes 10 to 20% of an endorsement to make an introduction. The layer exists, and it is expensive.</a:t>
            </a:r>
            <a:endParaRPr lang="en-US" sz="1600" dirty="0"/>
          </a:p>
        </p:txBody>
      </p:sp>
      <p:sp>
        <p:nvSpPr>
          <p:cNvPr id="7" name="Shape 5"/>
          <p:cNvSpPr/>
          <p:nvPr/>
        </p:nvSpPr>
        <p:spPr>
          <a:xfrm>
            <a:off x="6233008" y="1920240"/>
            <a:ext cx="5245456" cy="1481328"/>
          </a:xfrm>
          <a:prstGeom prst="roundRect">
            <a:avLst>
              <a:gd name="adj" fmla="val 2469"/>
            </a:avLst>
          </a:prstGeom>
          <a:solidFill>
            <a:srgbClr val="1F242C"/>
          </a:solidFill>
          <a:ln w="9525">
            <a:solidFill>
              <a:srgbClr val="262C35"/>
            </a:solidFill>
            <a:prstDash val="solid"/>
          </a:ln>
        </p:spPr>
      </p:sp>
      <p:sp>
        <p:nvSpPr>
          <p:cNvPr id="8" name="Text 6"/>
          <p:cNvSpPr txBox="1"/>
          <p:nvPr/>
        </p:nvSpPr>
        <p:spPr>
          <a:xfrm>
            <a:off x="6489040" y="2121408"/>
            <a:ext cx="4733392" cy="237744"/>
          </a:xfrm>
          <a:prstGeom prst="rect">
            <a:avLst/>
          </a:prstGeom>
          <a:noFill/>
          <a:ln/>
        </p:spPr>
        <p:txBody>
          <a:bodyPr wrap="square" lIns="0" tIns="0" rIns="0" bIns="0" rtlCol="0" anchor="t"/>
          <a:lstStyle/>
          <a:p>
            <a:pPr marL="0" indent="0">
              <a:buNone/>
            </a:pPr>
            <a:r>
              <a:rPr lang="en-US" sz="1250" kern="0" spc="260" dirty="0">
                <a:solidFill>
                  <a:srgbClr val="828C9A"/>
                </a:solidFill>
                <a:latin typeface="Barlow Condensed" pitchFamily="34" charset="0"/>
                <a:ea typeface="Barlow Condensed" pitchFamily="34" charset="-122"/>
                <a:cs typeface="Barlow Condensed" pitchFamily="34" charset="-120"/>
              </a:rPr>
              <a:t>IN A NICHE SPORT</a:t>
            </a:r>
            <a:endParaRPr lang="en-US" sz="1250" dirty="0"/>
          </a:p>
        </p:txBody>
      </p:sp>
      <p:sp>
        <p:nvSpPr>
          <p:cNvPr id="9" name="Text 7"/>
          <p:cNvSpPr txBox="1"/>
          <p:nvPr/>
        </p:nvSpPr>
        <p:spPr>
          <a:xfrm>
            <a:off x="6489040" y="2395728"/>
            <a:ext cx="4733392" cy="914400"/>
          </a:xfrm>
          <a:prstGeom prst="rect">
            <a:avLst/>
          </a:prstGeom>
          <a:noFill/>
          <a:ln/>
        </p:spPr>
        <p:txBody>
          <a:bodyPr wrap="square" lIns="0" tIns="0" rIns="0" bIns="0" rtlCol="0" anchor="t"/>
          <a:lstStyle/>
          <a:p>
            <a:pPr marL="0" indent="0">
              <a:lnSpc>
                <a:spcPts val="2300"/>
              </a:lnSpc>
              <a:buNone/>
            </a:pPr>
            <a:r>
              <a:rPr lang="en-US" sz="1600" dirty="0">
                <a:solidFill>
                  <a:srgbClr val="FFB020"/>
                </a:solidFill>
                <a:latin typeface="Barlow" pitchFamily="34" charset="0"/>
                <a:ea typeface="Barlow" pitchFamily="34" charset="-122"/>
                <a:cs typeface="Barlow" pitchFamily="34" charset="-120"/>
              </a:rPr>
              <a:t>There is no agent at all. The athlete's alternative to Stride is not a worse deal. It is no deal.</a:t>
            </a:r>
            <a:endParaRPr lang="en-US" sz="1600" dirty="0"/>
          </a:p>
        </p:txBody>
      </p:sp>
      <p:sp>
        <p:nvSpPr>
          <p:cNvPr id="10" name="Text 8"/>
          <p:cNvSpPr txBox="1"/>
          <p:nvPr/>
        </p:nvSpPr>
        <p:spPr>
          <a:xfrm>
            <a:off x="713232" y="3657600"/>
            <a:ext cx="10765231" cy="237744"/>
          </a:xfrm>
          <a:prstGeom prst="rect">
            <a:avLst/>
          </a:prstGeom>
          <a:noFill/>
          <a:ln/>
        </p:spPr>
        <p:txBody>
          <a:bodyPr wrap="square" lIns="0" tIns="0" rIns="0" bIns="0" rtlCol="0" anchor="t"/>
          <a:lstStyle/>
          <a:p>
            <a:pPr marL="0" indent="0">
              <a:buNone/>
            </a:pPr>
            <a:r>
              <a:rPr lang="en-US" sz="1200" kern="0" spc="280" dirty="0">
                <a:solidFill>
                  <a:srgbClr val="828C9A"/>
                </a:solidFill>
                <a:latin typeface="Barlow Condensed" pitchFamily="34" charset="0"/>
                <a:ea typeface="Barlow Condensed" pitchFamily="34" charset="-122"/>
                <a:cs typeface="Barlow Condensed" pitchFamily="34" charset="-120"/>
              </a:rPr>
              <a:t>AND THAT ABSENCE FEEDS ITSELF</a:t>
            </a:r>
            <a:endParaRPr lang="en-US" sz="1200" dirty="0"/>
          </a:p>
        </p:txBody>
      </p:sp>
      <p:sp>
        <p:nvSpPr>
          <p:cNvPr id="11" name="Shape 9"/>
          <p:cNvSpPr/>
          <p:nvPr/>
        </p:nvSpPr>
        <p:spPr>
          <a:xfrm>
            <a:off x="713232" y="3968496"/>
            <a:ext cx="3192170" cy="841248"/>
          </a:xfrm>
          <a:prstGeom prst="roundRect">
            <a:avLst>
              <a:gd name="adj" fmla="val 4348"/>
            </a:avLst>
          </a:prstGeom>
          <a:solidFill>
            <a:srgbClr val="171A20"/>
          </a:solidFill>
          <a:ln w="9525">
            <a:solidFill>
              <a:srgbClr val="262C35"/>
            </a:solidFill>
            <a:prstDash val="solid"/>
          </a:ln>
        </p:spPr>
      </p:sp>
      <p:sp>
        <p:nvSpPr>
          <p:cNvPr id="12" name="Text 10"/>
          <p:cNvSpPr txBox="1"/>
          <p:nvPr/>
        </p:nvSpPr>
        <p:spPr>
          <a:xfrm>
            <a:off x="932688" y="4114800"/>
            <a:ext cx="457200" cy="274320"/>
          </a:xfrm>
          <a:prstGeom prst="rect">
            <a:avLst/>
          </a:prstGeom>
          <a:noFill/>
          <a:ln/>
        </p:spPr>
        <p:txBody>
          <a:bodyPr wrap="square" lIns="0" tIns="0" rIns="0" bIns="0" rtlCol="0" anchor="t"/>
          <a:lstStyle/>
          <a:p>
            <a:pPr marL="0" indent="0">
              <a:buNone/>
            </a:pPr>
            <a:r>
              <a:rPr lang="en-US" sz="1500" dirty="0">
                <a:solidFill>
                  <a:srgbClr val="FFB020"/>
                </a:solidFill>
                <a:latin typeface="Barlow Condensed" pitchFamily="34" charset="0"/>
                <a:ea typeface="Barlow Condensed" pitchFamily="34" charset="-122"/>
                <a:cs typeface="Barlow Condensed" pitchFamily="34" charset="-120"/>
              </a:rPr>
              <a:t>01</a:t>
            </a:r>
            <a:endParaRPr lang="en-US" sz="1500" dirty="0"/>
          </a:p>
        </p:txBody>
      </p:sp>
      <p:sp>
        <p:nvSpPr>
          <p:cNvPr id="13" name="Text 11"/>
          <p:cNvSpPr txBox="1"/>
          <p:nvPr/>
        </p:nvSpPr>
        <p:spPr>
          <a:xfrm>
            <a:off x="1389888" y="4114800"/>
            <a:ext cx="2277770" cy="566928"/>
          </a:xfrm>
          <a:prstGeom prst="rect">
            <a:avLst/>
          </a:prstGeom>
          <a:noFill/>
          <a:ln/>
        </p:spPr>
        <p:txBody>
          <a:bodyPr wrap="square" lIns="0" tIns="0" rIns="0" bIns="0" rtlCol="0" anchor="t"/>
          <a:lstStyle/>
          <a:p>
            <a:pPr marL="0" indent="0">
              <a:lnSpc>
                <a:spcPts val="1700"/>
              </a:lnSpc>
              <a:buNone/>
            </a:pPr>
            <a:r>
              <a:rPr lang="en-US" sz="1300" dirty="0">
                <a:solidFill>
                  <a:srgbClr val="F2F4F7"/>
                </a:solidFill>
                <a:latin typeface="Barlow" pitchFamily="34" charset="0"/>
                <a:ea typeface="Barlow" pitchFamily="34" charset="-122"/>
                <a:cs typeface="Barlow" pitchFamily="34" charset="-120"/>
              </a:rPr>
              <a:t>No route from audience to income</a:t>
            </a:r>
            <a:endParaRPr lang="en-US" sz="1300" dirty="0"/>
          </a:p>
        </p:txBody>
      </p:sp>
      <p:sp>
        <p:nvSpPr>
          <p:cNvPr id="14" name="Text 12"/>
          <p:cNvSpPr txBox="1"/>
          <p:nvPr/>
        </p:nvSpPr>
        <p:spPr>
          <a:xfrm>
            <a:off x="4015130" y="4169664"/>
            <a:ext cx="384048"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5" name="Shape 13"/>
          <p:cNvSpPr/>
          <p:nvPr/>
        </p:nvSpPr>
        <p:spPr>
          <a:xfrm>
            <a:off x="4499762" y="3968496"/>
            <a:ext cx="3192170" cy="841248"/>
          </a:xfrm>
          <a:prstGeom prst="roundRect">
            <a:avLst>
              <a:gd name="adj" fmla="val 4348"/>
            </a:avLst>
          </a:prstGeom>
          <a:solidFill>
            <a:srgbClr val="171A20"/>
          </a:solidFill>
          <a:ln w="9525">
            <a:solidFill>
              <a:srgbClr val="262C35"/>
            </a:solidFill>
            <a:prstDash val="solid"/>
          </a:ln>
        </p:spPr>
      </p:sp>
      <p:sp>
        <p:nvSpPr>
          <p:cNvPr id="16" name="Text 14"/>
          <p:cNvSpPr txBox="1"/>
          <p:nvPr/>
        </p:nvSpPr>
        <p:spPr>
          <a:xfrm>
            <a:off x="4719218" y="4114800"/>
            <a:ext cx="457200" cy="274320"/>
          </a:xfrm>
          <a:prstGeom prst="rect">
            <a:avLst/>
          </a:prstGeom>
          <a:noFill/>
          <a:ln/>
        </p:spPr>
        <p:txBody>
          <a:bodyPr wrap="square" lIns="0" tIns="0" rIns="0" bIns="0" rtlCol="0" anchor="t"/>
          <a:lstStyle/>
          <a:p>
            <a:pPr marL="0" indent="0">
              <a:buNone/>
            </a:pPr>
            <a:r>
              <a:rPr lang="en-US" sz="1500" dirty="0">
                <a:solidFill>
                  <a:srgbClr val="FFB020"/>
                </a:solidFill>
                <a:latin typeface="Barlow Condensed" pitchFamily="34" charset="0"/>
                <a:ea typeface="Barlow Condensed" pitchFamily="34" charset="-122"/>
                <a:cs typeface="Barlow Condensed" pitchFamily="34" charset="-120"/>
              </a:rPr>
              <a:t>02</a:t>
            </a:r>
            <a:endParaRPr lang="en-US" sz="1500" dirty="0"/>
          </a:p>
        </p:txBody>
      </p:sp>
      <p:sp>
        <p:nvSpPr>
          <p:cNvPr id="17" name="Text 15"/>
          <p:cNvSpPr txBox="1"/>
          <p:nvPr/>
        </p:nvSpPr>
        <p:spPr>
          <a:xfrm>
            <a:off x="5176418" y="4114800"/>
            <a:ext cx="2277770" cy="566928"/>
          </a:xfrm>
          <a:prstGeom prst="rect">
            <a:avLst/>
          </a:prstGeom>
          <a:noFill/>
          <a:ln/>
        </p:spPr>
        <p:txBody>
          <a:bodyPr wrap="square" lIns="0" tIns="0" rIns="0" bIns="0" rtlCol="0" anchor="t"/>
          <a:lstStyle/>
          <a:p>
            <a:pPr marL="0" indent="0">
              <a:lnSpc>
                <a:spcPts val="1700"/>
              </a:lnSpc>
              <a:buNone/>
            </a:pPr>
            <a:r>
              <a:rPr lang="en-US" sz="1300" dirty="0">
                <a:solidFill>
                  <a:srgbClr val="F2F4F7"/>
                </a:solidFill>
                <a:latin typeface="Barlow" pitchFamily="34" charset="0"/>
                <a:ea typeface="Barlow" pitchFamily="34" charset="-122"/>
                <a:cs typeface="Barlow" pitchFamily="34" charset="-120"/>
              </a:rPr>
              <a:t>So no reason to build an audience</a:t>
            </a:r>
            <a:endParaRPr lang="en-US" sz="1300" dirty="0"/>
          </a:p>
        </p:txBody>
      </p:sp>
      <p:sp>
        <p:nvSpPr>
          <p:cNvPr id="18" name="Text 16"/>
          <p:cNvSpPr txBox="1"/>
          <p:nvPr/>
        </p:nvSpPr>
        <p:spPr>
          <a:xfrm>
            <a:off x="7801661" y="4169664"/>
            <a:ext cx="384048"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9" name="Shape 17"/>
          <p:cNvSpPr/>
          <p:nvPr/>
        </p:nvSpPr>
        <p:spPr>
          <a:xfrm>
            <a:off x="8286293" y="3968496"/>
            <a:ext cx="3192170" cy="841248"/>
          </a:xfrm>
          <a:prstGeom prst="roundRect">
            <a:avLst>
              <a:gd name="adj" fmla="val 4348"/>
            </a:avLst>
          </a:prstGeom>
          <a:solidFill>
            <a:srgbClr val="171A20"/>
          </a:solidFill>
          <a:ln w="9525">
            <a:solidFill>
              <a:srgbClr val="262C35"/>
            </a:solidFill>
            <a:prstDash val="solid"/>
          </a:ln>
        </p:spPr>
      </p:sp>
      <p:sp>
        <p:nvSpPr>
          <p:cNvPr id="20" name="Text 18"/>
          <p:cNvSpPr txBox="1"/>
          <p:nvPr/>
        </p:nvSpPr>
        <p:spPr>
          <a:xfrm>
            <a:off x="8505749" y="4114800"/>
            <a:ext cx="457200" cy="274320"/>
          </a:xfrm>
          <a:prstGeom prst="rect">
            <a:avLst/>
          </a:prstGeom>
          <a:noFill/>
          <a:ln/>
        </p:spPr>
        <p:txBody>
          <a:bodyPr wrap="square" lIns="0" tIns="0" rIns="0" bIns="0" rtlCol="0" anchor="t"/>
          <a:lstStyle/>
          <a:p>
            <a:pPr marL="0" indent="0">
              <a:buNone/>
            </a:pPr>
            <a:r>
              <a:rPr lang="en-US" sz="1500" dirty="0">
                <a:solidFill>
                  <a:srgbClr val="FFB020"/>
                </a:solidFill>
                <a:latin typeface="Barlow Condensed" pitchFamily="34" charset="0"/>
                <a:ea typeface="Barlow Condensed" pitchFamily="34" charset="-122"/>
                <a:cs typeface="Barlow Condensed" pitchFamily="34" charset="-120"/>
              </a:rPr>
              <a:t>03</a:t>
            </a:r>
            <a:endParaRPr lang="en-US" sz="1500" dirty="0"/>
          </a:p>
        </p:txBody>
      </p:sp>
      <p:sp>
        <p:nvSpPr>
          <p:cNvPr id="21" name="Text 19"/>
          <p:cNvSpPr txBox="1"/>
          <p:nvPr/>
        </p:nvSpPr>
        <p:spPr>
          <a:xfrm>
            <a:off x="8962949" y="4114800"/>
            <a:ext cx="2277770" cy="566928"/>
          </a:xfrm>
          <a:prstGeom prst="rect">
            <a:avLst/>
          </a:prstGeom>
          <a:noFill/>
          <a:ln/>
        </p:spPr>
        <p:txBody>
          <a:bodyPr wrap="square" lIns="0" tIns="0" rIns="0" bIns="0" rtlCol="0" anchor="t"/>
          <a:lstStyle/>
          <a:p>
            <a:pPr marL="0" indent="0">
              <a:lnSpc>
                <a:spcPts val="1700"/>
              </a:lnSpc>
              <a:buNone/>
            </a:pPr>
            <a:r>
              <a:rPr lang="en-US" sz="1300" dirty="0">
                <a:solidFill>
                  <a:srgbClr val="F2F4F7"/>
                </a:solidFill>
                <a:latin typeface="Barlow" pitchFamily="34" charset="0"/>
                <a:ea typeface="Barlow" pitchFamily="34" charset="-122"/>
                <a:cs typeface="Barlow" pitchFamily="34" charset="-120"/>
              </a:rPr>
              <a:t>So the market measures smaller than it is</a:t>
            </a:r>
            <a:endParaRPr lang="en-US" sz="1300" dirty="0"/>
          </a:p>
        </p:txBody>
      </p:sp>
      <p:sp>
        <p:nvSpPr>
          <p:cNvPr id="22" name="Text 20"/>
          <p:cNvSpPr txBox="1"/>
          <p:nvPr/>
        </p:nvSpPr>
        <p:spPr>
          <a:xfrm>
            <a:off x="713232" y="5010912"/>
            <a:ext cx="10765231" cy="54864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So the market is sized under the very incentives that suppress it. The plan does not claim the expansion, and the honest error direction is understatement.</a:t>
            </a:r>
            <a:endParaRPr lang="en-US" sz="14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PRODUCT</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A creator platform with a sponsorship feature</a:t>
            </a:r>
            <a:endParaRPr lang="en-US" sz="3600" dirty="0"/>
          </a:p>
        </p:txBody>
      </p:sp>
      <p:sp>
        <p:nvSpPr>
          <p:cNvPr id="4" name="Shape 2"/>
          <p:cNvSpPr/>
          <p:nvPr/>
        </p:nvSpPr>
        <p:spPr>
          <a:xfrm>
            <a:off x="713232" y="1993392"/>
            <a:ext cx="3405530" cy="2852928"/>
          </a:xfrm>
          <a:prstGeom prst="roundRect">
            <a:avLst>
              <a:gd name="adj" fmla="val 1282"/>
            </a:avLst>
          </a:prstGeom>
          <a:solidFill>
            <a:srgbClr val="171A20"/>
          </a:solidFill>
          <a:ln w="9525">
            <a:solidFill>
              <a:srgbClr val="262C35"/>
            </a:solidFill>
            <a:prstDash val="solid"/>
          </a:ln>
        </p:spPr>
      </p:sp>
      <p:sp>
        <p:nvSpPr>
          <p:cNvPr id="5" name="Text 3"/>
          <p:cNvSpPr txBox="1"/>
          <p:nvPr/>
        </p:nvSpPr>
        <p:spPr>
          <a:xfrm>
            <a:off x="987552" y="2231136"/>
            <a:ext cx="2856890" cy="292608"/>
          </a:xfrm>
          <a:prstGeom prst="rect">
            <a:avLst/>
          </a:prstGeom>
          <a:noFill/>
          <a:ln/>
        </p:spPr>
        <p:txBody>
          <a:bodyPr wrap="square" lIns="0" tIns="0" rIns="0" bIns="0" rtlCol="0" anchor="t"/>
          <a:lstStyle/>
          <a:p>
            <a:pPr marL="0" indent="0">
              <a:buNone/>
            </a:pPr>
            <a:r>
              <a:rPr lang="en-US" sz="2200" kern="0" spc="160" dirty="0">
                <a:solidFill>
                  <a:srgbClr val="FFB020"/>
                </a:solidFill>
                <a:latin typeface="Barlow Condensed" pitchFamily="34" charset="0"/>
                <a:ea typeface="Barlow Condensed" pitchFamily="34" charset="-122"/>
                <a:cs typeface="Barlow Condensed" pitchFamily="34" charset="-120"/>
              </a:rPr>
              <a:t>ATHLETE</a:t>
            </a:r>
            <a:endParaRPr lang="en-US" sz="2200" dirty="0"/>
          </a:p>
        </p:txBody>
      </p:sp>
      <p:sp>
        <p:nvSpPr>
          <p:cNvPr id="6" name="Text 4"/>
          <p:cNvSpPr txBox="1"/>
          <p:nvPr/>
        </p:nvSpPr>
        <p:spPr>
          <a:xfrm>
            <a:off x="987552" y="2560320"/>
            <a:ext cx="2856890" cy="219456"/>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SUPPLY, AND THE CONSTRAINT</a:t>
            </a:r>
            <a:endParaRPr lang="en-US" sz="1050" dirty="0"/>
          </a:p>
        </p:txBody>
      </p:sp>
      <p:sp>
        <p:nvSpPr>
          <p:cNvPr id="7" name="Text 5"/>
          <p:cNvSpPr txBox="1"/>
          <p:nvPr/>
        </p:nvSpPr>
        <p:spPr>
          <a:xfrm>
            <a:off x="987552" y="2907792"/>
            <a:ext cx="2856890" cy="128016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Connects platforms, passes an admission gate, gets a paid fan page and a place in the sponsor-facing engine.</a:t>
            </a:r>
            <a:endParaRPr lang="en-US" sz="1350" dirty="0"/>
          </a:p>
        </p:txBody>
      </p:sp>
      <p:sp>
        <p:nvSpPr>
          <p:cNvPr id="8" name="Shape 6"/>
          <p:cNvSpPr/>
          <p:nvPr/>
        </p:nvSpPr>
        <p:spPr>
          <a:xfrm>
            <a:off x="987552" y="4224528"/>
            <a:ext cx="2856890" cy="12802"/>
          </a:xfrm>
          <a:prstGeom prst="rect">
            <a:avLst/>
          </a:prstGeom>
          <a:solidFill>
            <a:srgbClr val="262C35"/>
          </a:solidFill>
          <a:ln w="12700">
            <a:solidFill>
              <a:srgbClr val="333333"/>
            </a:solidFill>
            <a:prstDash val="solid"/>
          </a:ln>
        </p:spPr>
      </p:sp>
      <p:sp>
        <p:nvSpPr>
          <p:cNvPr id="9" name="Text 7"/>
          <p:cNvSpPr txBox="1"/>
          <p:nvPr/>
        </p:nvSpPr>
        <p:spPr>
          <a:xfrm>
            <a:off x="987552" y="4352544"/>
            <a:ext cx="2856890" cy="310896"/>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Pays nothing. No monthly fee, ever</a:t>
            </a:r>
            <a:endParaRPr lang="en-US" sz="1700" dirty="0"/>
          </a:p>
        </p:txBody>
      </p:sp>
      <p:sp>
        <p:nvSpPr>
          <p:cNvPr id="10" name="Shape 8"/>
          <p:cNvSpPr/>
          <p:nvPr/>
        </p:nvSpPr>
        <p:spPr>
          <a:xfrm>
            <a:off x="4393082" y="1993392"/>
            <a:ext cx="3405530" cy="2852928"/>
          </a:xfrm>
          <a:prstGeom prst="roundRect">
            <a:avLst>
              <a:gd name="adj" fmla="val 1282"/>
            </a:avLst>
          </a:prstGeom>
          <a:solidFill>
            <a:srgbClr val="171A20"/>
          </a:solidFill>
          <a:ln w="9525">
            <a:solidFill>
              <a:srgbClr val="262C35"/>
            </a:solidFill>
            <a:prstDash val="solid"/>
          </a:ln>
        </p:spPr>
      </p:sp>
      <p:sp>
        <p:nvSpPr>
          <p:cNvPr id="11" name="Text 9"/>
          <p:cNvSpPr txBox="1"/>
          <p:nvPr/>
        </p:nvSpPr>
        <p:spPr>
          <a:xfrm>
            <a:off x="4667402" y="2231136"/>
            <a:ext cx="2856890" cy="292608"/>
          </a:xfrm>
          <a:prstGeom prst="rect">
            <a:avLst/>
          </a:prstGeom>
          <a:noFill/>
          <a:ln/>
        </p:spPr>
        <p:txBody>
          <a:bodyPr wrap="square" lIns="0" tIns="0" rIns="0" bIns="0" rtlCol="0" anchor="t"/>
          <a:lstStyle/>
          <a:p>
            <a:pPr marL="0" indent="0">
              <a:buNone/>
            </a:pPr>
            <a:r>
              <a:rPr lang="en-US" sz="2200" kern="0" spc="160" dirty="0">
                <a:solidFill>
                  <a:srgbClr val="1FBD85"/>
                </a:solidFill>
                <a:latin typeface="Barlow Condensed" pitchFamily="34" charset="0"/>
                <a:ea typeface="Barlow Condensed" pitchFamily="34" charset="-122"/>
                <a:cs typeface="Barlow Condensed" pitchFamily="34" charset="-120"/>
              </a:rPr>
              <a:t>FAN</a:t>
            </a:r>
            <a:endParaRPr lang="en-US" sz="2200" dirty="0"/>
          </a:p>
        </p:txBody>
      </p:sp>
      <p:sp>
        <p:nvSpPr>
          <p:cNvPr id="12" name="Text 10"/>
          <p:cNvSpPr txBox="1"/>
          <p:nvPr/>
        </p:nvSpPr>
        <p:spPr>
          <a:xfrm>
            <a:off x="4667402" y="2560320"/>
            <a:ext cx="2856890" cy="219456"/>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PAYS FOR ACCESS</a:t>
            </a:r>
            <a:endParaRPr lang="en-US" sz="1050" dirty="0"/>
          </a:p>
        </p:txBody>
      </p:sp>
      <p:sp>
        <p:nvSpPr>
          <p:cNvPr id="13" name="Text 11"/>
          <p:cNvSpPr txBox="1"/>
          <p:nvPr/>
        </p:nvSpPr>
        <p:spPr>
          <a:xfrm>
            <a:off x="4667402" y="2907792"/>
            <a:ext cx="2856890" cy="128016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Subscribes to an athlete they already follow, at tiers the athlete sets.</a:t>
            </a:r>
            <a:endParaRPr lang="en-US" sz="1350" dirty="0"/>
          </a:p>
        </p:txBody>
      </p:sp>
      <p:sp>
        <p:nvSpPr>
          <p:cNvPr id="14" name="Shape 12"/>
          <p:cNvSpPr/>
          <p:nvPr/>
        </p:nvSpPr>
        <p:spPr>
          <a:xfrm>
            <a:off x="4667402" y="4224528"/>
            <a:ext cx="2856890" cy="12802"/>
          </a:xfrm>
          <a:prstGeom prst="rect">
            <a:avLst/>
          </a:prstGeom>
          <a:solidFill>
            <a:srgbClr val="262C35"/>
          </a:solidFill>
          <a:ln w="12700">
            <a:solidFill>
              <a:srgbClr val="333333"/>
            </a:solidFill>
            <a:prstDash val="solid"/>
          </a:ln>
        </p:spPr>
      </p:sp>
      <p:sp>
        <p:nvSpPr>
          <p:cNvPr id="15" name="Text 13"/>
          <p:cNvSpPr txBox="1"/>
          <p:nvPr/>
        </p:nvSpPr>
        <p:spPr>
          <a:xfrm>
            <a:off x="4667402" y="4352544"/>
            <a:ext cx="2856890" cy="310896"/>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15% of fan revenue</a:t>
            </a:r>
            <a:endParaRPr lang="en-US" sz="1700" dirty="0"/>
          </a:p>
        </p:txBody>
      </p:sp>
      <p:sp>
        <p:nvSpPr>
          <p:cNvPr id="16" name="Shape 14"/>
          <p:cNvSpPr/>
          <p:nvPr/>
        </p:nvSpPr>
        <p:spPr>
          <a:xfrm>
            <a:off x="8072933" y="1993392"/>
            <a:ext cx="3405530" cy="2852928"/>
          </a:xfrm>
          <a:prstGeom prst="roundRect">
            <a:avLst>
              <a:gd name="adj" fmla="val 1282"/>
            </a:avLst>
          </a:prstGeom>
          <a:solidFill>
            <a:srgbClr val="171A20"/>
          </a:solidFill>
          <a:ln w="9525">
            <a:solidFill>
              <a:srgbClr val="262C35"/>
            </a:solidFill>
            <a:prstDash val="solid"/>
          </a:ln>
        </p:spPr>
      </p:sp>
      <p:sp>
        <p:nvSpPr>
          <p:cNvPr id="17" name="Text 15"/>
          <p:cNvSpPr txBox="1"/>
          <p:nvPr/>
        </p:nvSpPr>
        <p:spPr>
          <a:xfrm>
            <a:off x="8347253" y="2231136"/>
            <a:ext cx="2856890" cy="292608"/>
          </a:xfrm>
          <a:prstGeom prst="rect">
            <a:avLst/>
          </a:prstGeom>
          <a:noFill/>
          <a:ln/>
        </p:spPr>
        <p:txBody>
          <a:bodyPr wrap="square" lIns="0" tIns="0" rIns="0" bIns="0" rtlCol="0" anchor="t"/>
          <a:lstStyle/>
          <a:p>
            <a:pPr marL="0" indent="0">
              <a:buNone/>
            </a:pPr>
            <a:r>
              <a:rPr lang="en-US" sz="2200" kern="0" spc="160" dirty="0">
                <a:solidFill>
                  <a:srgbClr val="3B86E0"/>
                </a:solidFill>
                <a:latin typeface="Barlow Condensed" pitchFamily="34" charset="0"/>
                <a:ea typeface="Barlow Condensed" pitchFamily="34" charset="-122"/>
                <a:cs typeface="Barlow Condensed" pitchFamily="34" charset="-120"/>
              </a:rPr>
              <a:t>SPONSOR</a:t>
            </a:r>
            <a:endParaRPr lang="en-US" sz="2200" dirty="0"/>
          </a:p>
        </p:txBody>
      </p:sp>
      <p:sp>
        <p:nvSpPr>
          <p:cNvPr id="18" name="Text 16"/>
          <p:cNvSpPr txBox="1"/>
          <p:nvPr/>
        </p:nvSpPr>
        <p:spPr>
          <a:xfrm>
            <a:off x="8347253" y="2560320"/>
            <a:ext cx="2856890" cy="219456"/>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PAYS FOR ATTENTION</a:t>
            </a:r>
            <a:endParaRPr lang="en-US" sz="1050" dirty="0"/>
          </a:p>
        </p:txBody>
      </p:sp>
      <p:sp>
        <p:nvSpPr>
          <p:cNvPr id="19" name="Text 17"/>
          <p:cNvSpPr txBox="1"/>
          <p:nvPr/>
        </p:nvSpPr>
        <p:spPr>
          <a:xfrm>
            <a:off x="8347253" y="2907792"/>
            <a:ext cx="2856890" cy="128016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Briefs a campaign and gets a ranked shortlist with the arithmetic shown, then measures delivery.</a:t>
            </a:r>
            <a:endParaRPr lang="en-US" sz="1350" dirty="0"/>
          </a:p>
        </p:txBody>
      </p:sp>
      <p:sp>
        <p:nvSpPr>
          <p:cNvPr id="20" name="Shape 18"/>
          <p:cNvSpPr/>
          <p:nvPr/>
        </p:nvSpPr>
        <p:spPr>
          <a:xfrm>
            <a:off x="8347253" y="4224528"/>
            <a:ext cx="2856890" cy="12802"/>
          </a:xfrm>
          <a:prstGeom prst="rect">
            <a:avLst/>
          </a:prstGeom>
          <a:solidFill>
            <a:srgbClr val="262C35"/>
          </a:solidFill>
          <a:ln w="12700">
            <a:solidFill>
              <a:srgbClr val="333333"/>
            </a:solidFill>
            <a:prstDash val="solid"/>
          </a:ln>
        </p:spPr>
      </p:sp>
      <p:sp>
        <p:nvSpPr>
          <p:cNvPr id="21" name="Text 19"/>
          <p:cNvSpPr txBox="1"/>
          <p:nvPr/>
        </p:nvSpPr>
        <p:spPr>
          <a:xfrm>
            <a:off x="8347253" y="4352544"/>
            <a:ext cx="2856890" cy="310896"/>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10% of sponsorship</a:t>
            </a:r>
            <a:endParaRPr lang="en-US" sz="1700" dirty="0"/>
          </a:p>
        </p:txBody>
      </p:sp>
      <p:sp>
        <p:nvSpPr>
          <p:cNvPr id="22" name="Text 20"/>
          <p:cNvSpPr txBox="1"/>
          <p:nvPr/>
        </p:nvSpPr>
        <p:spPr>
          <a:xfrm>
            <a:off x="713232" y="5084064"/>
            <a:ext cx="10765231" cy="54864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Fan revenue leads and funds the early years. Sponsorship compounds behind it, and the analytics engine earns its keep by making the second payer possible, which a general creator platform cannot do.</a:t>
            </a:r>
            <a:endParaRPr lang="en-US" sz="14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NOT A MOCKUP</a:t>
            </a:r>
            <a:endParaRPr lang="en-US" sz="1250" dirty="0"/>
          </a:p>
        </p:txBody>
      </p:sp>
      <p:sp>
        <p:nvSpPr>
          <p:cNvPr id="3" name="Text 1"/>
          <p:cNvSpPr txBox="1"/>
          <p:nvPr/>
        </p:nvSpPr>
        <p:spPr>
          <a:xfrm>
            <a:off x="713232" y="786384"/>
            <a:ext cx="3794760" cy="1463040"/>
          </a:xfrm>
          <a:prstGeom prst="rect">
            <a:avLst/>
          </a:prstGeom>
          <a:noFill/>
          <a:ln/>
        </p:spPr>
        <p:txBody>
          <a:bodyPr wrap="square" lIns="0" tIns="0" rIns="0" bIns="0" rtlCol="0" anchor="t"/>
          <a:lstStyle/>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It is built, deployed,</a:t>
            </a:r>
            <a:endParaRPr lang="en-US" sz="3300" dirty="0"/>
          </a:p>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and you can open it now</a:t>
            </a:r>
            <a:endParaRPr lang="en-US" sz="3300" dirty="0"/>
          </a:p>
        </p:txBody>
      </p:sp>
      <p:sp>
        <p:nvSpPr>
          <p:cNvPr id="4" name="Shape 2"/>
          <p:cNvSpPr/>
          <p:nvPr/>
        </p:nvSpPr>
        <p:spPr>
          <a:xfrm>
            <a:off x="713232" y="2491740"/>
            <a:ext cx="128016" cy="27432"/>
          </a:xfrm>
          <a:prstGeom prst="rect">
            <a:avLst/>
          </a:prstGeom>
          <a:solidFill>
            <a:srgbClr val="FFB020"/>
          </a:solidFill>
          <a:ln w="12700">
            <a:solidFill>
              <a:srgbClr val="333333"/>
            </a:solidFill>
            <a:prstDash val="solid"/>
          </a:ln>
        </p:spPr>
      </p:sp>
      <p:sp>
        <p:nvSpPr>
          <p:cNvPr id="5" name="Text 3"/>
          <p:cNvSpPr txBox="1"/>
          <p:nvPr/>
        </p:nvSpPr>
        <p:spPr>
          <a:xfrm>
            <a:off x="987552" y="2395728"/>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Admission gate with human review</a:t>
            </a:r>
            <a:endParaRPr lang="en-US" sz="1300" dirty="0"/>
          </a:p>
        </p:txBody>
      </p:sp>
      <p:sp>
        <p:nvSpPr>
          <p:cNvPr id="6" name="Shape 4"/>
          <p:cNvSpPr/>
          <p:nvPr/>
        </p:nvSpPr>
        <p:spPr>
          <a:xfrm>
            <a:off x="713232" y="2816352"/>
            <a:ext cx="128016" cy="27432"/>
          </a:xfrm>
          <a:prstGeom prst="rect">
            <a:avLst/>
          </a:prstGeom>
          <a:solidFill>
            <a:srgbClr val="FFB020"/>
          </a:solidFill>
          <a:ln w="12700">
            <a:solidFill>
              <a:srgbClr val="333333"/>
            </a:solidFill>
            <a:prstDash val="solid"/>
          </a:ln>
        </p:spPr>
      </p:sp>
      <p:sp>
        <p:nvSpPr>
          <p:cNvPr id="7" name="Text 5"/>
          <p:cNvSpPr txBox="1"/>
          <p:nvPr/>
        </p:nvSpPr>
        <p:spPr>
          <a:xfrm>
            <a:off x="987552" y="2720340"/>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Versioned marketability scoring</a:t>
            </a:r>
            <a:endParaRPr lang="en-US" sz="1300" dirty="0"/>
          </a:p>
        </p:txBody>
      </p:sp>
      <p:sp>
        <p:nvSpPr>
          <p:cNvPr id="8" name="Shape 6"/>
          <p:cNvSpPr/>
          <p:nvPr/>
        </p:nvSpPr>
        <p:spPr>
          <a:xfrm>
            <a:off x="713232" y="3140964"/>
            <a:ext cx="128016" cy="27432"/>
          </a:xfrm>
          <a:prstGeom prst="rect">
            <a:avLst/>
          </a:prstGeom>
          <a:solidFill>
            <a:srgbClr val="FFB020"/>
          </a:solidFill>
          <a:ln w="12700">
            <a:solidFill>
              <a:srgbClr val="333333"/>
            </a:solidFill>
            <a:prstDash val="solid"/>
          </a:ln>
        </p:spPr>
      </p:sp>
      <p:sp>
        <p:nvSpPr>
          <p:cNvPr id="9" name="Text 7"/>
          <p:cNvSpPr txBox="1"/>
          <p:nvPr/>
        </p:nvSpPr>
        <p:spPr>
          <a:xfrm>
            <a:off x="987552" y="3044952"/>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Explainable campaign matching</a:t>
            </a:r>
            <a:endParaRPr lang="en-US" sz="1300" dirty="0"/>
          </a:p>
        </p:txBody>
      </p:sp>
      <p:sp>
        <p:nvSpPr>
          <p:cNvPr id="10" name="Shape 8"/>
          <p:cNvSpPr/>
          <p:nvPr/>
        </p:nvSpPr>
        <p:spPr>
          <a:xfrm>
            <a:off x="713232" y="3465576"/>
            <a:ext cx="128016" cy="27432"/>
          </a:xfrm>
          <a:prstGeom prst="rect">
            <a:avLst/>
          </a:prstGeom>
          <a:solidFill>
            <a:srgbClr val="FFB020"/>
          </a:solidFill>
          <a:ln w="12700">
            <a:solidFill>
              <a:srgbClr val="333333"/>
            </a:solidFill>
            <a:prstDash val="solid"/>
          </a:ln>
        </p:spPr>
      </p:sp>
      <p:sp>
        <p:nvSpPr>
          <p:cNvPr id="11" name="Text 9"/>
          <p:cNvSpPr txBox="1"/>
          <p:nvPr/>
        </p:nvSpPr>
        <p:spPr>
          <a:xfrm>
            <a:off x="987552" y="3369564"/>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Offers, deals, delivery measurement</a:t>
            </a:r>
            <a:endParaRPr lang="en-US" sz="1300" dirty="0"/>
          </a:p>
        </p:txBody>
      </p:sp>
      <p:sp>
        <p:nvSpPr>
          <p:cNvPr id="12" name="Shape 10"/>
          <p:cNvSpPr/>
          <p:nvPr/>
        </p:nvSpPr>
        <p:spPr>
          <a:xfrm>
            <a:off x="713232" y="3790188"/>
            <a:ext cx="128016" cy="27432"/>
          </a:xfrm>
          <a:prstGeom prst="rect">
            <a:avLst/>
          </a:prstGeom>
          <a:solidFill>
            <a:srgbClr val="FFB020"/>
          </a:solidFill>
          <a:ln w="12700">
            <a:solidFill>
              <a:srgbClr val="333333"/>
            </a:solidFill>
            <a:prstDash val="solid"/>
          </a:ln>
        </p:spPr>
      </p:sp>
      <p:sp>
        <p:nvSpPr>
          <p:cNvPr id="13" name="Text 11"/>
          <p:cNvSpPr txBox="1"/>
          <p:nvPr/>
        </p:nvSpPr>
        <p:spPr>
          <a:xfrm>
            <a:off x="987552" y="3694176"/>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Audit log and a resilience drill</a:t>
            </a:r>
            <a:endParaRPr lang="en-US" sz="1300" dirty="0"/>
          </a:p>
        </p:txBody>
      </p:sp>
      <p:sp>
        <p:nvSpPr>
          <p:cNvPr id="14" name="Shape 12"/>
          <p:cNvSpPr/>
          <p:nvPr/>
        </p:nvSpPr>
        <p:spPr>
          <a:xfrm>
            <a:off x="713232" y="4114800"/>
            <a:ext cx="128016" cy="27432"/>
          </a:xfrm>
          <a:prstGeom prst="rect">
            <a:avLst/>
          </a:prstGeom>
          <a:solidFill>
            <a:srgbClr val="FFB020"/>
          </a:solidFill>
          <a:ln w="12700">
            <a:solidFill>
              <a:srgbClr val="333333"/>
            </a:solidFill>
            <a:prstDash val="solid"/>
          </a:ln>
        </p:spPr>
      </p:sp>
      <p:sp>
        <p:nvSpPr>
          <p:cNvPr id="15" name="Text 13"/>
          <p:cNvSpPr txBox="1"/>
          <p:nvPr/>
        </p:nvSpPr>
        <p:spPr>
          <a:xfrm>
            <a:off x="987552" y="4018788"/>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Tests on two databases in CI</a:t>
            </a:r>
            <a:endParaRPr lang="en-US" sz="1300" dirty="0"/>
          </a:p>
        </p:txBody>
      </p:sp>
      <p:sp>
        <p:nvSpPr>
          <p:cNvPr id="16" name="Text 14"/>
          <p:cNvSpPr txBox="1"/>
          <p:nvPr/>
        </p:nvSpPr>
        <p:spPr>
          <a:xfrm>
            <a:off x="713232" y="4526280"/>
            <a:ext cx="3657600" cy="310896"/>
          </a:xfrm>
          <a:prstGeom prst="rect">
            <a:avLst/>
          </a:prstGeom>
          <a:noFill/>
          <a:ln/>
        </p:spPr>
        <p:txBody>
          <a:bodyPr wrap="square" lIns="0" tIns="0" rIns="0" bIns="0" rtlCol="0" anchor="t"/>
          <a:lstStyle/>
          <a:p>
            <a:pPr marL="0" indent="0">
              <a:buNone/>
            </a:pPr>
            <a:r>
              <a:rPr lang="en-US" sz="1800" dirty="0">
                <a:solidFill>
                  <a:srgbClr val="FFB020"/>
                </a:solidFill>
                <a:latin typeface="Barlow Condensed" pitchFamily="34" charset="0"/>
                <a:ea typeface="Barlow Condensed" pitchFamily="34" charset="-122"/>
                <a:cs typeface="Barlow Condensed" pitchFamily="34" charset="-120"/>
              </a:rPr>
              <a:t>stride-demo.onrender.com</a:t>
            </a:r>
            <a:endParaRPr lang="en-US" sz="1800" dirty="0"/>
          </a:p>
        </p:txBody>
      </p:sp>
      <p:sp>
        <p:nvSpPr>
          <p:cNvPr id="17" name="Text 15"/>
          <p:cNvSpPr txBox="1"/>
          <p:nvPr/>
        </p:nvSpPr>
        <p:spPr>
          <a:xfrm>
            <a:off x="713232" y="4846320"/>
            <a:ext cx="3657600" cy="27432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Fourteen demo accounts. Registration is open.</a:t>
            </a:r>
            <a:endParaRPr lang="en-US" sz="1150" dirty="0"/>
          </a:p>
        </p:txBody>
      </p:sp>
      <p:pic>
        <p:nvPicPr>
          <p:cNvPr id="18" name="Image 0" descr="C:\Users\User\OneDrive - Universitat Ramón Llull\Desktop\stride\business-plan\attachments\ui\02-athlete-dashboard.png"/>
          <p:cNvPicPr>
            <a:picLocks noChangeAspect="1"/>
          </p:cNvPicPr>
          <p:nvPr/>
        </p:nvPicPr>
        <p:blipFill>
          <a:blip r:embed="rId3"/>
          <a:stretch>
            <a:fillRect/>
          </a:stretch>
        </p:blipFill>
        <p:spPr>
          <a:xfrm>
            <a:off x="4617720" y="685800"/>
            <a:ext cx="7178040" cy="4983480"/>
          </a:xfrm>
          <a:prstGeom prst="rect">
            <a:avLst/>
          </a:prstGeom>
        </p:spPr>
      </p:pic>
      <p:sp>
        <p:nvSpPr>
          <p:cNvPr id="19" name="Text 1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Athlete dashboard, captured from the running application.</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HOW IT WORKS</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Four steps, and a rule that holds all four together</a:t>
            </a:r>
            <a:endParaRPr lang="en-US" sz="3600" dirty="0"/>
          </a:p>
        </p:txBody>
      </p:sp>
      <p:sp>
        <p:nvSpPr>
          <p:cNvPr id="4" name="Shape 2"/>
          <p:cNvSpPr/>
          <p:nvPr/>
        </p:nvSpPr>
        <p:spPr>
          <a:xfrm>
            <a:off x="713232" y="2011680"/>
            <a:ext cx="2519858" cy="2487168"/>
          </a:xfrm>
          <a:prstGeom prst="roundRect">
            <a:avLst>
              <a:gd name="adj" fmla="val 1471"/>
            </a:avLst>
          </a:prstGeom>
          <a:solidFill>
            <a:srgbClr val="171A20"/>
          </a:solidFill>
          <a:ln w="9525">
            <a:solidFill>
              <a:srgbClr val="262C35"/>
            </a:solidFill>
            <a:prstDash val="solid"/>
          </a:ln>
        </p:spPr>
      </p:sp>
      <p:sp>
        <p:nvSpPr>
          <p:cNvPr id="5" name="Text 3"/>
          <p:cNvSpPr txBox="1"/>
          <p:nvPr/>
        </p:nvSpPr>
        <p:spPr>
          <a:xfrm>
            <a:off x="950976"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01</a:t>
            </a:r>
            <a:endParaRPr lang="en-US" sz="3400" dirty="0"/>
          </a:p>
        </p:txBody>
      </p:sp>
      <p:sp>
        <p:nvSpPr>
          <p:cNvPr id="6" name="Text 4"/>
          <p:cNvSpPr txBox="1"/>
          <p:nvPr/>
        </p:nvSpPr>
        <p:spPr>
          <a:xfrm>
            <a:off x="950976"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APPLY</a:t>
            </a:r>
            <a:endParaRPr lang="en-US" sz="1600" dirty="0"/>
          </a:p>
        </p:txBody>
      </p:sp>
      <p:sp>
        <p:nvSpPr>
          <p:cNvPr id="7" name="Text 5"/>
          <p:cNvSpPr txBox="1"/>
          <p:nvPr/>
        </p:nvSpPr>
        <p:spPr>
          <a:xfrm>
            <a:off x="950976"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The athlete connects their platforms and applies. Proof is checked automatically, then a person decides. A club can nominate a whole roster as a second route.</a:t>
            </a:r>
            <a:endParaRPr lang="en-US" sz="1250" dirty="0"/>
          </a:p>
        </p:txBody>
      </p:sp>
      <p:sp>
        <p:nvSpPr>
          <p:cNvPr id="8" name="Shape 6"/>
          <p:cNvSpPr/>
          <p:nvPr/>
        </p:nvSpPr>
        <p:spPr>
          <a:xfrm>
            <a:off x="3461690" y="2011680"/>
            <a:ext cx="2519858" cy="2487168"/>
          </a:xfrm>
          <a:prstGeom prst="roundRect">
            <a:avLst>
              <a:gd name="adj" fmla="val 1471"/>
            </a:avLst>
          </a:prstGeom>
          <a:solidFill>
            <a:srgbClr val="171A20"/>
          </a:solidFill>
          <a:ln w="9525">
            <a:solidFill>
              <a:srgbClr val="262C35"/>
            </a:solidFill>
            <a:prstDash val="solid"/>
          </a:ln>
        </p:spPr>
      </p:sp>
      <p:sp>
        <p:nvSpPr>
          <p:cNvPr id="9" name="Text 7"/>
          <p:cNvSpPr txBox="1"/>
          <p:nvPr/>
        </p:nvSpPr>
        <p:spPr>
          <a:xfrm>
            <a:off x="3699434"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02</a:t>
            </a:r>
            <a:endParaRPr lang="en-US" sz="3400" dirty="0"/>
          </a:p>
        </p:txBody>
      </p:sp>
      <p:sp>
        <p:nvSpPr>
          <p:cNvPr id="10" name="Text 8"/>
          <p:cNvSpPr txBox="1"/>
          <p:nvPr/>
        </p:nvSpPr>
        <p:spPr>
          <a:xfrm>
            <a:off x="3699434"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SCORE</a:t>
            </a:r>
            <a:endParaRPr lang="en-US" sz="1600" dirty="0"/>
          </a:p>
        </p:txBody>
      </p:sp>
      <p:sp>
        <p:nvSpPr>
          <p:cNvPr id="11" name="Text 9"/>
          <p:cNvSpPr txBox="1"/>
          <p:nvPr/>
        </p:nvSpPr>
        <p:spPr>
          <a:xfrm>
            <a:off x="3699434"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Marketability is computed on eight weighted components, each traceable to the posts behind it, and every score version is kept.</a:t>
            </a:r>
            <a:endParaRPr lang="en-US" sz="1250" dirty="0"/>
          </a:p>
        </p:txBody>
      </p:sp>
      <p:sp>
        <p:nvSpPr>
          <p:cNvPr id="12" name="Shape 10"/>
          <p:cNvSpPr/>
          <p:nvPr/>
        </p:nvSpPr>
        <p:spPr>
          <a:xfrm>
            <a:off x="6210148" y="2011680"/>
            <a:ext cx="2519858" cy="2487168"/>
          </a:xfrm>
          <a:prstGeom prst="roundRect">
            <a:avLst>
              <a:gd name="adj" fmla="val 1471"/>
            </a:avLst>
          </a:prstGeom>
          <a:solidFill>
            <a:srgbClr val="171A20"/>
          </a:solidFill>
          <a:ln w="9525">
            <a:solidFill>
              <a:srgbClr val="262C35"/>
            </a:solidFill>
            <a:prstDash val="solid"/>
          </a:ln>
        </p:spPr>
      </p:sp>
      <p:sp>
        <p:nvSpPr>
          <p:cNvPr id="13" name="Text 11"/>
          <p:cNvSpPr txBox="1"/>
          <p:nvPr/>
        </p:nvSpPr>
        <p:spPr>
          <a:xfrm>
            <a:off x="6447892"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03</a:t>
            </a:r>
            <a:endParaRPr lang="en-US" sz="3400" dirty="0"/>
          </a:p>
        </p:txBody>
      </p:sp>
      <p:sp>
        <p:nvSpPr>
          <p:cNvPr id="14" name="Text 12"/>
          <p:cNvSpPr txBox="1"/>
          <p:nvPr/>
        </p:nvSpPr>
        <p:spPr>
          <a:xfrm>
            <a:off x="6447892"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MATCH</a:t>
            </a:r>
            <a:endParaRPr lang="en-US" sz="1600" dirty="0"/>
          </a:p>
        </p:txBody>
      </p:sp>
      <p:sp>
        <p:nvSpPr>
          <p:cNvPr id="15" name="Text 13"/>
          <p:cNvSpPr txBox="1"/>
          <p:nvPr/>
        </p:nvSpPr>
        <p:spPr>
          <a:xfrm>
            <a:off x="6447892"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A sponsor briefs a campaign and receives a ranked shortlist in which every score decomposes: audience fit 72 × 32% = 23.1.</a:t>
            </a:r>
            <a:endParaRPr lang="en-US" sz="1250" dirty="0"/>
          </a:p>
        </p:txBody>
      </p:sp>
      <p:sp>
        <p:nvSpPr>
          <p:cNvPr id="16" name="Shape 14"/>
          <p:cNvSpPr/>
          <p:nvPr/>
        </p:nvSpPr>
        <p:spPr>
          <a:xfrm>
            <a:off x="8958605" y="2011680"/>
            <a:ext cx="2519858" cy="2487168"/>
          </a:xfrm>
          <a:prstGeom prst="roundRect">
            <a:avLst>
              <a:gd name="adj" fmla="val 1471"/>
            </a:avLst>
          </a:prstGeom>
          <a:solidFill>
            <a:srgbClr val="171A20"/>
          </a:solidFill>
          <a:ln w="9525">
            <a:solidFill>
              <a:srgbClr val="262C35"/>
            </a:solidFill>
            <a:prstDash val="solid"/>
          </a:ln>
        </p:spPr>
      </p:sp>
      <p:sp>
        <p:nvSpPr>
          <p:cNvPr id="17" name="Text 15"/>
          <p:cNvSpPr txBox="1"/>
          <p:nvPr/>
        </p:nvSpPr>
        <p:spPr>
          <a:xfrm>
            <a:off x="9196349"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04</a:t>
            </a:r>
            <a:endParaRPr lang="en-US" sz="3400" dirty="0"/>
          </a:p>
        </p:txBody>
      </p:sp>
      <p:sp>
        <p:nvSpPr>
          <p:cNvPr id="18" name="Text 16"/>
          <p:cNvSpPr txBox="1"/>
          <p:nvPr/>
        </p:nvSpPr>
        <p:spPr>
          <a:xfrm>
            <a:off x="9196349"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DEAL</a:t>
            </a:r>
            <a:endParaRPr lang="en-US" sz="1600" dirty="0"/>
          </a:p>
        </p:txBody>
      </p:sp>
      <p:sp>
        <p:nvSpPr>
          <p:cNvPr id="19" name="Text 17"/>
          <p:cNvSpPr txBox="1"/>
          <p:nvPr/>
        </p:nvSpPr>
        <p:spPr>
          <a:xfrm>
            <a:off x="9196349"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Offer, acceptance, delivery measured against what was projected. An unmeasured campaign reads as unmeasured, never as zero.</a:t>
            </a:r>
            <a:endParaRPr lang="en-US" sz="1250" dirty="0"/>
          </a:p>
        </p:txBody>
      </p:sp>
      <p:sp>
        <p:nvSpPr>
          <p:cNvPr id="20" name="Shape 18"/>
          <p:cNvSpPr/>
          <p:nvPr/>
        </p:nvSpPr>
        <p:spPr>
          <a:xfrm>
            <a:off x="713232" y="4718304"/>
            <a:ext cx="10765231" cy="841248"/>
          </a:xfrm>
          <a:prstGeom prst="roundRect">
            <a:avLst>
              <a:gd name="adj" fmla="val 4348"/>
            </a:avLst>
          </a:prstGeom>
          <a:solidFill>
            <a:srgbClr val="1F242C"/>
          </a:solidFill>
          <a:ln w="9525">
            <a:solidFill>
              <a:srgbClr val="262C35"/>
            </a:solidFill>
            <a:prstDash val="solid"/>
          </a:ln>
        </p:spPr>
      </p:sp>
      <p:sp>
        <p:nvSpPr>
          <p:cNvPr id="21" name="Text 19"/>
          <p:cNvSpPr txBox="1"/>
          <p:nvPr/>
        </p:nvSpPr>
        <p:spPr>
          <a:xfrm>
            <a:off x="987552" y="4901184"/>
            <a:ext cx="2743200" cy="237744"/>
          </a:xfrm>
          <a:prstGeom prst="rect">
            <a:avLst/>
          </a:prstGeom>
          <a:noFill/>
          <a:ln/>
        </p:spPr>
        <p:txBody>
          <a:bodyPr wrap="square" lIns="0" tIns="0" rIns="0" bIns="0" rtlCol="0" anchor="t"/>
          <a:lstStyle/>
          <a:p>
            <a:pPr marL="0" indent="0">
              <a:buNone/>
            </a:pPr>
            <a:r>
              <a:rPr lang="en-US" sz="1400" kern="0" spc="240" dirty="0">
                <a:solidFill>
                  <a:srgbClr val="FFB020"/>
                </a:solidFill>
                <a:latin typeface="Barlow Condensed" pitchFamily="34" charset="0"/>
                <a:ea typeface="Barlow Condensed" pitchFamily="34" charset="-122"/>
                <a:cs typeface="Barlow Condensed" pitchFamily="34" charset="-120"/>
              </a:rPr>
              <a:t>NOTHING SELF-VERIFIES</a:t>
            </a:r>
            <a:endParaRPr lang="en-US" sz="1400" dirty="0"/>
          </a:p>
        </p:txBody>
      </p:sp>
      <p:sp>
        <p:nvSpPr>
          <p:cNvPr id="22" name="Text 20"/>
          <p:cNvSpPr txBox="1"/>
          <p:nvPr/>
        </p:nvSpPr>
        <p:spPr>
          <a:xfrm>
            <a:off x="3913632" y="4882896"/>
            <a:ext cx="7290511" cy="54864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A club scoring above the verification bar still waits for a human. A rejected proof cannot be cleared by re-submitting the form. That is what a sponsor is actually buying.</a:t>
            </a:r>
            <a:endParaRPr lang="en-US" sz="13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PRIMARY RESEARCH</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The research changed the product, which is the point of doing it</a:t>
            </a:r>
            <a:endParaRPr lang="en-US" sz="3600" dirty="0"/>
          </a:p>
        </p:txBody>
      </p:sp>
      <p:sp>
        <p:nvSpPr>
          <p:cNvPr id="4" name="Shape 2"/>
          <p:cNvSpPr/>
          <p:nvPr/>
        </p:nvSpPr>
        <p:spPr>
          <a:xfrm>
            <a:off x="713232" y="1920240"/>
            <a:ext cx="6583680" cy="3017520"/>
          </a:xfrm>
          <a:prstGeom prst="roundRect">
            <a:avLst>
              <a:gd name="adj" fmla="val 1212"/>
            </a:avLst>
          </a:prstGeom>
          <a:solidFill>
            <a:srgbClr val="171A20"/>
          </a:solidFill>
          <a:ln w="9525">
            <a:solidFill>
              <a:srgbClr val="262C35"/>
            </a:solidFill>
            <a:prstDash val="solid"/>
          </a:ln>
        </p:spPr>
      </p:sp>
      <p:sp>
        <p:nvSpPr>
          <p:cNvPr id="5" name="Text 3"/>
          <p:cNvSpPr txBox="1"/>
          <p:nvPr/>
        </p:nvSpPr>
        <p:spPr>
          <a:xfrm>
            <a:off x="969264" y="1975104"/>
            <a:ext cx="914400" cy="914400"/>
          </a:xfrm>
          <a:prstGeom prst="rect">
            <a:avLst/>
          </a:prstGeom>
          <a:noFill/>
          <a:ln/>
        </p:spPr>
        <p:txBody>
          <a:bodyPr wrap="square" lIns="0" tIns="0" rIns="0" bIns="0" rtlCol="0" anchor="t"/>
          <a:lstStyle/>
          <a:p>
            <a:pPr marL="0" indent="0">
              <a:buNone/>
            </a:pPr>
            <a:r>
              <a:rPr lang="en-US" sz="7600" dirty="0">
                <a:solidFill>
                  <a:srgbClr val="262C35"/>
                </a:solidFill>
                <a:latin typeface="Barlow Condensed" pitchFamily="34" charset="0"/>
                <a:ea typeface="Barlow Condensed" pitchFamily="34" charset="-122"/>
                <a:cs typeface="Barlow Condensed" pitchFamily="34" charset="-120"/>
              </a:rPr>
              <a:t>“</a:t>
            </a:r>
            <a:endParaRPr lang="en-US" sz="7600" dirty="0"/>
          </a:p>
        </p:txBody>
      </p:sp>
      <p:sp>
        <p:nvSpPr>
          <p:cNvPr id="6" name="Text 4"/>
          <p:cNvSpPr txBox="1"/>
          <p:nvPr/>
        </p:nvSpPr>
        <p:spPr>
          <a:xfrm>
            <a:off x="1097280" y="2670048"/>
            <a:ext cx="5852160" cy="1097280"/>
          </a:xfrm>
          <a:prstGeom prst="rect">
            <a:avLst/>
          </a:prstGeom>
          <a:noFill/>
          <a:ln/>
        </p:spPr>
        <p:txBody>
          <a:bodyPr wrap="square" lIns="0" tIns="0" rIns="0" bIns="0" rtlCol="0" anchor="t"/>
          <a:lstStyle/>
          <a:p>
            <a:pPr marL="0" indent="0">
              <a:lnSpc>
                <a:spcPts val="2800"/>
              </a:lnSpc>
              <a:buNone/>
            </a:pPr>
            <a:r>
              <a:rPr lang="en-US" sz="2000" dirty="0">
                <a:solidFill>
                  <a:srgbClr val="F2F4F7"/>
                </a:solidFill>
                <a:latin typeface="Barlow" pitchFamily="34" charset="0"/>
                <a:ea typeface="Barlow" pitchFamily="34" charset="-122"/>
                <a:cs typeface="Barlow" pitchFamily="34" charset="-120"/>
              </a:rPr>
              <a:t>Open registration to everyone, but build a filtering mechanism so that not anyone can register as an athlete.</a:t>
            </a:r>
            <a:endParaRPr lang="en-US" sz="2000" dirty="0"/>
          </a:p>
        </p:txBody>
      </p:sp>
      <p:sp>
        <p:nvSpPr>
          <p:cNvPr id="7" name="Shape 5"/>
          <p:cNvSpPr/>
          <p:nvPr/>
        </p:nvSpPr>
        <p:spPr>
          <a:xfrm>
            <a:off x="1097280" y="3913632"/>
            <a:ext cx="1005840" cy="18288"/>
          </a:xfrm>
          <a:prstGeom prst="rect">
            <a:avLst/>
          </a:prstGeom>
          <a:solidFill>
            <a:srgbClr val="FFB020"/>
          </a:solidFill>
          <a:ln w="12700">
            <a:solidFill>
              <a:srgbClr val="333333"/>
            </a:solidFill>
            <a:prstDash val="solid"/>
          </a:ln>
        </p:spPr>
      </p:sp>
      <p:sp>
        <p:nvSpPr>
          <p:cNvPr id="8" name="Text 6"/>
          <p:cNvSpPr txBox="1"/>
          <p:nvPr/>
        </p:nvSpPr>
        <p:spPr>
          <a:xfrm>
            <a:off x="1097280" y="4078224"/>
            <a:ext cx="5852160" cy="731520"/>
          </a:xfrm>
          <a:prstGeom prst="rect">
            <a:avLst/>
          </a:prstGeom>
          <a:noFill/>
          <a:ln/>
        </p:spPr>
        <p:txBody>
          <a:bodyPr wrap="square" lIns="0" tIns="0" rIns="0" bIns="0" rtlCol="0" anchor="t"/>
          <a:lstStyle/>
          <a:p>
            <a:pPr marL="0" indent="0">
              <a:lnSpc>
                <a:spcPts val="1700"/>
              </a:lnSpc>
              <a:buNone/>
            </a:pPr>
            <a:r>
              <a:rPr lang="en-US" sz="1250" dirty="0">
                <a:solidFill>
                  <a:srgbClr val="828C9A"/>
                </a:solidFill>
                <a:latin typeface="Barlow" pitchFamily="34" charset="0"/>
                <a:ea typeface="Barlow" pitchFamily="34" charset="-122"/>
                <a:cs typeface="Barlow" pitchFamily="34" charset="-120"/>
              </a:rPr>
              <a:t>Íñigo Cristóbal Losada, AI Lead at olympics.com, after eleven years at Olympic Broadcasting Services, where he was Broadcaster Services Manager through Tokyo 2020 and Beijing 2022.</a:t>
            </a:r>
            <a:endParaRPr lang="en-US" sz="1250" dirty="0"/>
          </a:p>
        </p:txBody>
      </p:sp>
      <p:sp>
        <p:nvSpPr>
          <p:cNvPr id="9" name="Text 7"/>
          <p:cNvSpPr txBox="1"/>
          <p:nvPr/>
        </p:nvSpPr>
        <p:spPr>
          <a:xfrm>
            <a:off x="7772400" y="1920240"/>
            <a:ext cx="3706063" cy="237744"/>
          </a:xfrm>
          <a:prstGeom prst="rect">
            <a:avLst/>
          </a:prstGeom>
          <a:noFill/>
          <a:ln/>
        </p:spPr>
        <p:txBody>
          <a:bodyPr wrap="square" lIns="0" tIns="0" rIns="0" bIns="0" rtlCol="0" anchor="t"/>
          <a:lstStyle/>
          <a:p>
            <a:pPr marL="0" indent="0">
              <a:buNone/>
            </a:pPr>
            <a:r>
              <a:rPr lang="en-US" sz="1200" kern="0" spc="280" dirty="0">
                <a:solidFill>
                  <a:srgbClr val="828C9A"/>
                </a:solidFill>
                <a:latin typeface="Barlow Condensed" pitchFamily="34" charset="0"/>
                <a:ea typeface="Barlow Condensed" pitchFamily="34" charset="-122"/>
                <a:cs typeface="Barlow Condensed" pitchFamily="34" charset="-120"/>
              </a:rPr>
              <a:t>WHAT IT CHANGED</a:t>
            </a:r>
            <a:endParaRPr lang="en-US" sz="1200" dirty="0"/>
          </a:p>
        </p:txBody>
      </p:sp>
      <p:sp>
        <p:nvSpPr>
          <p:cNvPr id="10" name="Text 8"/>
          <p:cNvSpPr txBox="1"/>
          <p:nvPr/>
        </p:nvSpPr>
        <p:spPr>
          <a:xfrm>
            <a:off x="7772400" y="2249424"/>
            <a:ext cx="3706063" cy="914400"/>
          </a:xfrm>
          <a:prstGeom prst="rect">
            <a:avLst/>
          </a:prstGeom>
          <a:noFill/>
          <a:ln/>
        </p:spPr>
        <p:txBody>
          <a:bodyPr wrap="square" lIns="0" tIns="0" rIns="0" bIns="0" rtlCol="0" anchor="t"/>
          <a:lstStyle/>
          <a:p>
            <a:pPr marL="0" indent="0">
              <a:lnSpc>
                <a:spcPts val="2000"/>
              </a:lnSpc>
              <a:buNone/>
            </a:pPr>
            <a:r>
              <a:rPr lang="en-US" sz="1400" dirty="0">
                <a:solidFill>
                  <a:srgbClr val="AEB6C2"/>
                </a:solidFill>
                <a:latin typeface="Barlow" pitchFamily="34" charset="0"/>
                <a:ea typeface="Barlow" pitchFamily="34" charset="-122"/>
                <a:cs typeface="Barlow" pitchFamily="34" charset="-120"/>
              </a:rPr>
              <a:t>I had pitched it to him as a product for the IOC, open only to Olympic athletes. He rejected that framing outright.</a:t>
            </a:r>
            <a:endParaRPr lang="en-US" sz="1400" dirty="0"/>
          </a:p>
        </p:txBody>
      </p:sp>
      <p:sp>
        <p:nvSpPr>
          <p:cNvPr id="11" name="Text 9"/>
          <p:cNvSpPr txBox="1"/>
          <p:nvPr/>
        </p:nvSpPr>
        <p:spPr>
          <a:xfrm>
            <a:off x="7772400" y="3182112"/>
            <a:ext cx="3706063" cy="914400"/>
          </a:xfrm>
          <a:prstGeom prst="rect">
            <a:avLst/>
          </a:prstGeom>
          <a:noFill/>
          <a:ln/>
        </p:spPr>
        <p:txBody>
          <a:bodyPr wrap="square" lIns="0" tIns="0" rIns="0" bIns="0" rtlCol="0" anchor="t"/>
          <a:lstStyle/>
          <a:p>
            <a:pPr marL="0" indent="0">
              <a:lnSpc>
                <a:spcPts val="2000"/>
              </a:lnSpc>
              <a:buNone/>
            </a:pPr>
            <a:r>
              <a:rPr lang="en-US" sz="1400" dirty="0">
                <a:solidFill>
                  <a:srgbClr val="F2F4F7"/>
                </a:solidFill>
                <a:latin typeface="Barlow" pitchFamily="34" charset="0"/>
                <a:ea typeface="Barlow" pitchFamily="34" charset="-122"/>
                <a:cs typeface="Barlow" pitchFamily="34" charset="-120"/>
              </a:rPr>
              <a:t>The admission gate exists because of that conversation. It is not a feature that was designed and then justified.</a:t>
            </a:r>
            <a:endParaRPr lang="en-US" sz="1400" dirty="0"/>
          </a:p>
        </p:txBody>
      </p:sp>
      <p:sp>
        <p:nvSpPr>
          <p:cNvPr id="12" name="Text 10"/>
          <p:cNvSpPr txBox="1"/>
          <p:nvPr/>
        </p:nvSpPr>
        <p:spPr>
          <a:xfrm>
            <a:off x="7772400" y="4114800"/>
            <a:ext cx="3706063" cy="1097280"/>
          </a:xfrm>
          <a:prstGeom prst="rect">
            <a:avLst/>
          </a:prstGeom>
          <a:noFill/>
          <a:ln/>
        </p:spPr>
        <p:txBody>
          <a:bodyPr wrap="square" lIns="0" tIns="0" rIns="0" bIns="0" rtlCol="0" anchor="t"/>
          <a:lstStyle/>
          <a:p>
            <a:pPr marL="0" indent="0">
              <a:lnSpc>
                <a:spcPts val="1800"/>
              </a:lnSpc>
              <a:buNone/>
            </a:pPr>
            <a:r>
              <a:rPr lang="en-US" sz="1300" dirty="0">
                <a:solidFill>
                  <a:srgbClr val="828C9A"/>
                </a:solidFill>
                <a:latin typeface="Barlow" pitchFamily="34" charset="0"/>
                <a:ea typeface="Barlow" pitchFamily="34" charset="-122"/>
                <a:cs typeface="Barlow" pitchFamily="34" charset="-120"/>
              </a:rPr>
              <a:t>It also settled market entry. An IOC-only product inherits the IOC's athletes: elite, represented, already monetised. The segment with the actual problem sits below that tier.</a:t>
            </a:r>
            <a:endParaRPr lang="en-US" sz="13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HOW BIG, BOTTOM UP</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A segment nobody measures is a segment nobody has sized a product for</a:t>
            </a:r>
            <a:endParaRPr lang="en-US" sz="3600" dirty="0"/>
          </a:p>
        </p:txBody>
      </p:sp>
      <p:sp>
        <p:nvSpPr>
          <p:cNvPr id="4" name="Shape 2"/>
          <p:cNvSpPr/>
          <p:nvPr/>
        </p:nvSpPr>
        <p:spPr>
          <a:xfrm>
            <a:off x="713232" y="1993392"/>
            <a:ext cx="5394960" cy="438912"/>
          </a:xfrm>
          <a:prstGeom prst="rect">
            <a:avLst/>
          </a:prstGeom>
          <a:solidFill>
            <a:srgbClr val="262C35"/>
          </a:solidFill>
          <a:ln w="12700">
            <a:solidFill>
              <a:srgbClr val="333333"/>
            </a:solidFill>
            <a:prstDash val="solid"/>
          </a:ln>
        </p:spPr>
      </p:sp>
      <p:sp>
        <p:nvSpPr>
          <p:cNvPr id="5" name="Text 3"/>
          <p:cNvSpPr txBox="1"/>
          <p:nvPr/>
        </p:nvSpPr>
        <p:spPr>
          <a:xfrm>
            <a:off x="877824" y="2020824"/>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520M</a:t>
            </a:r>
            <a:endParaRPr lang="en-US" sz="2100" dirty="0"/>
          </a:p>
        </p:txBody>
      </p:sp>
      <p:sp>
        <p:nvSpPr>
          <p:cNvPr id="6" name="Text 4"/>
          <p:cNvSpPr txBox="1"/>
          <p:nvPr/>
        </p:nvSpPr>
        <p:spPr>
          <a:xfrm>
            <a:off x="6336792" y="2075688"/>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EU-27 and UK population</a:t>
            </a:r>
            <a:endParaRPr lang="en-US" sz="1250" dirty="0"/>
          </a:p>
        </p:txBody>
      </p:sp>
      <p:sp>
        <p:nvSpPr>
          <p:cNvPr id="7" name="Shape 5"/>
          <p:cNvSpPr/>
          <p:nvPr/>
        </p:nvSpPr>
        <p:spPr>
          <a:xfrm>
            <a:off x="713232" y="2596896"/>
            <a:ext cx="3344875" cy="438912"/>
          </a:xfrm>
          <a:prstGeom prst="rect">
            <a:avLst/>
          </a:prstGeom>
          <a:solidFill>
            <a:srgbClr val="262C35"/>
          </a:solidFill>
          <a:ln w="12700">
            <a:solidFill>
              <a:srgbClr val="333333"/>
            </a:solidFill>
            <a:prstDash val="solid"/>
          </a:ln>
        </p:spPr>
      </p:sp>
      <p:sp>
        <p:nvSpPr>
          <p:cNvPr id="8" name="Text 6"/>
          <p:cNvSpPr txBox="1"/>
          <p:nvPr/>
        </p:nvSpPr>
        <p:spPr>
          <a:xfrm>
            <a:off x="877824" y="2624328"/>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8.3M</a:t>
            </a:r>
            <a:endParaRPr lang="en-US" sz="2100" dirty="0"/>
          </a:p>
        </p:txBody>
      </p:sp>
      <p:sp>
        <p:nvSpPr>
          <p:cNvPr id="9" name="Text 7"/>
          <p:cNvSpPr txBox="1"/>
          <p:nvPr/>
        </p:nvSpPr>
        <p:spPr>
          <a:xfrm>
            <a:off x="6336792" y="2679192"/>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Compete at club level or above</a:t>
            </a:r>
            <a:endParaRPr lang="en-US" sz="1250" dirty="0"/>
          </a:p>
        </p:txBody>
      </p:sp>
      <p:sp>
        <p:nvSpPr>
          <p:cNvPr id="10" name="Shape 8"/>
          <p:cNvSpPr/>
          <p:nvPr/>
        </p:nvSpPr>
        <p:spPr>
          <a:xfrm>
            <a:off x="713232" y="3200400"/>
            <a:ext cx="2157984" cy="438912"/>
          </a:xfrm>
          <a:prstGeom prst="rect">
            <a:avLst/>
          </a:prstGeom>
          <a:solidFill>
            <a:srgbClr val="262C35"/>
          </a:solidFill>
          <a:ln w="12700">
            <a:solidFill>
              <a:srgbClr val="333333"/>
            </a:solidFill>
            <a:prstDash val="solid"/>
          </a:ln>
        </p:spPr>
      </p:sp>
      <p:sp>
        <p:nvSpPr>
          <p:cNvPr id="11" name="Text 9"/>
          <p:cNvSpPr txBox="1"/>
          <p:nvPr/>
        </p:nvSpPr>
        <p:spPr>
          <a:xfrm>
            <a:off x="877824" y="3227832"/>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138,000</a:t>
            </a:r>
            <a:endParaRPr lang="en-US" sz="2100" dirty="0"/>
          </a:p>
        </p:txBody>
      </p:sp>
      <p:sp>
        <p:nvSpPr>
          <p:cNvPr id="12" name="Text 10"/>
          <p:cNvSpPr txBox="1"/>
          <p:nvPr/>
        </p:nvSpPr>
        <p:spPr>
          <a:xfrm>
            <a:off x="6336792" y="3282696"/>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TAM: niche sports, 5,000+ followers</a:t>
            </a:r>
            <a:endParaRPr lang="en-US" sz="1250" dirty="0"/>
          </a:p>
        </p:txBody>
      </p:sp>
      <p:sp>
        <p:nvSpPr>
          <p:cNvPr id="13" name="Shape 11"/>
          <p:cNvSpPr/>
          <p:nvPr/>
        </p:nvSpPr>
        <p:spPr>
          <a:xfrm>
            <a:off x="713232" y="3803904"/>
            <a:ext cx="1402690" cy="438912"/>
          </a:xfrm>
          <a:prstGeom prst="rect">
            <a:avLst/>
          </a:prstGeom>
          <a:solidFill>
            <a:srgbClr val="262C35"/>
          </a:solidFill>
          <a:ln w="12700">
            <a:solidFill>
              <a:srgbClr val="333333"/>
            </a:solidFill>
            <a:prstDash val="solid"/>
          </a:ln>
        </p:spPr>
      </p:sp>
      <p:sp>
        <p:nvSpPr>
          <p:cNvPr id="14" name="Text 12"/>
          <p:cNvSpPr txBox="1"/>
          <p:nvPr/>
        </p:nvSpPr>
        <p:spPr>
          <a:xfrm>
            <a:off x="877824" y="3831336"/>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55,000</a:t>
            </a:r>
            <a:endParaRPr lang="en-US" sz="2100" dirty="0"/>
          </a:p>
        </p:txBody>
      </p:sp>
      <p:sp>
        <p:nvSpPr>
          <p:cNvPr id="15" name="Text 13"/>
          <p:cNvSpPr txBox="1"/>
          <p:nvPr/>
        </p:nvSpPr>
        <p:spPr>
          <a:xfrm>
            <a:off x="6336792" y="3886200"/>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SAM: six launch markets</a:t>
            </a:r>
            <a:endParaRPr lang="en-US" sz="1250" dirty="0"/>
          </a:p>
        </p:txBody>
      </p:sp>
      <p:sp>
        <p:nvSpPr>
          <p:cNvPr id="16" name="Shape 14"/>
          <p:cNvSpPr/>
          <p:nvPr/>
        </p:nvSpPr>
        <p:spPr>
          <a:xfrm>
            <a:off x="713232" y="4407408"/>
            <a:ext cx="701345" cy="438912"/>
          </a:xfrm>
          <a:prstGeom prst="rect">
            <a:avLst/>
          </a:prstGeom>
          <a:solidFill>
            <a:srgbClr val="FFB020"/>
          </a:solidFill>
          <a:ln w="12700">
            <a:solidFill>
              <a:srgbClr val="333333"/>
            </a:solidFill>
            <a:prstDash val="solid"/>
          </a:ln>
        </p:spPr>
      </p:sp>
      <p:sp>
        <p:nvSpPr>
          <p:cNvPr id="17" name="Text 15"/>
          <p:cNvSpPr txBox="1"/>
          <p:nvPr/>
        </p:nvSpPr>
        <p:spPr>
          <a:xfrm>
            <a:off x="877824" y="4434840"/>
            <a:ext cx="2011680" cy="365760"/>
          </a:xfrm>
          <a:prstGeom prst="rect">
            <a:avLst/>
          </a:prstGeom>
          <a:noFill/>
          <a:ln/>
        </p:spPr>
        <p:txBody>
          <a:bodyPr wrap="square" lIns="0" tIns="0" rIns="0" bIns="0" rtlCol="0" anchor="t"/>
          <a:lstStyle/>
          <a:p>
            <a:pPr marL="0" indent="0">
              <a:buNone/>
            </a:pPr>
            <a:r>
              <a:rPr lang="en-US" sz="2100" dirty="0">
                <a:solidFill>
                  <a:srgbClr val="14100A"/>
                </a:solidFill>
                <a:latin typeface="Barlow Condensed" pitchFamily="34" charset="0"/>
                <a:ea typeface="Barlow Condensed" pitchFamily="34" charset="-122"/>
                <a:cs typeface="Barlow Condensed" pitchFamily="34" charset="-120"/>
              </a:rPr>
              <a:t>6,300</a:t>
            </a:r>
            <a:endParaRPr lang="en-US" sz="2100" dirty="0"/>
          </a:p>
        </p:txBody>
      </p:sp>
      <p:sp>
        <p:nvSpPr>
          <p:cNvPr id="18" name="Text 16"/>
          <p:cNvSpPr txBox="1"/>
          <p:nvPr/>
        </p:nvSpPr>
        <p:spPr>
          <a:xfrm>
            <a:off x="6336792" y="4489704"/>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Our Y7 target, 11% of SAM</a:t>
            </a:r>
            <a:endParaRPr lang="en-US" sz="1250" dirty="0"/>
          </a:p>
        </p:txBody>
      </p:sp>
      <p:sp>
        <p:nvSpPr>
          <p:cNvPr id="19" name="Shape 17"/>
          <p:cNvSpPr/>
          <p:nvPr/>
        </p:nvSpPr>
        <p:spPr>
          <a:xfrm>
            <a:off x="9098280" y="1993392"/>
            <a:ext cx="2380183" cy="3017520"/>
          </a:xfrm>
          <a:prstGeom prst="roundRect">
            <a:avLst>
              <a:gd name="adj" fmla="val 1537"/>
            </a:avLst>
          </a:prstGeom>
          <a:solidFill>
            <a:srgbClr val="171A20"/>
          </a:solidFill>
          <a:ln w="9525">
            <a:solidFill>
              <a:srgbClr val="262C35"/>
            </a:solidFill>
            <a:prstDash val="solid"/>
          </a:ln>
        </p:spPr>
      </p:sp>
      <p:sp>
        <p:nvSpPr>
          <p:cNvPr id="20" name="Text 18"/>
          <p:cNvSpPr txBox="1"/>
          <p:nvPr/>
        </p:nvSpPr>
        <p:spPr>
          <a:xfrm>
            <a:off x="9345168" y="2231136"/>
            <a:ext cx="2103120" cy="420624"/>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EUROPEAN SPORT SPONSORSHIP</a:t>
            </a:r>
            <a:endParaRPr lang="en-US" sz="1150" dirty="0"/>
          </a:p>
        </p:txBody>
      </p:sp>
      <p:sp>
        <p:nvSpPr>
          <p:cNvPr id="21" name="Text 19"/>
          <p:cNvSpPr txBox="1"/>
          <p:nvPr/>
        </p:nvSpPr>
        <p:spPr>
          <a:xfrm>
            <a:off x="9345168" y="2651760"/>
            <a:ext cx="2103120" cy="472966"/>
          </a:xfrm>
          <a:prstGeom prst="rect">
            <a:avLst/>
          </a:prstGeom>
          <a:noFill/>
          <a:ln/>
        </p:spPr>
        <p:txBody>
          <a:bodyPr wrap="square" lIns="0" tIns="0" rIns="0" bIns="0" rtlCol="0" anchor="t"/>
          <a:lstStyle/>
          <a:p>
            <a:pPr marL="0" indent="0">
              <a:lnSpc>
                <a:spcPts val="2940"/>
              </a:lnSpc>
              <a:buNone/>
            </a:pPr>
            <a:r>
              <a:rPr lang="en-US" sz="3000" dirty="0">
                <a:solidFill>
                  <a:srgbClr val="F2F4F7"/>
                </a:solidFill>
                <a:latin typeface="Barlow Condensed" pitchFamily="34" charset="0"/>
                <a:ea typeface="Barlow Condensed" pitchFamily="34" charset="-122"/>
                <a:cs typeface="Barlow Condensed" pitchFamily="34" charset="-120"/>
              </a:rPr>
              <a:t>€24.79bn</a:t>
            </a:r>
            <a:endParaRPr lang="en-US" sz="3000" dirty="0"/>
          </a:p>
        </p:txBody>
      </p:sp>
      <p:sp>
        <p:nvSpPr>
          <p:cNvPr id="22" name="Text 20"/>
          <p:cNvSpPr txBox="1"/>
          <p:nvPr/>
        </p:nvSpPr>
        <p:spPr>
          <a:xfrm>
            <a:off x="9345168" y="3152158"/>
            <a:ext cx="210312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Growing 5.9% a year</a:t>
            </a:r>
            <a:endParaRPr lang="en-US" sz="1200" dirty="0"/>
          </a:p>
        </p:txBody>
      </p:sp>
      <p:sp>
        <p:nvSpPr>
          <p:cNvPr id="23" name="Shape 21"/>
          <p:cNvSpPr/>
          <p:nvPr/>
        </p:nvSpPr>
        <p:spPr>
          <a:xfrm>
            <a:off x="9345168" y="3529584"/>
            <a:ext cx="1828800" cy="12802"/>
          </a:xfrm>
          <a:prstGeom prst="rect">
            <a:avLst/>
          </a:prstGeom>
          <a:solidFill>
            <a:srgbClr val="262C35"/>
          </a:solidFill>
          <a:ln w="12700">
            <a:solidFill>
              <a:srgbClr val="333333"/>
            </a:solidFill>
            <a:prstDash val="solid"/>
          </a:ln>
        </p:spPr>
      </p:sp>
      <p:sp>
        <p:nvSpPr>
          <p:cNvPr id="24" name="Text 22"/>
          <p:cNvSpPr txBox="1"/>
          <p:nvPr/>
        </p:nvSpPr>
        <p:spPr>
          <a:xfrm>
            <a:off x="9345168" y="3694176"/>
            <a:ext cx="2103120" cy="420624"/>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SPAIN, THE FASTEST MAJOR MARKET</a:t>
            </a:r>
            <a:endParaRPr lang="en-US" sz="1150" dirty="0"/>
          </a:p>
        </p:txBody>
      </p:sp>
      <p:sp>
        <p:nvSpPr>
          <p:cNvPr id="25" name="Text 23"/>
          <p:cNvSpPr txBox="1"/>
          <p:nvPr/>
        </p:nvSpPr>
        <p:spPr>
          <a:xfrm>
            <a:off x="9345168" y="4114800"/>
            <a:ext cx="2103120" cy="472966"/>
          </a:xfrm>
          <a:prstGeom prst="rect">
            <a:avLst/>
          </a:prstGeom>
          <a:noFill/>
          <a:ln/>
        </p:spPr>
        <p:txBody>
          <a:bodyPr wrap="square" lIns="0" tIns="0" rIns="0" bIns="0" rtlCol="0" anchor="t"/>
          <a:lstStyle/>
          <a:p>
            <a:pPr marL="0" indent="0">
              <a:lnSpc>
                <a:spcPts val="2940"/>
              </a:lnSpc>
              <a:buNone/>
            </a:pPr>
            <a:r>
              <a:rPr lang="en-US" sz="3000" dirty="0">
                <a:solidFill>
                  <a:srgbClr val="3FCF8E"/>
                </a:solidFill>
                <a:latin typeface="Barlow Condensed" pitchFamily="34" charset="0"/>
                <a:ea typeface="Barlow Condensed" pitchFamily="34" charset="-122"/>
                <a:cs typeface="Barlow Condensed" pitchFamily="34" charset="-120"/>
              </a:rPr>
              <a:t>+14%</a:t>
            </a:r>
            <a:endParaRPr lang="en-US" sz="3000" dirty="0"/>
          </a:p>
        </p:txBody>
      </p:sp>
      <p:sp>
        <p:nvSpPr>
          <p:cNvPr id="26" name="Text 24"/>
          <p:cNvSpPr txBox="1"/>
          <p:nvPr/>
        </p:nvSpPr>
        <p:spPr>
          <a:xfrm>
            <a:off x="9345168" y="4615198"/>
            <a:ext cx="210312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Ahead of the UK and France</a:t>
            </a:r>
            <a:endParaRPr lang="en-US" sz="1200" dirty="0"/>
          </a:p>
        </p:txBody>
      </p:sp>
      <p:sp>
        <p:nvSpPr>
          <p:cNvPr id="27" name="Text 25"/>
          <p:cNvSpPr txBox="1"/>
          <p:nvPr/>
        </p:nvSpPr>
        <p:spPr>
          <a:xfrm>
            <a:off x="713232" y="5138928"/>
            <a:ext cx="10765231" cy="658368"/>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None of that top-down figure breaks below the professional tier. There is no published number for sponsorship of individual athletes, so the plan does not divide it by anything. The bottom-up funnel exists because the measured market stops exactly where ours starts.</a:t>
            </a:r>
            <a:endParaRPr lang="en-US" sz="1350" dirty="0"/>
          </a:p>
        </p:txBody>
      </p:sp>
      <p:sp>
        <p:nvSpPr>
          <p:cNvPr id="28" name="Text 2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European Sponsorship Association, 2025, via Statista. Funnel: Eurostat, Eurobarometer 525, and the plan's own Sport Opportunity Index.</a:t>
            </a:r>
            <a:endParaRPr lang="en-US" sz="950" dirty="0"/>
          </a:p>
        </p:txBody>
      </p:sp>
      <p:sp>
        <p:nvSpPr>
          <p:cNvPr id="29"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WEDGE</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We start where there is no incumbent, because that is also where the economics are best</a:t>
            </a:r>
            <a:endParaRPr lang="en-US" sz="3600" dirty="0"/>
          </a:p>
        </p:txBody>
      </p:sp>
      <p:sp>
        <p:nvSpPr>
          <p:cNvPr id="4" name="Shape 2"/>
          <p:cNvSpPr/>
          <p:nvPr/>
        </p:nvSpPr>
        <p:spPr>
          <a:xfrm>
            <a:off x="713232" y="2011680"/>
            <a:ext cx="5245456" cy="1938528"/>
          </a:xfrm>
          <a:prstGeom prst="roundRect">
            <a:avLst>
              <a:gd name="adj" fmla="val 1887"/>
            </a:avLst>
          </a:prstGeom>
          <a:solidFill>
            <a:srgbClr val="1F242C"/>
          </a:solidFill>
          <a:ln w="9525">
            <a:solidFill>
              <a:srgbClr val="262C35"/>
            </a:solidFill>
            <a:prstDash val="solid"/>
          </a:ln>
        </p:spPr>
      </p:sp>
      <p:sp>
        <p:nvSpPr>
          <p:cNvPr id="5" name="Text 3"/>
          <p:cNvSpPr txBox="1"/>
          <p:nvPr/>
        </p:nvSpPr>
        <p:spPr>
          <a:xfrm>
            <a:off x="1005840" y="2212848"/>
            <a:ext cx="4660240" cy="274320"/>
          </a:xfrm>
          <a:prstGeom prst="rect">
            <a:avLst/>
          </a:prstGeom>
          <a:noFill/>
          <a:ln/>
        </p:spPr>
        <p:txBody>
          <a:bodyPr wrap="square" lIns="0" tIns="0" rIns="0" bIns="0" rtlCol="0" anchor="t"/>
          <a:lstStyle/>
          <a:p>
            <a:pPr marL="0" indent="0">
              <a:buNone/>
            </a:pPr>
            <a:r>
              <a:rPr lang="en-US" sz="1700" kern="0" spc="200" dirty="0">
                <a:solidFill>
                  <a:srgbClr val="FFB020"/>
                </a:solidFill>
                <a:latin typeface="Barlow Condensed" pitchFamily="34" charset="0"/>
                <a:ea typeface="Barlow Condensed" pitchFamily="34" charset="-122"/>
                <a:cs typeface="Barlow Condensed" pitchFamily="34" charset="-120"/>
              </a:rPr>
              <a:t>NICHE SPORTS</a:t>
            </a:r>
            <a:endParaRPr lang="en-US" sz="1700" dirty="0"/>
          </a:p>
        </p:txBody>
      </p:sp>
      <p:sp>
        <p:nvSpPr>
          <p:cNvPr id="6" name="Text 4"/>
          <p:cNvSpPr txBox="1"/>
          <p:nvPr/>
        </p:nvSpPr>
        <p:spPr>
          <a:xfrm>
            <a:off x="1005840"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€16</a:t>
            </a:r>
            <a:endParaRPr lang="en-US" sz="5200" dirty="0"/>
          </a:p>
        </p:txBody>
      </p:sp>
      <p:sp>
        <p:nvSpPr>
          <p:cNvPr id="7" name="Text 5"/>
          <p:cNvSpPr txBox="1"/>
          <p:nvPr/>
        </p:nvSpPr>
        <p:spPr>
          <a:xfrm>
            <a:off x="1005840"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To acquire one athlete in Y1</a:t>
            </a:r>
            <a:endParaRPr lang="en-US" sz="1150" dirty="0"/>
          </a:p>
        </p:txBody>
      </p:sp>
      <p:sp>
        <p:nvSpPr>
          <p:cNvPr id="8" name="Text 6"/>
          <p:cNvSpPr txBox="1"/>
          <p:nvPr/>
        </p:nvSpPr>
        <p:spPr>
          <a:xfrm>
            <a:off x="3547872"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48%</a:t>
            </a:r>
            <a:endParaRPr lang="en-US" sz="5200" dirty="0"/>
          </a:p>
        </p:txBody>
      </p:sp>
      <p:sp>
        <p:nvSpPr>
          <p:cNvPr id="9" name="Text 7"/>
          <p:cNvSpPr txBox="1"/>
          <p:nvPr/>
        </p:nvSpPr>
        <p:spPr>
          <a:xfrm>
            <a:off x="3547872"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Of them monetise by Y7</a:t>
            </a:r>
            <a:endParaRPr lang="en-US" sz="1150" dirty="0"/>
          </a:p>
        </p:txBody>
      </p:sp>
      <p:sp>
        <p:nvSpPr>
          <p:cNvPr id="10" name="Shape 8"/>
          <p:cNvSpPr/>
          <p:nvPr/>
        </p:nvSpPr>
        <p:spPr>
          <a:xfrm>
            <a:off x="6233008" y="2011680"/>
            <a:ext cx="5245456" cy="1938528"/>
          </a:xfrm>
          <a:prstGeom prst="roundRect">
            <a:avLst>
              <a:gd name="adj" fmla="val 1887"/>
            </a:avLst>
          </a:prstGeom>
          <a:solidFill>
            <a:srgbClr val="171A20"/>
          </a:solidFill>
          <a:ln w="9525">
            <a:solidFill>
              <a:srgbClr val="262C35"/>
            </a:solidFill>
            <a:prstDash val="solid"/>
          </a:ln>
        </p:spPr>
      </p:sp>
      <p:sp>
        <p:nvSpPr>
          <p:cNvPr id="11" name="Text 9"/>
          <p:cNvSpPr txBox="1"/>
          <p:nvPr/>
        </p:nvSpPr>
        <p:spPr>
          <a:xfrm>
            <a:off x="6525616" y="2212848"/>
            <a:ext cx="4660240" cy="274320"/>
          </a:xfrm>
          <a:prstGeom prst="rect">
            <a:avLst/>
          </a:prstGeom>
          <a:noFill/>
          <a:ln/>
        </p:spPr>
        <p:txBody>
          <a:bodyPr wrap="square" lIns="0" tIns="0" rIns="0" bIns="0" rtlCol="0" anchor="t"/>
          <a:lstStyle/>
          <a:p>
            <a:pPr marL="0" indent="0">
              <a:buNone/>
            </a:pPr>
            <a:r>
              <a:rPr lang="en-US" sz="1700" kern="0" spc="200" dirty="0">
                <a:solidFill>
                  <a:srgbClr val="AEB6C2"/>
                </a:solidFill>
                <a:latin typeface="Barlow Condensed" pitchFamily="34" charset="0"/>
                <a:ea typeface="Barlow Condensed" pitchFamily="34" charset="-122"/>
                <a:cs typeface="Barlow Condensed" pitchFamily="34" charset="-120"/>
              </a:rPr>
              <a:t>POPULAR SPORTS</a:t>
            </a:r>
            <a:endParaRPr lang="en-US" sz="1700" dirty="0"/>
          </a:p>
        </p:txBody>
      </p:sp>
      <p:sp>
        <p:nvSpPr>
          <p:cNvPr id="12" name="Text 10"/>
          <p:cNvSpPr txBox="1"/>
          <p:nvPr/>
        </p:nvSpPr>
        <p:spPr>
          <a:xfrm>
            <a:off x="6525616"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€40</a:t>
            </a:r>
            <a:endParaRPr lang="en-US" sz="5200" dirty="0"/>
          </a:p>
        </p:txBody>
      </p:sp>
      <p:sp>
        <p:nvSpPr>
          <p:cNvPr id="13" name="Text 11"/>
          <p:cNvSpPr txBox="1"/>
          <p:nvPr/>
        </p:nvSpPr>
        <p:spPr>
          <a:xfrm>
            <a:off x="6525616"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To acquire one athlete in Y1</a:t>
            </a:r>
            <a:endParaRPr lang="en-US" sz="1150" dirty="0"/>
          </a:p>
        </p:txBody>
      </p:sp>
      <p:sp>
        <p:nvSpPr>
          <p:cNvPr id="14" name="Text 12"/>
          <p:cNvSpPr txBox="1"/>
          <p:nvPr/>
        </p:nvSpPr>
        <p:spPr>
          <a:xfrm>
            <a:off x="9067648"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30%</a:t>
            </a:r>
            <a:endParaRPr lang="en-US" sz="5200" dirty="0"/>
          </a:p>
        </p:txBody>
      </p:sp>
      <p:sp>
        <p:nvSpPr>
          <p:cNvPr id="15" name="Text 13"/>
          <p:cNvSpPr txBox="1"/>
          <p:nvPr/>
        </p:nvSpPr>
        <p:spPr>
          <a:xfrm>
            <a:off x="9067648"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Of them monetise by Y7</a:t>
            </a:r>
            <a:endParaRPr lang="en-US" sz="1150" dirty="0"/>
          </a:p>
        </p:txBody>
      </p:sp>
      <p:sp>
        <p:nvSpPr>
          <p:cNvPr id="16" name="Text 14"/>
          <p:cNvSpPr txBox="1"/>
          <p:nvPr/>
        </p:nvSpPr>
        <p:spPr>
          <a:xfrm>
            <a:off x="713232" y="4224528"/>
            <a:ext cx="10765231" cy="731520"/>
          </a:xfrm>
          <a:prstGeom prst="rect">
            <a:avLst/>
          </a:prstGeom>
          <a:noFill/>
          <a:ln/>
        </p:spPr>
        <p:txBody>
          <a:bodyPr wrap="square" lIns="0" tIns="0" rIns="0" bIns="0" rtlCol="0" anchor="t"/>
          <a:lstStyle/>
          <a:p>
            <a:pPr marL="0" indent="0">
              <a:lnSpc>
                <a:spcPts val="2000"/>
              </a:lnSpc>
              <a:buNone/>
            </a:pPr>
            <a:r>
              <a:rPr lang="en-US" sz="1450" dirty="0">
                <a:solidFill>
                  <a:srgbClr val="AEB6C2"/>
                </a:solidFill>
                <a:latin typeface="Barlow" pitchFamily="34" charset="0"/>
                <a:ea typeface="Barlow" pitchFamily="34" charset="-122"/>
                <a:cs typeface="Barlow" pitchFamily="34" charset="-120"/>
              </a:rPr>
              <a:t>Cheaper to acquire, and a larger share of them earn. Nobody is fighting us for a trail runner with 25,000 followers and an inbox of unanswered brand DMs. What we learn there generalises upward. Football does not generalise downward.</a:t>
            </a:r>
            <a:endParaRPr lang="en-US" sz="1450" dirty="0"/>
          </a:p>
        </p:txBody>
      </p:sp>
      <p:sp>
        <p:nvSpPr>
          <p:cNvPr id="17" name="Text 15"/>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segment assumptions. Acquisition cost rises over the plan as the mix shifts toward popular sports.</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FOUR COMPANIES TRIED THIS BEFORE US</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All four monetise the brand side only. The fan is not in their model</a:t>
            </a:r>
            <a:endParaRPr lang="en-US" sz="3600" dirty="0"/>
          </a:p>
        </p:txBody>
      </p:sp>
      <p:sp>
        <p:nvSpPr>
          <p:cNvPr id="4" name="Text 2"/>
          <p:cNvSpPr txBox="1"/>
          <p:nvPr/>
        </p:nvSpPr>
        <p:spPr>
          <a:xfrm>
            <a:off x="713232" y="1975104"/>
            <a:ext cx="219456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COMPANY</a:t>
            </a:r>
            <a:endParaRPr lang="en-US" sz="1100" dirty="0"/>
          </a:p>
        </p:txBody>
      </p:sp>
      <p:sp>
        <p:nvSpPr>
          <p:cNvPr id="5" name="Text 3"/>
          <p:cNvSpPr txBox="1"/>
          <p:nvPr/>
        </p:nvSpPr>
        <p:spPr>
          <a:xfrm>
            <a:off x="2999232" y="1975104"/>
            <a:ext cx="256032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WHAT IT IS</a:t>
            </a:r>
            <a:endParaRPr lang="en-US" sz="1100" dirty="0"/>
          </a:p>
        </p:txBody>
      </p:sp>
      <p:sp>
        <p:nvSpPr>
          <p:cNvPr id="6" name="Text 4"/>
          <p:cNvSpPr txBox="1"/>
          <p:nvPr/>
        </p:nvSpPr>
        <p:spPr>
          <a:xfrm>
            <a:off x="5650992" y="1975104"/>
            <a:ext cx="91440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AGE</a:t>
            </a:r>
            <a:endParaRPr lang="en-US" sz="1100" dirty="0"/>
          </a:p>
        </p:txBody>
      </p:sp>
      <p:sp>
        <p:nvSpPr>
          <p:cNvPr id="7" name="Text 5"/>
          <p:cNvSpPr txBox="1"/>
          <p:nvPr/>
        </p:nvSpPr>
        <p:spPr>
          <a:xfrm>
            <a:off x="6656832" y="1975104"/>
            <a:ext cx="100584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PEOPLE</a:t>
            </a:r>
            <a:endParaRPr lang="en-US" sz="1100" dirty="0"/>
          </a:p>
        </p:txBody>
      </p:sp>
      <p:sp>
        <p:nvSpPr>
          <p:cNvPr id="8" name="Text 6"/>
          <p:cNvSpPr txBox="1"/>
          <p:nvPr/>
        </p:nvSpPr>
        <p:spPr>
          <a:xfrm>
            <a:off x="7754112" y="1975104"/>
            <a:ext cx="137160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RAISED</a:t>
            </a:r>
            <a:endParaRPr lang="en-US" sz="1100" dirty="0"/>
          </a:p>
        </p:txBody>
      </p:sp>
      <p:sp>
        <p:nvSpPr>
          <p:cNvPr id="9" name="Text 7"/>
          <p:cNvSpPr txBox="1"/>
          <p:nvPr/>
        </p:nvSpPr>
        <p:spPr>
          <a:xfrm>
            <a:off x="9217152" y="1975104"/>
            <a:ext cx="219456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WHERE IT GOT TO</a:t>
            </a:r>
            <a:endParaRPr lang="en-US" sz="1100" dirty="0"/>
          </a:p>
        </p:txBody>
      </p:sp>
      <p:sp>
        <p:nvSpPr>
          <p:cNvPr id="10" name="Shape 8"/>
          <p:cNvSpPr/>
          <p:nvPr/>
        </p:nvSpPr>
        <p:spPr>
          <a:xfrm>
            <a:off x="713232" y="2249424"/>
            <a:ext cx="10765231" cy="12802"/>
          </a:xfrm>
          <a:prstGeom prst="rect">
            <a:avLst/>
          </a:prstGeom>
          <a:solidFill>
            <a:srgbClr val="262C35"/>
          </a:solidFill>
          <a:ln w="12700">
            <a:solidFill>
              <a:srgbClr val="333333"/>
            </a:solidFill>
            <a:prstDash val="solid"/>
          </a:ln>
        </p:spPr>
      </p:sp>
      <p:sp>
        <p:nvSpPr>
          <p:cNvPr id="11" name="Shape 9"/>
          <p:cNvSpPr/>
          <p:nvPr/>
        </p:nvSpPr>
        <p:spPr>
          <a:xfrm>
            <a:off x="603504" y="2304288"/>
            <a:ext cx="10984687" cy="420624"/>
          </a:xfrm>
          <a:prstGeom prst="rect">
            <a:avLst/>
          </a:prstGeom>
          <a:solidFill>
            <a:srgbClr val="171A20"/>
          </a:solidFill>
          <a:ln w="12700">
            <a:solidFill>
              <a:srgbClr val="333333"/>
            </a:solidFill>
            <a:prstDash val="solid"/>
          </a:ln>
        </p:spPr>
      </p:sp>
      <p:sp>
        <p:nvSpPr>
          <p:cNvPr id="12" name="Text 10"/>
          <p:cNvSpPr txBox="1"/>
          <p:nvPr/>
        </p:nvSpPr>
        <p:spPr>
          <a:xfrm>
            <a:off x="713232" y="2359152"/>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Sponsoo</a:t>
            </a:r>
            <a:endParaRPr lang="en-US" sz="1600" dirty="0"/>
          </a:p>
        </p:txBody>
      </p:sp>
      <p:sp>
        <p:nvSpPr>
          <p:cNvPr id="13" name="Text 11"/>
          <p:cNvSpPr txBox="1"/>
          <p:nvPr/>
        </p:nvSpPr>
        <p:spPr>
          <a:xfrm>
            <a:off x="2999232" y="2359152"/>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Marketplace, same model</a:t>
            </a:r>
            <a:endParaRPr lang="en-US" sz="1250" dirty="0"/>
          </a:p>
        </p:txBody>
      </p:sp>
      <p:sp>
        <p:nvSpPr>
          <p:cNvPr id="14" name="Text 12"/>
          <p:cNvSpPr txBox="1"/>
          <p:nvPr/>
        </p:nvSpPr>
        <p:spPr>
          <a:xfrm>
            <a:off x="5650992" y="2359152"/>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11 yrs</a:t>
            </a:r>
            <a:endParaRPr lang="en-US" sz="1250" dirty="0"/>
          </a:p>
        </p:txBody>
      </p:sp>
      <p:sp>
        <p:nvSpPr>
          <p:cNvPr id="15" name="Text 13"/>
          <p:cNvSpPr txBox="1"/>
          <p:nvPr/>
        </p:nvSpPr>
        <p:spPr>
          <a:xfrm>
            <a:off x="6656832" y="2359152"/>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13</a:t>
            </a:r>
            <a:endParaRPr lang="en-US" sz="1250" dirty="0"/>
          </a:p>
        </p:txBody>
      </p:sp>
      <p:sp>
        <p:nvSpPr>
          <p:cNvPr id="16" name="Text 14"/>
          <p:cNvSpPr txBox="1"/>
          <p:nvPr/>
        </p:nvSpPr>
        <p:spPr>
          <a:xfrm>
            <a:off x="7754112" y="2359152"/>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€2.17M</a:t>
            </a:r>
            <a:endParaRPr lang="en-US" sz="1250" dirty="0"/>
          </a:p>
        </p:txBody>
      </p:sp>
      <p:sp>
        <p:nvSpPr>
          <p:cNvPr id="17" name="Text 15"/>
          <p:cNvSpPr txBox="1"/>
          <p:nvPr/>
        </p:nvSpPr>
        <p:spPr>
          <a:xfrm>
            <a:off x="9217152" y="2359152"/>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Total equity zero</a:t>
            </a:r>
            <a:endParaRPr lang="en-US" sz="1250" dirty="0"/>
          </a:p>
        </p:txBody>
      </p:sp>
      <p:sp>
        <p:nvSpPr>
          <p:cNvPr id="18" name="Text 16"/>
          <p:cNvSpPr txBox="1"/>
          <p:nvPr/>
        </p:nvSpPr>
        <p:spPr>
          <a:xfrm>
            <a:off x="713232" y="2834640"/>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OpenSponsorship</a:t>
            </a:r>
            <a:endParaRPr lang="en-US" sz="1600" dirty="0"/>
          </a:p>
        </p:txBody>
      </p:sp>
      <p:sp>
        <p:nvSpPr>
          <p:cNvPr id="19" name="Text 17"/>
          <p:cNvSpPr txBox="1"/>
          <p:nvPr/>
        </p:nvSpPr>
        <p:spPr>
          <a:xfrm>
            <a:off x="2999232" y="2834640"/>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Marketplace, same model</a:t>
            </a:r>
            <a:endParaRPr lang="en-US" sz="1250" dirty="0"/>
          </a:p>
        </p:txBody>
      </p:sp>
      <p:sp>
        <p:nvSpPr>
          <p:cNvPr id="20" name="Text 18"/>
          <p:cNvSpPr txBox="1"/>
          <p:nvPr/>
        </p:nvSpPr>
        <p:spPr>
          <a:xfrm>
            <a:off x="5650992" y="2834640"/>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12 yrs</a:t>
            </a:r>
            <a:endParaRPr lang="en-US" sz="1250" dirty="0"/>
          </a:p>
        </p:txBody>
      </p:sp>
      <p:sp>
        <p:nvSpPr>
          <p:cNvPr id="21" name="Text 19"/>
          <p:cNvSpPr txBox="1"/>
          <p:nvPr/>
        </p:nvSpPr>
        <p:spPr>
          <a:xfrm>
            <a:off x="6656832" y="2834640"/>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23</a:t>
            </a:r>
            <a:endParaRPr lang="en-US" sz="1250" dirty="0"/>
          </a:p>
        </p:txBody>
      </p:sp>
      <p:sp>
        <p:nvSpPr>
          <p:cNvPr id="22" name="Text 20"/>
          <p:cNvSpPr txBox="1"/>
          <p:nvPr/>
        </p:nvSpPr>
        <p:spPr>
          <a:xfrm>
            <a:off x="7754112" y="2834640"/>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€7.6M</a:t>
            </a:r>
            <a:endParaRPr lang="en-US" sz="1250" dirty="0"/>
          </a:p>
        </p:txBody>
      </p:sp>
      <p:sp>
        <p:nvSpPr>
          <p:cNvPr id="23" name="Text 21"/>
          <p:cNvSpPr txBox="1"/>
          <p:nvPr/>
        </p:nvSpPr>
        <p:spPr>
          <a:xfrm>
            <a:off x="9217152" y="2834640"/>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Still private</a:t>
            </a:r>
            <a:endParaRPr lang="en-US" sz="1250" dirty="0"/>
          </a:p>
        </p:txBody>
      </p:sp>
      <p:sp>
        <p:nvSpPr>
          <p:cNvPr id="24" name="Shape 22"/>
          <p:cNvSpPr/>
          <p:nvPr/>
        </p:nvSpPr>
        <p:spPr>
          <a:xfrm>
            <a:off x="603504" y="3255264"/>
            <a:ext cx="10984687" cy="420624"/>
          </a:xfrm>
          <a:prstGeom prst="rect">
            <a:avLst/>
          </a:prstGeom>
          <a:solidFill>
            <a:srgbClr val="171A20"/>
          </a:solidFill>
          <a:ln w="12700">
            <a:solidFill>
              <a:srgbClr val="333333"/>
            </a:solidFill>
            <a:prstDash val="solid"/>
          </a:ln>
        </p:spPr>
      </p:sp>
      <p:sp>
        <p:nvSpPr>
          <p:cNvPr id="25" name="Text 23"/>
          <p:cNvSpPr txBox="1"/>
          <p:nvPr/>
        </p:nvSpPr>
        <p:spPr>
          <a:xfrm>
            <a:off x="713232" y="3310128"/>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Hookit</a:t>
            </a:r>
            <a:endParaRPr lang="en-US" sz="1600" dirty="0"/>
          </a:p>
        </p:txBody>
      </p:sp>
      <p:sp>
        <p:nvSpPr>
          <p:cNvPr id="26" name="Text 24"/>
          <p:cNvSpPr txBox="1"/>
          <p:nvPr/>
        </p:nvSpPr>
        <p:spPr>
          <a:xfrm>
            <a:off x="2999232" y="3310128"/>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Sponsorship data</a:t>
            </a:r>
            <a:endParaRPr lang="en-US" sz="1250" dirty="0"/>
          </a:p>
        </p:txBody>
      </p:sp>
      <p:sp>
        <p:nvSpPr>
          <p:cNvPr id="27" name="Text 25"/>
          <p:cNvSpPr txBox="1"/>
          <p:nvPr/>
        </p:nvSpPr>
        <p:spPr>
          <a:xfrm>
            <a:off x="5650992" y="3310128"/>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18 yrs</a:t>
            </a:r>
            <a:endParaRPr lang="en-US" sz="1250" dirty="0"/>
          </a:p>
        </p:txBody>
      </p:sp>
      <p:sp>
        <p:nvSpPr>
          <p:cNvPr id="28" name="Text 26"/>
          <p:cNvSpPr txBox="1"/>
          <p:nvPr/>
        </p:nvSpPr>
        <p:spPr>
          <a:xfrm>
            <a:off x="6656832" y="3310128"/>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47</a:t>
            </a:r>
            <a:endParaRPr lang="en-US" sz="1250" dirty="0"/>
          </a:p>
        </p:txBody>
      </p:sp>
      <p:sp>
        <p:nvSpPr>
          <p:cNvPr id="29" name="Text 27"/>
          <p:cNvSpPr txBox="1"/>
          <p:nvPr/>
        </p:nvSpPr>
        <p:spPr>
          <a:xfrm>
            <a:off x="7754112" y="3310128"/>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€21.5M</a:t>
            </a:r>
            <a:endParaRPr lang="en-US" sz="1250" dirty="0"/>
          </a:p>
        </p:txBody>
      </p:sp>
      <p:sp>
        <p:nvSpPr>
          <p:cNvPr id="30" name="Text 28"/>
          <p:cNvSpPr txBox="1"/>
          <p:nvPr/>
        </p:nvSpPr>
        <p:spPr>
          <a:xfrm>
            <a:off x="9217152" y="3310128"/>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Sold</a:t>
            </a:r>
            <a:endParaRPr lang="en-US" sz="1250" dirty="0"/>
          </a:p>
        </p:txBody>
      </p:sp>
      <p:sp>
        <p:nvSpPr>
          <p:cNvPr id="31" name="Text 29"/>
          <p:cNvSpPr txBox="1"/>
          <p:nvPr/>
        </p:nvSpPr>
        <p:spPr>
          <a:xfrm>
            <a:off x="713232" y="3785616"/>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SponsorUnited</a:t>
            </a:r>
            <a:endParaRPr lang="en-US" sz="1600" dirty="0"/>
          </a:p>
        </p:txBody>
      </p:sp>
      <p:sp>
        <p:nvSpPr>
          <p:cNvPr id="32" name="Text 30"/>
          <p:cNvSpPr txBox="1"/>
          <p:nvPr/>
        </p:nvSpPr>
        <p:spPr>
          <a:xfrm>
            <a:off x="2999232" y="3785616"/>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Sponsorship data, enterprise</a:t>
            </a:r>
            <a:endParaRPr lang="en-US" sz="1250" dirty="0"/>
          </a:p>
        </p:txBody>
      </p:sp>
      <p:sp>
        <p:nvSpPr>
          <p:cNvPr id="33" name="Text 31"/>
          <p:cNvSpPr txBox="1"/>
          <p:nvPr/>
        </p:nvSpPr>
        <p:spPr>
          <a:xfrm>
            <a:off x="5650992" y="3785616"/>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9 yrs</a:t>
            </a:r>
            <a:endParaRPr lang="en-US" sz="1250" dirty="0"/>
          </a:p>
        </p:txBody>
      </p:sp>
      <p:sp>
        <p:nvSpPr>
          <p:cNvPr id="34" name="Text 32"/>
          <p:cNvSpPr txBox="1"/>
          <p:nvPr/>
        </p:nvSpPr>
        <p:spPr>
          <a:xfrm>
            <a:off x="6656832" y="3785616"/>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355</a:t>
            </a:r>
            <a:endParaRPr lang="en-US" sz="1250" dirty="0"/>
          </a:p>
        </p:txBody>
      </p:sp>
      <p:sp>
        <p:nvSpPr>
          <p:cNvPr id="35" name="Text 33"/>
          <p:cNvSpPr txBox="1"/>
          <p:nvPr/>
        </p:nvSpPr>
        <p:spPr>
          <a:xfrm>
            <a:off x="7754112" y="3785616"/>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€38.8M</a:t>
            </a:r>
            <a:endParaRPr lang="en-US" sz="1250" dirty="0"/>
          </a:p>
        </p:txBody>
      </p:sp>
      <p:sp>
        <p:nvSpPr>
          <p:cNvPr id="36" name="Text 34"/>
          <p:cNvSpPr txBox="1"/>
          <p:nvPr/>
        </p:nvSpPr>
        <p:spPr>
          <a:xfrm>
            <a:off x="9217152" y="3785616"/>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A different business</a:t>
            </a:r>
            <a:endParaRPr lang="en-US" sz="1250" dirty="0"/>
          </a:p>
        </p:txBody>
      </p:sp>
      <p:sp>
        <p:nvSpPr>
          <p:cNvPr id="37" name="Shape 35"/>
          <p:cNvSpPr/>
          <p:nvPr/>
        </p:nvSpPr>
        <p:spPr>
          <a:xfrm>
            <a:off x="713232" y="4462272"/>
            <a:ext cx="10765231" cy="1024128"/>
          </a:xfrm>
          <a:prstGeom prst="roundRect">
            <a:avLst>
              <a:gd name="adj" fmla="val 3571"/>
            </a:avLst>
          </a:prstGeom>
          <a:solidFill>
            <a:srgbClr val="1F242C"/>
          </a:solidFill>
          <a:ln w="9525">
            <a:solidFill>
              <a:srgbClr val="262C35"/>
            </a:solidFill>
            <a:prstDash val="solid"/>
          </a:ln>
        </p:spPr>
      </p:sp>
      <p:sp>
        <p:nvSpPr>
          <p:cNvPr id="38" name="Text 36"/>
          <p:cNvSpPr txBox="1"/>
          <p:nvPr/>
        </p:nvSpPr>
        <p:spPr>
          <a:xfrm>
            <a:off x="987552" y="4645152"/>
            <a:ext cx="2377440" cy="237744"/>
          </a:xfrm>
          <a:prstGeom prst="rect">
            <a:avLst/>
          </a:prstGeom>
          <a:noFill/>
          <a:ln/>
        </p:spPr>
        <p:txBody>
          <a:bodyPr wrap="square" lIns="0" tIns="0" rIns="0" bIns="0" rtlCol="0" anchor="t"/>
          <a:lstStyle/>
          <a:p>
            <a:pPr marL="0" indent="0">
              <a:buNone/>
            </a:pPr>
            <a:r>
              <a:rPr lang="en-US" sz="1350" kern="0" spc="240" dirty="0">
                <a:solidFill>
                  <a:srgbClr val="FFB020"/>
                </a:solidFill>
                <a:latin typeface="Barlow Condensed" pitchFamily="34" charset="0"/>
                <a:ea typeface="Barlow Condensed" pitchFamily="34" charset="-122"/>
                <a:cs typeface="Barlow Condensed" pitchFamily="34" charset="-120"/>
              </a:rPr>
              <a:t>THE SECOND PAYER</a:t>
            </a:r>
            <a:endParaRPr lang="en-US" sz="1350" dirty="0"/>
          </a:p>
        </p:txBody>
      </p:sp>
      <p:sp>
        <p:nvSpPr>
          <p:cNvPr id="39" name="Text 37"/>
          <p:cNvSpPr txBox="1"/>
          <p:nvPr/>
        </p:nvSpPr>
        <p:spPr>
          <a:xfrm>
            <a:off x="3639312" y="4608576"/>
            <a:ext cx="7564831" cy="768096"/>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Fan subscriptions are 48% of our Y7 revenue, and none of these four has that stream at all. If it works, the economics are not Sponsoo's. If it does not, they are, and this is Sponsoo with eleven fewer years of relationships. The plan prices both cases.</a:t>
            </a:r>
            <a:endParaRPr lang="en-US" sz="1350" dirty="0"/>
          </a:p>
        </p:txBody>
      </p:sp>
      <p:sp>
        <p:nvSpPr>
          <p:cNvPr id="40" name="Text 38"/>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PitchBook company profiles, retrieved 1 October 2026, reported in euros.</a:t>
            </a:r>
            <a:endParaRPr lang="en-US" sz="950" dirty="0"/>
          </a:p>
        </p:txBody>
      </p:sp>
      <p:sp>
        <p:nvSpPr>
          <p:cNvPr id="41"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REVENUE MODEL</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The business changes shape as it grows</a:t>
            </a:r>
            <a:endParaRPr lang="en-US" sz="3600" dirty="0"/>
          </a:p>
        </p:txBody>
      </p:sp>
      <p:graphicFrame>
        <p:nvGraphicFramePr>
          <p:cNvPr id="4" name="Chart 0"/>
          <p:cNvGraphicFramePr/>
          <p:nvPr/>
        </p:nvGraphicFramePr>
        <p:xfrm>
          <a:off x="713232" y="1901952"/>
          <a:ext cx="7589520" cy="320040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8412480" y="2103120"/>
            <a:ext cx="3065983" cy="1234440"/>
          </a:xfrm>
          <a:prstGeom prst="roundRect">
            <a:avLst>
              <a:gd name="adj" fmla="val 2963"/>
            </a:avLst>
          </a:prstGeom>
          <a:solidFill>
            <a:srgbClr val="171A20"/>
          </a:solidFill>
          <a:ln w="9525">
            <a:solidFill>
              <a:srgbClr val="262C35"/>
            </a:solidFill>
            <a:prstDash val="solid"/>
          </a:ln>
        </p:spPr>
      </p:sp>
      <p:sp>
        <p:nvSpPr>
          <p:cNvPr id="6" name="Text 3"/>
          <p:cNvSpPr txBox="1"/>
          <p:nvPr/>
        </p:nvSpPr>
        <p:spPr>
          <a:xfrm>
            <a:off x="8686800" y="2267712"/>
            <a:ext cx="731520" cy="237744"/>
          </a:xfrm>
          <a:prstGeom prst="rect">
            <a:avLst/>
          </a:prstGeom>
          <a:noFill/>
          <a:ln/>
        </p:spPr>
        <p:txBody>
          <a:bodyPr wrap="square" lIns="0" tIns="0" rIns="0" bIns="0" rtlCol="0" anchor="t"/>
          <a:lstStyle/>
          <a:p>
            <a:pPr marL="0" indent="0">
              <a:buNone/>
            </a:pPr>
            <a:r>
              <a:rPr lang="en-US" sz="1200" dirty="0">
                <a:solidFill>
                  <a:srgbClr val="828C9A"/>
                </a:solidFill>
                <a:latin typeface="Barlow Condensed" pitchFamily="34" charset="0"/>
                <a:ea typeface="Barlow Condensed" pitchFamily="34" charset="-122"/>
                <a:cs typeface="Barlow Condensed" pitchFamily="34" charset="-120"/>
              </a:rPr>
              <a:t>Y2</a:t>
            </a:r>
            <a:endParaRPr lang="en-US" sz="1200" dirty="0"/>
          </a:p>
        </p:txBody>
      </p:sp>
      <p:sp>
        <p:nvSpPr>
          <p:cNvPr id="7" name="Text 4"/>
          <p:cNvSpPr txBox="1"/>
          <p:nvPr/>
        </p:nvSpPr>
        <p:spPr>
          <a:xfrm>
            <a:off x="8686800" y="2468880"/>
            <a:ext cx="1463040" cy="457200"/>
          </a:xfrm>
          <a:prstGeom prst="rect">
            <a:avLst/>
          </a:prstGeom>
          <a:noFill/>
          <a:ln/>
        </p:spPr>
        <p:txBody>
          <a:bodyPr wrap="square" lIns="0" tIns="0" rIns="0" bIns="0" rtlCol="0" anchor="t"/>
          <a:lstStyle/>
          <a:p>
            <a:pPr marL="0" indent="0">
              <a:lnSpc>
                <a:spcPts val="3400"/>
              </a:lnSpc>
              <a:buNone/>
            </a:pPr>
            <a:r>
              <a:rPr lang="en-US" sz="3400" dirty="0">
                <a:solidFill>
                  <a:srgbClr val="FFB020"/>
                </a:solidFill>
                <a:latin typeface="Barlow Condensed" pitchFamily="34" charset="0"/>
                <a:ea typeface="Barlow Condensed" pitchFamily="34" charset="-122"/>
                <a:cs typeface="Barlow Condensed" pitchFamily="34" charset="-120"/>
              </a:rPr>
              <a:t>75%</a:t>
            </a:r>
            <a:endParaRPr lang="en-US" sz="3400" dirty="0"/>
          </a:p>
        </p:txBody>
      </p:sp>
      <p:sp>
        <p:nvSpPr>
          <p:cNvPr id="8" name="Text 5"/>
          <p:cNvSpPr txBox="1"/>
          <p:nvPr/>
        </p:nvSpPr>
        <p:spPr>
          <a:xfrm>
            <a:off x="8686800" y="2907792"/>
            <a:ext cx="2535631" cy="384048"/>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of revenue is fan subscriptions, the year the thesis is tested</a:t>
            </a:r>
            <a:endParaRPr lang="en-US" sz="1150" dirty="0"/>
          </a:p>
        </p:txBody>
      </p:sp>
      <p:sp>
        <p:nvSpPr>
          <p:cNvPr id="9" name="Shape 6"/>
          <p:cNvSpPr/>
          <p:nvPr/>
        </p:nvSpPr>
        <p:spPr>
          <a:xfrm>
            <a:off x="8412480" y="3566160"/>
            <a:ext cx="3065983" cy="1234440"/>
          </a:xfrm>
          <a:prstGeom prst="roundRect">
            <a:avLst>
              <a:gd name="adj" fmla="val 2963"/>
            </a:avLst>
          </a:prstGeom>
          <a:solidFill>
            <a:srgbClr val="171A20"/>
          </a:solidFill>
          <a:ln w="9525">
            <a:solidFill>
              <a:srgbClr val="262C35"/>
            </a:solidFill>
            <a:prstDash val="solid"/>
          </a:ln>
        </p:spPr>
      </p:sp>
      <p:sp>
        <p:nvSpPr>
          <p:cNvPr id="10" name="Text 7"/>
          <p:cNvSpPr txBox="1"/>
          <p:nvPr/>
        </p:nvSpPr>
        <p:spPr>
          <a:xfrm>
            <a:off x="8686800" y="3730752"/>
            <a:ext cx="731520" cy="237744"/>
          </a:xfrm>
          <a:prstGeom prst="rect">
            <a:avLst/>
          </a:prstGeom>
          <a:noFill/>
          <a:ln/>
        </p:spPr>
        <p:txBody>
          <a:bodyPr wrap="square" lIns="0" tIns="0" rIns="0" bIns="0" rtlCol="0" anchor="t"/>
          <a:lstStyle/>
          <a:p>
            <a:pPr marL="0" indent="0">
              <a:buNone/>
            </a:pPr>
            <a:r>
              <a:rPr lang="en-US" sz="1200" dirty="0">
                <a:solidFill>
                  <a:srgbClr val="828C9A"/>
                </a:solidFill>
                <a:latin typeface="Barlow Condensed" pitchFamily="34" charset="0"/>
                <a:ea typeface="Barlow Condensed" pitchFamily="34" charset="-122"/>
                <a:cs typeface="Barlow Condensed" pitchFamily="34" charset="-120"/>
              </a:rPr>
              <a:t>Y7</a:t>
            </a:r>
            <a:endParaRPr lang="en-US" sz="1200" dirty="0"/>
          </a:p>
        </p:txBody>
      </p:sp>
      <p:sp>
        <p:nvSpPr>
          <p:cNvPr id="11" name="Text 8"/>
          <p:cNvSpPr txBox="1"/>
          <p:nvPr/>
        </p:nvSpPr>
        <p:spPr>
          <a:xfrm>
            <a:off x="8686800" y="3931920"/>
            <a:ext cx="1463040" cy="457200"/>
          </a:xfrm>
          <a:prstGeom prst="rect">
            <a:avLst/>
          </a:prstGeom>
          <a:noFill/>
          <a:ln/>
        </p:spPr>
        <p:txBody>
          <a:bodyPr wrap="square" lIns="0" tIns="0" rIns="0" bIns="0" rtlCol="0" anchor="t"/>
          <a:lstStyle/>
          <a:p>
            <a:pPr marL="0" indent="0">
              <a:lnSpc>
                <a:spcPts val="3400"/>
              </a:lnSpc>
              <a:buNone/>
            </a:pPr>
            <a:r>
              <a:rPr lang="en-US" sz="3400" dirty="0">
                <a:solidFill>
                  <a:srgbClr val="FFB020"/>
                </a:solidFill>
                <a:latin typeface="Barlow Condensed" pitchFamily="34" charset="0"/>
                <a:ea typeface="Barlow Condensed" pitchFamily="34" charset="-122"/>
                <a:cs typeface="Barlow Condensed" pitchFamily="34" charset="-120"/>
              </a:rPr>
              <a:t>48%</a:t>
            </a:r>
            <a:endParaRPr lang="en-US" sz="3400" dirty="0"/>
          </a:p>
        </p:txBody>
      </p:sp>
      <p:sp>
        <p:nvSpPr>
          <p:cNvPr id="12" name="Text 9"/>
          <p:cNvSpPr txBox="1"/>
          <p:nvPr/>
        </p:nvSpPr>
        <p:spPr>
          <a:xfrm>
            <a:off x="8686800" y="4370832"/>
            <a:ext cx="2535631" cy="384048"/>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still fan, with sponsorship and SaaS compounding behind it</a:t>
            </a:r>
            <a:endParaRPr lang="en-US" sz="1150" dirty="0"/>
          </a:p>
        </p:txBody>
      </p:sp>
      <p:sp>
        <p:nvSpPr>
          <p:cNvPr id="13" name="Shape 10"/>
          <p:cNvSpPr/>
          <p:nvPr/>
        </p:nvSpPr>
        <p:spPr>
          <a:xfrm>
            <a:off x="8412480" y="5029200"/>
            <a:ext cx="3065983" cy="502920"/>
          </a:xfrm>
          <a:prstGeom prst="roundRect">
            <a:avLst>
              <a:gd name="adj" fmla="val 7273"/>
            </a:avLst>
          </a:prstGeom>
          <a:solidFill>
            <a:srgbClr val="1F242C"/>
          </a:solidFill>
          <a:ln w="9525">
            <a:solidFill>
              <a:srgbClr val="262C35"/>
            </a:solidFill>
            <a:prstDash val="solid"/>
          </a:ln>
        </p:spPr>
      </p:sp>
      <p:sp>
        <p:nvSpPr>
          <p:cNvPr id="14" name="Text 11"/>
          <p:cNvSpPr txBox="1"/>
          <p:nvPr/>
        </p:nvSpPr>
        <p:spPr>
          <a:xfrm>
            <a:off x="8686800" y="5138928"/>
            <a:ext cx="2926080" cy="292608"/>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€3.01M total at Y7</a:t>
            </a:r>
            <a:endParaRPr lang="en-US" sz="1700" dirty="0"/>
          </a:p>
        </p:txBody>
      </p:sp>
      <p:sp>
        <p:nvSpPr>
          <p:cNvPr id="15" name="Text 12"/>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Y1 to Y7, net revenue after the athlete's share.</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GO TO MARKET</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Year one, concretely</a:t>
            </a:r>
            <a:endParaRPr lang="en-US" sz="3600" dirty="0"/>
          </a:p>
        </p:txBody>
      </p:sp>
      <p:sp>
        <p:nvSpPr>
          <p:cNvPr id="4" name="Shape 2"/>
          <p:cNvSpPr/>
          <p:nvPr/>
        </p:nvSpPr>
        <p:spPr>
          <a:xfrm>
            <a:off x="713232" y="1956816"/>
            <a:ext cx="2519858" cy="2286000"/>
          </a:xfrm>
          <a:prstGeom prst="roundRect">
            <a:avLst>
              <a:gd name="adj" fmla="val 1600"/>
            </a:avLst>
          </a:prstGeom>
          <a:solidFill>
            <a:srgbClr val="171A20"/>
          </a:solidFill>
          <a:ln w="9525">
            <a:solidFill>
              <a:srgbClr val="262C35"/>
            </a:solidFill>
            <a:prstDash val="solid"/>
          </a:ln>
        </p:spPr>
      </p:sp>
      <p:sp>
        <p:nvSpPr>
          <p:cNvPr id="5" name="Text 3"/>
          <p:cNvSpPr txBox="1"/>
          <p:nvPr/>
        </p:nvSpPr>
        <p:spPr>
          <a:xfrm>
            <a:off x="969264" y="2176272"/>
            <a:ext cx="2007794" cy="868680"/>
          </a:xfrm>
          <a:prstGeom prst="rect">
            <a:avLst/>
          </a:prstGeom>
          <a:noFill/>
          <a:ln/>
        </p:spPr>
        <p:txBody>
          <a:bodyPr wrap="square" lIns="0" tIns="0" rIns="0" bIns="0" rtlCol="0" anchor="t"/>
          <a:lstStyle/>
          <a:p>
            <a:pPr marL="0" indent="0">
              <a:lnSpc>
                <a:spcPts val="5400"/>
              </a:lnSpc>
              <a:buNone/>
            </a:pPr>
            <a:r>
              <a:rPr lang="en-US" sz="5400" dirty="0">
                <a:solidFill>
                  <a:srgbClr val="F2F4F7"/>
                </a:solidFill>
                <a:latin typeface="Barlow Condensed" pitchFamily="34" charset="0"/>
                <a:ea typeface="Barlow Condensed" pitchFamily="34" charset="-122"/>
                <a:cs typeface="Barlow Condensed" pitchFamily="34" charset="-120"/>
              </a:rPr>
              <a:t>250</a:t>
            </a:r>
            <a:endParaRPr lang="en-US" sz="5400" dirty="0"/>
          </a:p>
        </p:txBody>
      </p:sp>
      <p:sp>
        <p:nvSpPr>
          <p:cNvPr id="6" name="Text 4"/>
          <p:cNvSpPr txBox="1"/>
          <p:nvPr/>
        </p:nvSpPr>
        <p:spPr>
          <a:xfrm>
            <a:off x="969264" y="3054096"/>
            <a:ext cx="2007794"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ATHLETES</a:t>
            </a:r>
            <a:endParaRPr lang="en-US" sz="1300" dirty="0"/>
          </a:p>
        </p:txBody>
      </p:sp>
      <p:sp>
        <p:nvSpPr>
          <p:cNvPr id="7" name="Text 5"/>
          <p:cNvSpPr txBox="1"/>
          <p:nvPr/>
        </p:nvSpPr>
        <p:spPr>
          <a:xfrm>
            <a:off x="969264" y="3547872"/>
            <a:ext cx="2007794"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recruited from 1,250 applications, in two or three niche Spanish sports</a:t>
            </a:r>
            <a:endParaRPr lang="en-US" sz="1200" dirty="0"/>
          </a:p>
        </p:txBody>
      </p:sp>
      <p:sp>
        <p:nvSpPr>
          <p:cNvPr id="8" name="Shape 6"/>
          <p:cNvSpPr/>
          <p:nvPr/>
        </p:nvSpPr>
        <p:spPr>
          <a:xfrm>
            <a:off x="3461690" y="1956816"/>
            <a:ext cx="2519858" cy="2286000"/>
          </a:xfrm>
          <a:prstGeom prst="roundRect">
            <a:avLst>
              <a:gd name="adj" fmla="val 1600"/>
            </a:avLst>
          </a:prstGeom>
          <a:solidFill>
            <a:srgbClr val="171A20"/>
          </a:solidFill>
          <a:ln w="9525">
            <a:solidFill>
              <a:srgbClr val="262C35"/>
            </a:solidFill>
            <a:prstDash val="solid"/>
          </a:ln>
        </p:spPr>
      </p:sp>
      <p:sp>
        <p:nvSpPr>
          <p:cNvPr id="9" name="Text 7"/>
          <p:cNvSpPr txBox="1"/>
          <p:nvPr/>
        </p:nvSpPr>
        <p:spPr>
          <a:xfrm>
            <a:off x="3717722" y="2176272"/>
            <a:ext cx="2007794" cy="868680"/>
          </a:xfrm>
          <a:prstGeom prst="rect">
            <a:avLst/>
          </a:prstGeom>
          <a:noFill/>
          <a:ln/>
        </p:spPr>
        <p:txBody>
          <a:bodyPr wrap="square" lIns="0" tIns="0" rIns="0" bIns="0" rtlCol="0" anchor="t"/>
          <a:lstStyle/>
          <a:p>
            <a:pPr marL="0" indent="0">
              <a:lnSpc>
                <a:spcPts val="5400"/>
              </a:lnSpc>
              <a:buNone/>
            </a:pPr>
            <a:r>
              <a:rPr lang="en-US" sz="5400" dirty="0">
                <a:solidFill>
                  <a:srgbClr val="F2F4F7"/>
                </a:solidFill>
                <a:latin typeface="Barlow Condensed" pitchFamily="34" charset="0"/>
                <a:ea typeface="Barlow Condensed" pitchFamily="34" charset="-122"/>
                <a:cs typeface="Barlow Condensed" pitchFamily="34" charset="-120"/>
              </a:rPr>
              <a:t>20</a:t>
            </a:r>
            <a:endParaRPr lang="en-US" sz="5400" dirty="0"/>
          </a:p>
        </p:txBody>
      </p:sp>
      <p:sp>
        <p:nvSpPr>
          <p:cNvPr id="10" name="Text 8"/>
          <p:cNvSpPr txBox="1"/>
          <p:nvPr/>
        </p:nvSpPr>
        <p:spPr>
          <a:xfrm>
            <a:off x="3717722" y="3054096"/>
            <a:ext cx="2007794"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SPONSOR CONVERSATIONS</a:t>
            </a:r>
            <a:endParaRPr lang="en-US" sz="1300" dirty="0"/>
          </a:p>
        </p:txBody>
      </p:sp>
      <p:sp>
        <p:nvSpPr>
          <p:cNvPr id="11" name="Text 9"/>
          <p:cNvSpPr txBox="1"/>
          <p:nvPr/>
        </p:nvSpPr>
        <p:spPr>
          <a:xfrm>
            <a:off x="3717722" y="3547872"/>
            <a:ext cx="2007794"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which are the first sales as much as the research, closing about 15 deals</a:t>
            </a:r>
            <a:endParaRPr lang="en-US" sz="1200" dirty="0"/>
          </a:p>
        </p:txBody>
      </p:sp>
      <p:sp>
        <p:nvSpPr>
          <p:cNvPr id="12" name="Shape 10"/>
          <p:cNvSpPr/>
          <p:nvPr/>
        </p:nvSpPr>
        <p:spPr>
          <a:xfrm>
            <a:off x="6210148" y="1956816"/>
            <a:ext cx="2519858" cy="2286000"/>
          </a:xfrm>
          <a:prstGeom prst="roundRect">
            <a:avLst>
              <a:gd name="adj" fmla="val 1600"/>
            </a:avLst>
          </a:prstGeom>
          <a:solidFill>
            <a:srgbClr val="171A20"/>
          </a:solidFill>
          <a:ln w="9525">
            <a:solidFill>
              <a:srgbClr val="262C35"/>
            </a:solidFill>
            <a:prstDash val="solid"/>
          </a:ln>
        </p:spPr>
      </p:sp>
      <p:sp>
        <p:nvSpPr>
          <p:cNvPr id="13" name="Text 11"/>
          <p:cNvSpPr txBox="1"/>
          <p:nvPr/>
        </p:nvSpPr>
        <p:spPr>
          <a:xfrm>
            <a:off x="6466180" y="2176272"/>
            <a:ext cx="2007794" cy="868680"/>
          </a:xfrm>
          <a:prstGeom prst="rect">
            <a:avLst/>
          </a:prstGeom>
          <a:noFill/>
          <a:ln/>
        </p:spPr>
        <p:txBody>
          <a:bodyPr wrap="square" lIns="0" tIns="0" rIns="0" bIns="0" rtlCol="0" anchor="t"/>
          <a:lstStyle/>
          <a:p>
            <a:pPr marL="0" indent="0">
              <a:lnSpc>
                <a:spcPts val="5400"/>
              </a:lnSpc>
              <a:buNone/>
            </a:pPr>
            <a:r>
              <a:rPr lang="en-US" sz="5400" dirty="0">
                <a:solidFill>
                  <a:srgbClr val="F2F4F7"/>
                </a:solidFill>
                <a:latin typeface="Barlow Condensed" pitchFamily="34" charset="0"/>
                <a:ea typeface="Barlow Condensed" pitchFamily="34" charset="-122"/>
                <a:cs typeface="Barlow Condensed" pitchFamily="34" charset="-120"/>
              </a:rPr>
              <a:t>1</a:t>
            </a:r>
            <a:endParaRPr lang="en-US" sz="5400" dirty="0"/>
          </a:p>
        </p:txBody>
      </p:sp>
      <p:sp>
        <p:nvSpPr>
          <p:cNvPr id="14" name="Text 12"/>
          <p:cNvSpPr txBox="1"/>
          <p:nvPr/>
        </p:nvSpPr>
        <p:spPr>
          <a:xfrm>
            <a:off x="6466180" y="3054096"/>
            <a:ext cx="2007794"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SALARY</a:t>
            </a:r>
            <a:endParaRPr lang="en-US" sz="1300" dirty="0"/>
          </a:p>
        </p:txBody>
      </p:sp>
      <p:sp>
        <p:nvSpPr>
          <p:cNvPr id="15" name="Text 13"/>
          <p:cNvSpPr txBox="1"/>
          <p:nvPr/>
        </p:nvSpPr>
        <p:spPr>
          <a:xfrm>
            <a:off x="6466180" y="3547872"/>
            <a:ext cx="2007794"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mine, plus a named athlete partner on 5% equity rather than cash</a:t>
            </a:r>
            <a:endParaRPr lang="en-US" sz="1200" dirty="0"/>
          </a:p>
        </p:txBody>
      </p:sp>
      <p:sp>
        <p:nvSpPr>
          <p:cNvPr id="16" name="Shape 14"/>
          <p:cNvSpPr/>
          <p:nvPr/>
        </p:nvSpPr>
        <p:spPr>
          <a:xfrm>
            <a:off x="8958605" y="1956816"/>
            <a:ext cx="2519858" cy="2286000"/>
          </a:xfrm>
          <a:prstGeom prst="roundRect">
            <a:avLst>
              <a:gd name="adj" fmla="val 1600"/>
            </a:avLst>
          </a:prstGeom>
          <a:solidFill>
            <a:srgbClr val="171A20"/>
          </a:solidFill>
          <a:ln w="9525">
            <a:solidFill>
              <a:srgbClr val="262C35"/>
            </a:solidFill>
            <a:prstDash val="solid"/>
          </a:ln>
        </p:spPr>
      </p:sp>
      <p:sp>
        <p:nvSpPr>
          <p:cNvPr id="17" name="Text 15"/>
          <p:cNvSpPr txBox="1"/>
          <p:nvPr/>
        </p:nvSpPr>
        <p:spPr>
          <a:xfrm>
            <a:off x="9214637" y="2176272"/>
            <a:ext cx="2007794" cy="868680"/>
          </a:xfrm>
          <a:prstGeom prst="rect">
            <a:avLst/>
          </a:prstGeom>
          <a:noFill/>
          <a:ln/>
        </p:spPr>
        <p:txBody>
          <a:bodyPr wrap="square" lIns="0" tIns="0" rIns="0" bIns="0" rtlCol="0" anchor="t"/>
          <a:lstStyle/>
          <a:p>
            <a:pPr marL="0" indent="0">
              <a:lnSpc>
                <a:spcPts val="5400"/>
              </a:lnSpc>
              <a:buNone/>
            </a:pPr>
            <a:r>
              <a:rPr lang="en-US" sz="5400" dirty="0">
                <a:solidFill>
                  <a:srgbClr val="FFB020"/>
                </a:solidFill>
                <a:latin typeface="Barlow Condensed" pitchFamily="34" charset="0"/>
                <a:ea typeface="Barlow Condensed" pitchFamily="34" charset="-122"/>
                <a:cs typeface="Barlow Condensed" pitchFamily="34" charset="-120"/>
              </a:rPr>
              <a:t>€113k</a:t>
            </a:r>
            <a:endParaRPr lang="en-US" sz="5400" dirty="0"/>
          </a:p>
        </p:txBody>
      </p:sp>
      <p:sp>
        <p:nvSpPr>
          <p:cNvPr id="18" name="Text 16"/>
          <p:cNvSpPr txBox="1"/>
          <p:nvPr/>
        </p:nvSpPr>
        <p:spPr>
          <a:xfrm>
            <a:off x="9214637" y="3054096"/>
            <a:ext cx="2007794"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OF CASH</a:t>
            </a:r>
            <a:endParaRPr lang="en-US" sz="1300" dirty="0"/>
          </a:p>
        </p:txBody>
      </p:sp>
      <p:sp>
        <p:nvSpPr>
          <p:cNvPr id="19" name="Text 17"/>
          <p:cNvSpPr txBox="1"/>
          <p:nvPr/>
        </p:nvSpPr>
        <p:spPr>
          <a:xfrm>
            <a:off x="9214637" y="3547872"/>
            <a:ext cx="2007794"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two thirds of it available as a non-dilutive ENISA loan</a:t>
            </a:r>
            <a:endParaRPr lang="en-US" sz="1200" dirty="0"/>
          </a:p>
        </p:txBody>
      </p:sp>
      <p:sp>
        <p:nvSpPr>
          <p:cNvPr id="20" name="Shape 18"/>
          <p:cNvSpPr/>
          <p:nvPr/>
        </p:nvSpPr>
        <p:spPr>
          <a:xfrm>
            <a:off x="713232" y="4425696"/>
            <a:ext cx="10765231" cy="1097280"/>
          </a:xfrm>
          <a:prstGeom prst="roundRect">
            <a:avLst>
              <a:gd name="adj" fmla="val 3333"/>
            </a:avLst>
          </a:prstGeom>
          <a:solidFill>
            <a:srgbClr val="171A20"/>
          </a:solidFill>
          <a:ln w="9525">
            <a:solidFill>
              <a:srgbClr val="262C35"/>
            </a:solidFill>
            <a:prstDash val="solid"/>
          </a:ln>
        </p:spPr>
      </p:sp>
      <p:sp>
        <p:nvSpPr>
          <p:cNvPr id="21" name="Text 19"/>
          <p:cNvSpPr txBox="1"/>
          <p:nvPr/>
        </p:nvSpPr>
        <p:spPr>
          <a:xfrm>
            <a:off x="987552" y="4608576"/>
            <a:ext cx="4572000" cy="237744"/>
          </a:xfrm>
          <a:prstGeom prst="rect">
            <a:avLst/>
          </a:prstGeom>
          <a:noFill/>
          <a:ln/>
        </p:spPr>
        <p:txBody>
          <a:bodyPr wrap="square" lIns="0" tIns="0" rIns="0" bIns="0" rtlCol="0" anchor="t"/>
          <a:lstStyle/>
          <a:p>
            <a:pPr marL="0" indent="0">
              <a:buNone/>
            </a:pPr>
            <a:r>
              <a:rPr lang="en-US" sz="1300" kern="0" spc="220" dirty="0">
                <a:solidFill>
                  <a:srgbClr val="FFB020"/>
                </a:solidFill>
                <a:latin typeface="Barlow Condensed" pitchFamily="34" charset="0"/>
                <a:ea typeface="Barlow Condensed" pitchFamily="34" charset="-122"/>
                <a:cs typeface="Barlow Condensed" pitchFamily="34" charset="-120"/>
              </a:rPr>
              <a:t>THE SEQUENCE IS THE OPPOSITE OF THE OBVIOUS ONE</a:t>
            </a:r>
            <a:endParaRPr lang="en-US" sz="1300" dirty="0"/>
          </a:p>
        </p:txBody>
      </p:sp>
      <p:sp>
        <p:nvSpPr>
          <p:cNvPr id="22" name="Text 20"/>
          <p:cNvSpPr txBox="1"/>
          <p:nvPr/>
        </p:nvSpPr>
        <p:spPr>
          <a:xfrm>
            <a:off x="987552" y="4882896"/>
            <a:ext cx="10216591" cy="621792"/>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Build the payment rail and sponsorship billing first, and the fan tier last. Commission is invoiced against a signed deal: it needs no content moderation, no minors safeguarding and no media egress, so it is the cheapest of the three to build and the only one that earns inside the first year.</a:t>
            </a:r>
            <a:endParaRPr lang="en-US" sz="13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OPERATIONS AND PEOPLE</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One human step in the chain, and a team sized to what I can actually run</a:t>
            </a:r>
            <a:endParaRPr lang="en-US" sz="3600" dirty="0"/>
          </a:p>
        </p:txBody>
      </p:sp>
      <p:sp>
        <p:nvSpPr>
          <p:cNvPr id="4" name="Shape 2"/>
          <p:cNvSpPr/>
          <p:nvPr/>
        </p:nvSpPr>
        <p:spPr>
          <a:xfrm>
            <a:off x="713232" y="1938528"/>
            <a:ext cx="5120640" cy="2103120"/>
          </a:xfrm>
          <a:prstGeom prst="roundRect">
            <a:avLst>
              <a:gd name="adj" fmla="val 1739"/>
            </a:avLst>
          </a:prstGeom>
          <a:solidFill>
            <a:srgbClr val="171A20"/>
          </a:solidFill>
          <a:ln w="9525">
            <a:solidFill>
              <a:srgbClr val="262C35"/>
            </a:solidFill>
            <a:prstDash val="solid"/>
          </a:ln>
        </p:spPr>
      </p:sp>
      <p:sp>
        <p:nvSpPr>
          <p:cNvPr id="5" name="Text 3"/>
          <p:cNvSpPr txBox="1"/>
          <p:nvPr/>
        </p:nvSpPr>
        <p:spPr>
          <a:xfrm>
            <a:off x="987552" y="2139696"/>
            <a:ext cx="4572000" cy="237744"/>
          </a:xfrm>
          <a:prstGeom prst="rect">
            <a:avLst/>
          </a:prstGeom>
          <a:noFill/>
          <a:ln/>
        </p:spPr>
        <p:txBody>
          <a:bodyPr wrap="square" lIns="0" tIns="0" rIns="0" bIns="0" rtlCol="0" anchor="t"/>
          <a:lstStyle/>
          <a:p>
            <a:pPr marL="0" indent="0">
              <a:buNone/>
            </a:pPr>
            <a:r>
              <a:rPr lang="en-US" sz="1200" kern="0" spc="240" dirty="0">
                <a:solidFill>
                  <a:srgbClr val="828C9A"/>
                </a:solidFill>
                <a:latin typeface="Barlow Condensed" pitchFamily="34" charset="0"/>
                <a:ea typeface="Barlow Condensed" pitchFamily="34" charset="-122"/>
                <a:cs typeface="Barlow Condensed" pitchFamily="34" charset="-120"/>
              </a:rPr>
              <a:t>WHAT IS SUBCONTRACTED</a:t>
            </a:r>
            <a:endParaRPr lang="en-US" sz="1200" dirty="0"/>
          </a:p>
        </p:txBody>
      </p:sp>
      <p:sp>
        <p:nvSpPr>
          <p:cNvPr id="6" name="Text 4"/>
          <p:cNvSpPr txBox="1"/>
          <p:nvPr/>
        </p:nvSpPr>
        <p:spPr>
          <a:xfrm>
            <a:off x="987552" y="2450592"/>
            <a:ext cx="1828800" cy="274320"/>
          </a:xfrm>
          <a:prstGeom prst="rect">
            <a:avLst/>
          </a:prstGeom>
          <a:noFill/>
          <a:ln/>
        </p:spPr>
        <p:txBody>
          <a:bodyPr wrap="square" lIns="0" tIns="0" rIns="0" bIns="0" rtlCol="0" anchor="t"/>
          <a:lstStyle/>
          <a:p>
            <a:pPr marL="0" indent="0">
              <a:buNone/>
            </a:pPr>
            <a:r>
              <a:rPr lang="en-US" sz="1500" dirty="0">
                <a:solidFill>
                  <a:srgbClr val="F2F4F7"/>
                </a:solidFill>
                <a:latin typeface="Barlow Condensed" pitchFamily="34" charset="0"/>
                <a:ea typeface="Barlow Condensed" pitchFamily="34" charset="-122"/>
                <a:cs typeface="Barlow Condensed" pitchFamily="34" charset="-120"/>
              </a:rPr>
              <a:t>Stripe Connect</a:t>
            </a:r>
            <a:endParaRPr lang="en-US" sz="1500" dirty="0"/>
          </a:p>
        </p:txBody>
      </p:sp>
      <p:sp>
        <p:nvSpPr>
          <p:cNvPr id="7" name="Text 5"/>
          <p:cNvSpPr txBox="1"/>
          <p:nvPr/>
        </p:nvSpPr>
        <p:spPr>
          <a:xfrm>
            <a:off x="2907792" y="2487168"/>
            <a:ext cx="2834640" cy="36576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Payments, KYC and payouts in 30+ countries</a:t>
            </a:r>
            <a:endParaRPr lang="en-US" sz="1150" dirty="0"/>
          </a:p>
        </p:txBody>
      </p:sp>
      <p:sp>
        <p:nvSpPr>
          <p:cNvPr id="8" name="Text 6"/>
          <p:cNvSpPr txBox="1"/>
          <p:nvPr/>
        </p:nvSpPr>
        <p:spPr>
          <a:xfrm>
            <a:off x="987552" y="2926080"/>
            <a:ext cx="1828800" cy="274320"/>
          </a:xfrm>
          <a:prstGeom prst="rect">
            <a:avLst/>
          </a:prstGeom>
          <a:noFill/>
          <a:ln/>
        </p:spPr>
        <p:txBody>
          <a:bodyPr wrap="square" lIns="0" tIns="0" rIns="0" bIns="0" rtlCol="0" anchor="t"/>
          <a:lstStyle/>
          <a:p>
            <a:pPr marL="0" indent="0">
              <a:buNone/>
            </a:pPr>
            <a:r>
              <a:rPr lang="en-US" sz="1500" dirty="0">
                <a:solidFill>
                  <a:srgbClr val="F2F4F7"/>
                </a:solidFill>
                <a:latin typeface="Barlow Condensed" pitchFamily="34" charset="0"/>
                <a:ea typeface="Barlow Condensed" pitchFamily="34" charset="-122"/>
                <a:cs typeface="Barlow Condensed" pitchFamily="34" charset="-120"/>
              </a:rPr>
              <a:t>AWS</a:t>
            </a:r>
            <a:endParaRPr lang="en-US" sz="1500" dirty="0"/>
          </a:p>
        </p:txBody>
      </p:sp>
      <p:sp>
        <p:nvSpPr>
          <p:cNvPr id="9" name="Text 7"/>
          <p:cNvSpPr txBox="1"/>
          <p:nvPr/>
        </p:nvSpPr>
        <p:spPr>
          <a:xfrm>
            <a:off x="2907792" y="2962656"/>
            <a:ext cx="2834640" cy="36576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Compute, database and media processing</a:t>
            </a:r>
            <a:endParaRPr lang="en-US" sz="1150" dirty="0"/>
          </a:p>
        </p:txBody>
      </p:sp>
      <p:sp>
        <p:nvSpPr>
          <p:cNvPr id="10" name="Text 8"/>
          <p:cNvSpPr txBox="1"/>
          <p:nvPr/>
        </p:nvSpPr>
        <p:spPr>
          <a:xfrm>
            <a:off x="987552" y="3401568"/>
            <a:ext cx="1828800" cy="274320"/>
          </a:xfrm>
          <a:prstGeom prst="rect">
            <a:avLst/>
          </a:prstGeom>
          <a:noFill/>
          <a:ln/>
        </p:spPr>
        <p:txBody>
          <a:bodyPr wrap="square" lIns="0" tIns="0" rIns="0" bIns="0" rtlCol="0" anchor="t"/>
          <a:lstStyle/>
          <a:p>
            <a:pPr marL="0" indent="0">
              <a:buNone/>
            </a:pPr>
            <a:r>
              <a:rPr lang="en-US" sz="1500" dirty="0">
                <a:solidFill>
                  <a:srgbClr val="F2F4F7"/>
                </a:solidFill>
                <a:latin typeface="Barlow Condensed" pitchFamily="34" charset="0"/>
                <a:ea typeface="Barlow Condensed" pitchFamily="34" charset="-122"/>
                <a:cs typeface="Barlow Condensed" pitchFamily="34" charset="-120"/>
              </a:rPr>
              <a:t>Zero-egress CDN</a:t>
            </a:r>
            <a:endParaRPr lang="en-US" sz="1500" dirty="0"/>
          </a:p>
        </p:txBody>
      </p:sp>
      <p:sp>
        <p:nvSpPr>
          <p:cNvPr id="11" name="Text 9"/>
          <p:cNvSpPr txBox="1"/>
          <p:nvPr/>
        </p:nvSpPr>
        <p:spPr>
          <a:xfrm>
            <a:off x="2907792" y="3438144"/>
            <a:ext cx="2834640" cy="36576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Media delivery, the cost that decides viability</a:t>
            </a:r>
            <a:endParaRPr lang="en-US" sz="1150" dirty="0"/>
          </a:p>
        </p:txBody>
      </p:sp>
      <p:sp>
        <p:nvSpPr>
          <p:cNvPr id="12" name="Shape 10"/>
          <p:cNvSpPr/>
          <p:nvPr/>
        </p:nvSpPr>
        <p:spPr>
          <a:xfrm>
            <a:off x="6108192" y="1938528"/>
            <a:ext cx="5370271" cy="2103120"/>
          </a:xfrm>
          <a:prstGeom prst="roundRect">
            <a:avLst>
              <a:gd name="adj" fmla="val 1739"/>
            </a:avLst>
          </a:prstGeom>
          <a:solidFill>
            <a:srgbClr val="171A20"/>
          </a:solidFill>
          <a:ln w="9525">
            <a:solidFill>
              <a:srgbClr val="262C35"/>
            </a:solidFill>
            <a:prstDash val="solid"/>
          </a:ln>
        </p:spPr>
      </p:sp>
      <p:sp>
        <p:nvSpPr>
          <p:cNvPr id="13" name="Text 11"/>
          <p:cNvSpPr txBox="1"/>
          <p:nvPr/>
        </p:nvSpPr>
        <p:spPr>
          <a:xfrm>
            <a:off x="6382512" y="2139696"/>
            <a:ext cx="3657600" cy="237744"/>
          </a:xfrm>
          <a:prstGeom prst="rect">
            <a:avLst/>
          </a:prstGeom>
          <a:noFill/>
          <a:ln/>
        </p:spPr>
        <p:txBody>
          <a:bodyPr wrap="square" lIns="0" tIns="0" rIns="0" bIns="0" rtlCol="0" anchor="t"/>
          <a:lstStyle/>
          <a:p>
            <a:pPr marL="0" indent="0">
              <a:buNone/>
            </a:pPr>
            <a:r>
              <a:rPr lang="en-US" sz="1200" kern="0" spc="240" dirty="0">
                <a:solidFill>
                  <a:srgbClr val="828C9A"/>
                </a:solidFill>
                <a:latin typeface="Barlow Condensed" pitchFamily="34" charset="0"/>
                <a:ea typeface="Barlow Condensed" pitchFamily="34" charset="-122"/>
                <a:cs typeface="Barlow Condensed" pitchFamily="34" charset="-120"/>
              </a:rPr>
              <a:t>HEADCOUNT</a:t>
            </a:r>
            <a:endParaRPr lang="en-US" sz="1200" dirty="0"/>
          </a:p>
        </p:txBody>
      </p:sp>
      <p:sp>
        <p:nvSpPr>
          <p:cNvPr id="14" name="Shape 12"/>
          <p:cNvSpPr/>
          <p:nvPr/>
        </p:nvSpPr>
        <p:spPr>
          <a:xfrm>
            <a:off x="6382512" y="3509010"/>
            <a:ext cx="566928" cy="57150"/>
          </a:xfrm>
          <a:prstGeom prst="rect">
            <a:avLst/>
          </a:prstGeom>
          <a:solidFill>
            <a:srgbClr val="262C35"/>
          </a:solidFill>
          <a:ln w="12700">
            <a:solidFill>
              <a:srgbClr val="333333"/>
            </a:solidFill>
            <a:prstDash val="solid"/>
          </a:ln>
        </p:spPr>
      </p:sp>
      <p:sp>
        <p:nvSpPr>
          <p:cNvPr id="15" name="Text 13"/>
          <p:cNvSpPr txBox="1"/>
          <p:nvPr/>
        </p:nvSpPr>
        <p:spPr>
          <a:xfrm>
            <a:off x="627278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1</a:t>
            </a:r>
            <a:endParaRPr lang="en-US" sz="1700" dirty="0"/>
          </a:p>
        </p:txBody>
      </p:sp>
      <p:sp>
        <p:nvSpPr>
          <p:cNvPr id="16" name="Text 14"/>
          <p:cNvSpPr txBox="1"/>
          <p:nvPr/>
        </p:nvSpPr>
        <p:spPr>
          <a:xfrm>
            <a:off x="627278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Y1</a:t>
            </a:r>
            <a:endParaRPr lang="en-US" sz="1100" dirty="0"/>
          </a:p>
        </p:txBody>
      </p:sp>
      <p:sp>
        <p:nvSpPr>
          <p:cNvPr id="17" name="Shape 15"/>
          <p:cNvSpPr/>
          <p:nvPr/>
        </p:nvSpPr>
        <p:spPr>
          <a:xfrm>
            <a:off x="7616952" y="3451860"/>
            <a:ext cx="566928" cy="114300"/>
          </a:xfrm>
          <a:prstGeom prst="rect">
            <a:avLst/>
          </a:prstGeom>
          <a:solidFill>
            <a:srgbClr val="262C35"/>
          </a:solidFill>
          <a:ln w="12700">
            <a:solidFill>
              <a:srgbClr val="333333"/>
            </a:solidFill>
            <a:prstDash val="solid"/>
          </a:ln>
        </p:spPr>
      </p:sp>
      <p:sp>
        <p:nvSpPr>
          <p:cNvPr id="18" name="Text 16"/>
          <p:cNvSpPr txBox="1"/>
          <p:nvPr/>
        </p:nvSpPr>
        <p:spPr>
          <a:xfrm>
            <a:off x="750722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2</a:t>
            </a:r>
            <a:endParaRPr lang="en-US" sz="1700" dirty="0"/>
          </a:p>
        </p:txBody>
      </p:sp>
      <p:sp>
        <p:nvSpPr>
          <p:cNvPr id="19" name="Text 17"/>
          <p:cNvSpPr txBox="1"/>
          <p:nvPr/>
        </p:nvSpPr>
        <p:spPr>
          <a:xfrm>
            <a:off x="750722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Y4</a:t>
            </a:r>
            <a:endParaRPr lang="en-US" sz="1100" dirty="0"/>
          </a:p>
        </p:txBody>
      </p:sp>
      <p:sp>
        <p:nvSpPr>
          <p:cNvPr id="20" name="Shape 18"/>
          <p:cNvSpPr/>
          <p:nvPr/>
        </p:nvSpPr>
        <p:spPr>
          <a:xfrm>
            <a:off x="8851392" y="2994660"/>
            <a:ext cx="566928" cy="571500"/>
          </a:xfrm>
          <a:prstGeom prst="rect">
            <a:avLst/>
          </a:prstGeom>
          <a:solidFill>
            <a:srgbClr val="262C35"/>
          </a:solidFill>
          <a:ln w="12700">
            <a:solidFill>
              <a:srgbClr val="333333"/>
            </a:solidFill>
            <a:prstDash val="solid"/>
          </a:ln>
        </p:spPr>
      </p:sp>
      <p:sp>
        <p:nvSpPr>
          <p:cNvPr id="21" name="Text 19"/>
          <p:cNvSpPr txBox="1"/>
          <p:nvPr/>
        </p:nvSpPr>
        <p:spPr>
          <a:xfrm>
            <a:off x="874166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10</a:t>
            </a:r>
            <a:endParaRPr lang="en-US" sz="1700" dirty="0"/>
          </a:p>
        </p:txBody>
      </p:sp>
      <p:sp>
        <p:nvSpPr>
          <p:cNvPr id="22" name="Text 20"/>
          <p:cNvSpPr txBox="1"/>
          <p:nvPr/>
        </p:nvSpPr>
        <p:spPr>
          <a:xfrm>
            <a:off x="874166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Y7</a:t>
            </a:r>
            <a:endParaRPr lang="en-US" sz="1100" dirty="0"/>
          </a:p>
        </p:txBody>
      </p:sp>
      <p:sp>
        <p:nvSpPr>
          <p:cNvPr id="23" name="Shape 21"/>
          <p:cNvSpPr/>
          <p:nvPr/>
        </p:nvSpPr>
        <p:spPr>
          <a:xfrm>
            <a:off x="10085832" y="2651760"/>
            <a:ext cx="566928" cy="914400"/>
          </a:xfrm>
          <a:prstGeom prst="rect">
            <a:avLst/>
          </a:prstGeom>
          <a:solidFill>
            <a:srgbClr val="FFB020"/>
          </a:solidFill>
          <a:ln w="12700">
            <a:solidFill>
              <a:srgbClr val="333333"/>
            </a:solidFill>
            <a:prstDash val="solid"/>
          </a:ln>
        </p:spPr>
      </p:sp>
      <p:sp>
        <p:nvSpPr>
          <p:cNvPr id="24" name="Text 22"/>
          <p:cNvSpPr txBox="1"/>
          <p:nvPr/>
        </p:nvSpPr>
        <p:spPr>
          <a:xfrm>
            <a:off x="997610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16</a:t>
            </a:r>
            <a:endParaRPr lang="en-US" sz="1700" dirty="0"/>
          </a:p>
        </p:txBody>
      </p:sp>
      <p:sp>
        <p:nvSpPr>
          <p:cNvPr id="25" name="Text 23"/>
          <p:cNvSpPr txBox="1"/>
          <p:nvPr/>
        </p:nvSpPr>
        <p:spPr>
          <a:xfrm>
            <a:off x="997610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Y10</a:t>
            </a:r>
            <a:endParaRPr lang="en-US" sz="1100" dirty="0"/>
          </a:p>
        </p:txBody>
      </p:sp>
      <p:sp>
        <p:nvSpPr>
          <p:cNvPr id="26" name="Text 24"/>
          <p:cNvSpPr txBox="1"/>
          <p:nvPr/>
        </p:nvSpPr>
        <p:spPr>
          <a:xfrm>
            <a:off x="713232" y="4187952"/>
            <a:ext cx="10765231" cy="640080"/>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The only human step in the value chain is admission review, and it scales with applications rather than with transactions. That is why sixteen people can run this. Sponsoo took eleven years to reach thirteen, so the comparison is deliberate rather than optimistic.</a:t>
            </a:r>
            <a:endParaRPr lang="en-US" sz="1400" dirty="0"/>
          </a:p>
        </p:txBody>
      </p:sp>
      <p:sp>
        <p:nvSpPr>
          <p:cNvPr id="27" name="Shape 25"/>
          <p:cNvSpPr/>
          <p:nvPr/>
        </p:nvSpPr>
        <p:spPr>
          <a:xfrm>
            <a:off x="713232" y="4828032"/>
            <a:ext cx="10765231" cy="859536"/>
          </a:xfrm>
          <a:prstGeom prst="roundRect">
            <a:avLst>
              <a:gd name="adj" fmla="val 4255"/>
            </a:avLst>
          </a:prstGeom>
          <a:solidFill>
            <a:srgbClr val="1F242C"/>
          </a:solidFill>
          <a:ln w="9525">
            <a:solidFill>
              <a:srgbClr val="262C35"/>
            </a:solidFill>
            <a:prstDash val="solid"/>
          </a:ln>
        </p:spPr>
      </p:sp>
      <p:sp>
        <p:nvSpPr>
          <p:cNvPr id="28" name="Text 26"/>
          <p:cNvSpPr txBox="1"/>
          <p:nvPr/>
        </p:nvSpPr>
        <p:spPr>
          <a:xfrm>
            <a:off x="987552" y="5029200"/>
            <a:ext cx="3840480" cy="237744"/>
          </a:xfrm>
          <a:prstGeom prst="rect">
            <a:avLst/>
          </a:prstGeom>
          <a:noFill/>
          <a:ln/>
        </p:spPr>
        <p:txBody>
          <a:bodyPr wrap="square" lIns="0" tIns="0" rIns="0" bIns="0" rtlCol="0" anchor="t"/>
          <a:lstStyle/>
          <a:p>
            <a:pPr marL="0" indent="0">
              <a:buNone/>
            </a:pPr>
            <a:r>
              <a:rPr lang="en-US" sz="1250" kern="0" spc="220" dirty="0">
                <a:solidFill>
                  <a:srgbClr val="FF8A3D"/>
                </a:solidFill>
                <a:latin typeface="Barlow Condensed" pitchFamily="34" charset="0"/>
                <a:ea typeface="Barlow Condensed" pitchFamily="34" charset="-122"/>
                <a:cs typeface="Barlow Condensed" pitchFamily="34" charset="-120"/>
              </a:rPr>
              <a:t>THE ASSUMPTION I AM MOST EXPOSED ON</a:t>
            </a:r>
            <a:endParaRPr lang="en-US" sz="1250" dirty="0"/>
          </a:p>
        </p:txBody>
      </p:sp>
      <p:sp>
        <p:nvSpPr>
          <p:cNvPr id="29" name="Text 27"/>
          <p:cNvSpPr txBox="1"/>
          <p:nvPr/>
        </p:nvSpPr>
        <p:spPr>
          <a:xfrm>
            <a:off x="5010912" y="4992624"/>
            <a:ext cx="6284671" cy="603504"/>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€301k of revenue per employee at Y7, against a private B2B SaaS median of €135k. If I am wrong, the first thing to give is headcount, which means slower growth rather than a cash crisis.</a:t>
            </a:r>
            <a:endParaRPr lang="en-US" sz="1250" dirty="0"/>
          </a:p>
        </p:txBody>
      </p:sp>
      <p:sp>
        <p:nvSpPr>
          <p:cNvPr id="30"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FINANCIAL PLAN</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Loss-making for four years, and the losses are small</a:t>
            </a:r>
            <a:endParaRPr lang="en-US" sz="3600" dirty="0"/>
          </a:p>
        </p:txBody>
      </p:sp>
      <p:graphicFrame>
        <p:nvGraphicFramePr>
          <p:cNvPr id="4" name="Chart 0"/>
          <p:cNvGraphicFramePr/>
          <p:nvPr/>
        </p:nvGraphicFramePr>
        <p:xfrm>
          <a:off x="713232" y="1920240"/>
          <a:ext cx="7589520" cy="315468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txBox="1"/>
          <p:nvPr/>
        </p:nvSpPr>
        <p:spPr>
          <a:xfrm>
            <a:off x="8503920" y="1993392"/>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EBITDA POSITIVE</a:t>
            </a:r>
            <a:endParaRPr lang="en-US" sz="1100" dirty="0"/>
          </a:p>
        </p:txBody>
      </p:sp>
      <p:sp>
        <p:nvSpPr>
          <p:cNvPr id="6" name="Text 3"/>
          <p:cNvSpPr txBox="1"/>
          <p:nvPr/>
        </p:nvSpPr>
        <p:spPr>
          <a:xfrm>
            <a:off x="8503920" y="2212848"/>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3FCF8E"/>
                </a:solidFill>
                <a:latin typeface="Barlow Condensed" pitchFamily="34" charset="0"/>
                <a:ea typeface="Barlow Condensed" pitchFamily="34" charset="-122"/>
                <a:cs typeface="Barlow Condensed" pitchFamily="34" charset="-120"/>
              </a:rPr>
              <a:t>Y4</a:t>
            </a:r>
            <a:endParaRPr lang="en-US" sz="3200" dirty="0"/>
          </a:p>
        </p:txBody>
      </p:sp>
      <p:sp>
        <p:nvSpPr>
          <p:cNvPr id="7" name="Text 4"/>
          <p:cNvSpPr txBox="1"/>
          <p:nvPr/>
        </p:nvSpPr>
        <p:spPr>
          <a:xfrm>
            <a:off x="8503920" y="2779776"/>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CASH POSITIVE</a:t>
            </a:r>
            <a:endParaRPr lang="en-US" sz="1100" dirty="0"/>
          </a:p>
        </p:txBody>
      </p:sp>
      <p:sp>
        <p:nvSpPr>
          <p:cNvPr id="8" name="Text 5"/>
          <p:cNvSpPr txBox="1"/>
          <p:nvPr/>
        </p:nvSpPr>
        <p:spPr>
          <a:xfrm>
            <a:off x="8503920" y="2999232"/>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3FCF8E"/>
                </a:solidFill>
                <a:latin typeface="Barlow Condensed" pitchFamily="34" charset="0"/>
                <a:ea typeface="Barlow Condensed" pitchFamily="34" charset="-122"/>
                <a:cs typeface="Barlow Condensed" pitchFamily="34" charset="-120"/>
              </a:rPr>
              <a:t>Y5</a:t>
            </a:r>
            <a:endParaRPr lang="en-US" sz="3200" dirty="0"/>
          </a:p>
        </p:txBody>
      </p:sp>
      <p:sp>
        <p:nvSpPr>
          <p:cNvPr id="9" name="Text 6"/>
          <p:cNvSpPr txBox="1"/>
          <p:nvPr/>
        </p:nvSpPr>
        <p:spPr>
          <a:xfrm>
            <a:off x="8503920" y="3566160"/>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Y7 EBITDA MARGIN</a:t>
            </a:r>
            <a:endParaRPr lang="en-US" sz="1100" dirty="0"/>
          </a:p>
        </p:txBody>
      </p:sp>
      <p:sp>
        <p:nvSpPr>
          <p:cNvPr id="10" name="Text 7"/>
          <p:cNvSpPr txBox="1"/>
          <p:nvPr/>
        </p:nvSpPr>
        <p:spPr>
          <a:xfrm>
            <a:off x="8503920" y="3785616"/>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F2F4F7"/>
                </a:solidFill>
                <a:latin typeface="Barlow Condensed" pitchFamily="34" charset="0"/>
                <a:ea typeface="Barlow Condensed" pitchFamily="34" charset="-122"/>
                <a:cs typeface="Barlow Condensed" pitchFamily="34" charset="-120"/>
              </a:rPr>
              <a:t>24.7%</a:t>
            </a:r>
            <a:endParaRPr lang="en-US" sz="3200" dirty="0"/>
          </a:p>
        </p:txBody>
      </p:sp>
      <p:sp>
        <p:nvSpPr>
          <p:cNvPr id="11" name="Text 8"/>
          <p:cNvSpPr txBox="1"/>
          <p:nvPr/>
        </p:nvSpPr>
        <p:spPr>
          <a:xfrm>
            <a:off x="8503920" y="4352544"/>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Y10 NET REVENUE</a:t>
            </a:r>
            <a:endParaRPr lang="en-US" sz="1100" dirty="0"/>
          </a:p>
        </p:txBody>
      </p:sp>
      <p:sp>
        <p:nvSpPr>
          <p:cNvPr id="12" name="Text 9"/>
          <p:cNvSpPr txBox="1"/>
          <p:nvPr/>
        </p:nvSpPr>
        <p:spPr>
          <a:xfrm>
            <a:off x="8503920" y="4572000"/>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F2F4F7"/>
                </a:solidFill>
                <a:latin typeface="Barlow Condensed" pitchFamily="34" charset="0"/>
                <a:ea typeface="Barlow Condensed" pitchFamily="34" charset="-122"/>
                <a:cs typeface="Barlow Condensed" pitchFamily="34" charset="-120"/>
              </a:rPr>
              <a:t>€5.25M</a:t>
            </a:r>
            <a:endParaRPr lang="en-US" sz="3200" dirty="0"/>
          </a:p>
        </p:txBody>
      </p:sp>
      <p:sp>
        <p:nvSpPr>
          <p:cNvPr id="13" name="Text 10"/>
          <p:cNvSpPr txBox="1"/>
          <p:nvPr/>
        </p:nvSpPr>
        <p:spPr>
          <a:xfrm>
            <a:off x="713232" y="5193792"/>
            <a:ext cx="10765231" cy="457200"/>
          </a:xfrm>
          <a:prstGeom prst="rect">
            <a:avLst/>
          </a:prstGeom>
          <a:noFill/>
          <a:ln/>
        </p:spPr>
        <p:txBody>
          <a:bodyPr wrap="square" lIns="0" tIns="0" rIns="0" bIns="0" rtlCol="0" anchor="t"/>
          <a:lstStyle/>
          <a:p>
            <a:pPr marL="0" indent="0">
              <a:lnSpc>
                <a:spcPts val="2200"/>
              </a:lnSpc>
              <a:buNone/>
            </a:pPr>
            <a:r>
              <a:rPr lang="en-US" sz="1350" dirty="0">
                <a:solidFill>
                  <a:srgbClr val="828C9A"/>
                </a:solidFill>
                <a:latin typeface="Barlow" pitchFamily="34" charset="0"/>
                <a:ea typeface="Barlow" pitchFamily="34" charset="-122"/>
                <a:cs typeface="Barlow" pitchFamily="34" charset="-120"/>
              </a:rPr>
              <a:t>Gross margin climbs from 63% to 70%, not the SaaS 80%, because the payment rail is real.</a:t>
            </a:r>
            <a:endParaRPr lang="en-US" sz="1350" dirty="0"/>
          </a:p>
        </p:txBody>
      </p:sp>
      <p:sp>
        <p:nvSpPr>
          <p:cNvPr id="14" name="Text 11"/>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base case. Three scenarios are modelled; the pessimistic case still breaks even in Y5.</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ASK</a:t>
            </a:r>
            <a:endParaRPr lang="en-US" sz="1250" dirty="0"/>
          </a:p>
        </p:txBody>
      </p:sp>
      <p:sp>
        <p:nvSpPr>
          <p:cNvPr id="3" name="Text 1"/>
          <p:cNvSpPr txBox="1"/>
          <p:nvPr/>
        </p:nvSpPr>
        <p:spPr>
          <a:xfrm>
            <a:off x="713232" y="786384"/>
            <a:ext cx="7315200" cy="731520"/>
          </a:xfrm>
          <a:prstGeom prst="rect">
            <a:avLst/>
          </a:prstGeom>
          <a:noFill/>
          <a:ln/>
        </p:spPr>
        <p:txBody>
          <a:bodyPr wrap="square" lIns="0" tIns="0" rIns="0" bIns="0" rtlCol="0" anchor="t"/>
          <a:lstStyle/>
          <a:p>
            <a:pPr marL="0" indent="0">
              <a:buNone/>
            </a:pPr>
            <a:r>
              <a:rPr lang="en-US" sz="4400" dirty="0">
                <a:solidFill>
                  <a:srgbClr val="F2F4F7"/>
                </a:solidFill>
                <a:latin typeface="Barlow Condensed" pitchFamily="34" charset="0"/>
                <a:ea typeface="Barlow Condensed" pitchFamily="34" charset="-122"/>
                <a:cs typeface="Barlow Condensed" pitchFamily="34" charset="-120"/>
              </a:rPr>
              <a:t>€150k at €1.8M pre-money</a:t>
            </a:r>
            <a:endParaRPr lang="en-US" sz="4400" dirty="0"/>
          </a:p>
        </p:txBody>
      </p:sp>
      <p:sp>
        <p:nvSpPr>
          <p:cNvPr id="4" name="Text 2"/>
          <p:cNvSpPr txBox="1"/>
          <p:nvPr/>
        </p:nvSpPr>
        <p:spPr>
          <a:xfrm>
            <a:off x="713232" y="1536192"/>
            <a:ext cx="7680960" cy="365760"/>
          </a:xfrm>
          <a:prstGeom prst="rect">
            <a:avLst/>
          </a:prstGeom>
          <a:noFill/>
          <a:ln/>
        </p:spPr>
        <p:txBody>
          <a:bodyPr wrap="square" lIns="0" tIns="0" rIns="0" bIns="0" rtlCol="0" anchor="t"/>
          <a:lstStyle/>
          <a:p>
            <a:pPr marL="0" indent="0">
              <a:lnSpc>
                <a:spcPts val="2200"/>
              </a:lnSpc>
              <a:buNone/>
            </a:pPr>
            <a:r>
              <a:rPr lang="en-US" sz="1500" dirty="0">
                <a:solidFill>
                  <a:srgbClr val="AEB6C2"/>
                </a:solidFill>
                <a:latin typeface="Barlow" pitchFamily="34" charset="0"/>
                <a:ea typeface="Barlow" pitchFamily="34" charset="-122"/>
                <a:cs typeface="Barlow" pitchFamily="34" charset="-120"/>
              </a:rPr>
              <a:t>The first of two tranches, and the round that clears the worst point in the cash curve</a:t>
            </a:r>
            <a:endParaRPr lang="en-US" sz="1500" dirty="0"/>
          </a:p>
        </p:txBody>
      </p:sp>
      <p:graphicFrame>
        <p:nvGraphicFramePr>
          <p:cNvPr id="5" name="Chart 0"/>
          <p:cNvGraphicFramePr/>
          <p:nvPr/>
        </p:nvGraphicFramePr>
        <p:xfrm>
          <a:off x="713232" y="2148840"/>
          <a:ext cx="6675120" cy="283464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txBox="1"/>
          <p:nvPr/>
        </p:nvSpPr>
        <p:spPr>
          <a:xfrm>
            <a:off x="2130552" y="4572000"/>
            <a:ext cx="2377440" cy="219456"/>
          </a:xfrm>
          <a:prstGeom prst="rect">
            <a:avLst/>
          </a:prstGeom>
          <a:noFill/>
          <a:ln/>
        </p:spPr>
        <p:txBody>
          <a:bodyPr wrap="square" lIns="0" tIns="0" rIns="0" bIns="0" rtlCol="0" anchor="t"/>
          <a:lstStyle/>
          <a:p>
            <a:pPr marL="0" indent="0">
              <a:buNone/>
            </a:pPr>
            <a:r>
              <a:rPr lang="en-US" sz="1150" kern="0" spc="160" dirty="0">
                <a:solidFill>
                  <a:srgbClr val="F2555A"/>
                </a:solidFill>
                <a:latin typeface="Barlow Condensed" pitchFamily="34" charset="0"/>
                <a:ea typeface="Barlow Condensed" pitchFamily="34" charset="-122"/>
                <a:cs typeface="Barlow Condensed" pitchFamily="34" charset="-120"/>
              </a:rPr>
              <a:t>TROUGH €296k IN Y3</a:t>
            </a:r>
            <a:endParaRPr lang="en-US" sz="1150" dirty="0"/>
          </a:p>
        </p:txBody>
      </p:sp>
      <p:sp>
        <p:nvSpPr>
          <p:cNvPr id="7" name="Shape 4"/>
          <p:cNvSpPr/>
          <p:nvPr/>
        </p:nvSpPr>
        <p:spPr>
          <a:xfrm>
            <a:off x="7863840" y="2148840"/>
            <a:ext cx="3614623" cy="896112"/>
          </a:xfrm>
          <a:prstGeom prst="roundRect">
            <a:avLst>
              <a:gd name="adj" fmla="val 4082"/>
            </a:avLst>
          </a:prstGeom>
          <a:solidFill>
            <a:srgbClr val="171A20"/>
          </a:solidFill>
          <a:ln w="9525">
            <a:solidFill>
              <a:srgbClr val="262C35"/>
            </a:solidFill>
            <a:prstDash val="solid"/>
          </a:ln>
        </p:spPr>
      </p:sp>
      <p:sp>
        <p:nvSpPr>
          <p:cNvPr id="8" name="Text 5"/>
          <p:cNvSpPr txBox="1"/>
          <p:nvPr/>
        </p:nvSpPr>
        <p:spPr>
          <a:xfrm>
            <a:off x="8119872" y="2276856"/>
            <a:ext cx="292608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TOTAL REQUIREMENT</a:t>
            </a:r>
            <a:endParaRPr lang="en-US" sz="1050" dirty="0"/>
          </a:p>
        </p:txBody>
      </p:sp>
      <p:sp>
        <p:nvSpPr>
          <p:cNvPr id="9" name="Text 6"/>
          <p:cNvSpPr txBox="1"/>
          <p:nvPr/>
        </p:nvSpPr>
        <p:spPr>
          <a:xfrm>
            <a:off x="8119872" y="2459736"/>
            <a:ext cx="1463040" cy="384048"/>
          </a:xfrm>
          <a:prstGeom prst="rect">
            <a:avLst/>
          </a:prstGeom>
          <a:noFill/>
          <a:ln/>
        </p:spPr>
        <p:txBody>
          <a:bodyPr wrap="square" lIns="0" tIns="0" rIns="0" bIns="0" rtlCol="0" anchor="t"/>
          <a:lstStyle/>
          <a:p>
            <a:pPr marL="0" indent="0">
              <a:lnSpc>
                <a:spcPts val="2700"/>
              </a:lnSpc>
              <a:buNone/>
            </a:pPr>
            <a:r>
              <a:rPr lang="en-US" sz="2700" dirty="0">
                <a:solidFill>
                  <a:srgbClr val="F2F4F7"/>
                </a:solidFill>
                <a:latin typeface="Barlow Condensed" pitchFamily="34" charset="0"/>
                <a:ea typeface="Barlow Condensed" pitchFamily="34" charset="-122"/>
                <a:cs typeface="Barlow Condensed" pitchFamily="34" charset="-120"/>
              </a:rPr>
              <a:t>€414k</a:t>
            </a:r>
            <a:endParaRPr lang="en-US" sz="2700" dirty="0"/>
          </a:p>
        </p:txBody>
      </p:sp>
      <p:sp>
        <p:nvSpPr>
          <p:cNvPr id="10" name="Text 7"/>
          <p:cNvSpPr txBox="1"/>
          <p:nvPr/>
        </p:nvSpPr>
        <p:spPr>
          <a:xfrm>
            <a:off x="9528048" y="2423160"/>
            <a:ext cx="1828800" cy="603504"/>
          </a:xfrm>
          <a:prstGeom prst="rect">
            <a:avLst/>
          </a:prstGeom>
          <a:noFill/>
          <a:ln/>
        </p:spPr>
        <p:txBody>
          <a:bodyPr wrap="square" lIns="0" tIns="0" rIns="0" bIns="0" rtlCol="0" anchor="t"/>
          <a:lstStyle/>
          <a:p>
            <a:pPr marL="0" indent="0">
              <a:lnSpc>
                <a:spcPts val="1400"/>
              </a:lnSpc>
              <a:buNone/>
            </a:pPr>
            <a:r>
              <a:rPr lang="en-US" sz="1050" dirty="0">
                <a:solidFill>
                  <a:srgbClr val="828C9A"/>
                </a:solidFill>
                <a:latin typeface="Barlow" pitchFamily="34" charset="0"/>
                <a:ea typeface="Barlow" pitchFamily="34" charset="-122"/>
                <a:cs typeface="Barlow" pitchFamily="34" charset="-120"/>
              </a:rPr>
              <a:t>the €296k trough plus a 40% buffer</a:t>
            </a:r>
            <a:endParaRPr lang="en-US" sz="1050" dirty="0"/>
          </a:p>
        </p:txBody>
      </p:sp>
      <p:sp>
        <p:nvSpPr>
          <p:cNvPr id="11" name="Shape 8"/>
          <p:cNvSpPr/>
          <p:nvPr/>
        </p:nvSpPr>
        <p:spPr>
          <a:xfrm>
            <a:off x="7863840" y="3172968"/>
            <a:ext cx="3614623" cy="896112"/>
          </a:xfrm>
          <a:prstGeom prst="roundRect">
            <a:avLst>
              <a:gd name="adj" fmla="val 4082"/>
            </a:avLst>
          </a:prstGeom>
          <a:solidFill>
            <a:srgbClr val="1F242C"/>
          </a:solidFill>
          <a:ln w="9525">
            <a:solidFill>
              <a:srgbClr val="262C35"/>
            </a:solidFill>
            <a:prstDash val="solid"/>
          </a:ln>
        </p:spPr>
      </p:sp>
      <p:sp>
        <p:nvSpPr>
          <p:cNvPr id="12" name="Text 9"/>
          <p:cNvSpPr txBox="1"/>
          <p:nvPr/>
        </p:nvSpPr>
        <p:spPr>
          <a:xfrm>
            <a:off x="8119872" y="3300984"/>
            <a:ext cx="292608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NOW</a:t>
            </a:r>
            <a:endParaRPr lang="en-US" sz="1050" dirty="0"/>
          </a:p>
        </p:txBody>
      </p:sp>
      <p:sp>
        <p:nvSpPr>
          <p:cNvPr id="13" name="Text 10"/>
          <p:cNvSpPr txBox="1"/>
          <p:nvPr/>
        </p:nvSpPr>
        <p:spPr>
          <a:xfrm>
            <a:off x="8119872" y="3483864"/>
            <a:ext cx="1463040" cy="384048"/>
          </a:xfrm>
          <a:prstGeom prst="rect">
            <a:avLst/>
          </a:prstGeom>
          <a:noFill/>
          <a:ln/>
        </p:spPr>
        <p:txBody>
          <a:bodyPr wrap="square" lIns="0" tIns="0" rIns="0" bIns="0" rtlCol="0" anchor="t"/>
          <a:lstStyle/>
          <a:p>
            <a:pPr marL="0" indent="0">
              <a:lnSpc>
                <a:spcPts val="2700"/>
              </a:lnSpc>
              <a:buNone/>
            </a:pPr>
            <a:r>
              <a:rPr lang="en-US" sz="2700" dirty="0">
                <a:solidFill>
                  <a:srgbClr val="FFB020"/>
                </a:solidFill>
                <a:latin typeface="Barlow Condensed" pitchFamily="34" charset="0"/>
                <a:ea typeface="Barlow Condensed" pitchFamily="34" charset="-122"/>
                <a:cs typeface="Barlow Condensed" pitchFamily="34" charset="-120"/>
              </a:rPr>
              <a:t>€150k</a:t>
            </a:r>
            <a:endParaRPr lang="en-US" sz="2700" dirty="0"/>
          </a:p>
        </p:txBody>
      </p:sp>
      <p:sp>
        <p:nvSpPr>
          <p:cNvPr id="14" name="Text 11"/>
          <p:cNvSpPr txBox="1"/>
          <p:nvPr/>
        </p:nvSpPr>
        <p:spPr>
          <a:xfrm>
            <a:off x="9528048" y="3447288"/>
            <a:ext cx="1828800" cy="603504"/>
          </a:xfrm>
          <a:prstGeom prst="rect">
            <a:avLst/>
          </a:prstGeom>
          <a:noFill/>
          <a:ln/>
        </p:spPr>
        <p:txBody>
          <a:bodyPr wrap="square" lIns="0" tIns="0" rIns="0" bIns="0" rtlCol="0" anchor="t"/>
          <a:lstStyle/>
          <a:p>
            <a:pPr marL="0" indent="0">
              <a:lnSpc>
                <a:spcPts val="1400"/>
              </a:lnSpc>
              <a:buNone/>
            </a:pPr>
            <a:r>
              <a:rPr lang="en-US" sz="1050" dirty="0">
                <a:solidFill>
                  <a:srgbClr val="828C9A"/>
                </a:solidFill>
                <a:latin typeface="Barlow" pitchFamily="34" charset="0"/>
                <a:ea typeface="Barlow" pitchFamily="34" charset="-122"/>
                <a:cs typeface="Barlow" pitchFamily="34" charset="-120"/>
              </a:rPr>
              <a:t>equity, which also unlocks €75k of non-dilutive ENISA debt</a:t>
            </a:r>
            <a:endParaRPr lang="en-US" sz="1050" dirty="0"/>
          </a:p>
        </p:txBody>
      </p:sp>
      <p:sp>
        <p:nvSpPr>
          <p:cNvPr id="15" name="Shape 12"/>
          <p:cNvSpPr/>
          <p:nvPr/>
        </p:nvSpPr>
        <p:spPr>
          <a:xfrm>
            <a:off x="7863840" y="4197096"/>
            <a:ext cx="3614623" cy="896112"/>
          </a:xfrm>
          <a:prstGeom prst="roundRect">
            <a:avLst>
              <a:gd name="adj" fmla="val 4082"/>
            </a:avLst>
          </a:prstGeom>
          <a:solidFill>
            <a:srgbClr val="171A20"/>
          </a:solidFill>
          <a:ln w="9525">
            <a:solidFill>
              <a:srgbClr val="262C35"/>
            </a:solidFill>
            <a:prstDash val="solid"/>
          </a:ln>
        </p:spPr>
      </p:sp>
      <p:sp>
        <p:nvSpPr>
          <p:cNvPr id="16" name="Text 13"/>
          <p:cNvSpPr txBox="1"/>
          <p:nvPr/>
        </p:nvSpPr>
        <p:spPr>
          <a:xfrm>
            <a:off x="8119872" y="4325112"/>
            <a:ext cx="292608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IN Y2</a:t>
            </a:r>
            <a:endParaRPr lang="en-US" sz="1050" dirty="0"/>
          </a:p>
        </p:txBody>
      </p:sp>
      <p:sp>
        <p:nvSpPr>
          <p:cNvPr id="17" name="Text 14"/>
          <p:cNvSpPr txBox="1"/>
          <p:nvPr/>
        </p:nvSpPr>
        <p:spPr>
          <a:xfrm>
            <a:off x="8119872" y="4507992"/>
            <a:ext cx="1463040" cy="384048"/>
          </a:xfrm>
          <a:prstGeom prst="rect">
            <a:avLst/>
          </a:prstGeom>
          <a:noFill/>
          <a:ln/>
        </p:spPr>
        <p:txBody>
          <a:bodyPr wrap="square" lIns="0" tIns="0" rIns="0" bIns="0" rtlCol="0" anchor="t"/>
          <a:lstStyle/>
          <a:p>
            <a:pPr marL="0" indent="0">
              <a:lnSpc>
                <a:spcPts val="2700"/>
              </a:lnSpc>
              <a:buNone/>
            </a:pPr>
            <a:r>
              <a:rPr lang="en-US" sz="2700" dirty="0">
                <a:solidFill>
                  <a:srgbClr val="F2F4F7"/>
                </a:solidFill>
                <a:latin typeface="Barlow Condensed" pitchFamily="34" charset="0"/>
                <a:ea typeface="Barlow Condensed" pitchFamily="34" charset="-122"/>
                <a:cs typeface="Barlow Condensed" pitchFamily="34" charset="-120"/>
              </a:rPr>
              <a:t>€250k</a:t>
            </a:r>
            <a:endParaRPr lang="en-US" sz="2700" dirty="0"/>
          </a:p>
        </p:txBody>
      </p:sp>
      <p:sp>
        <p:nvSpPr>
          <p:cNvPr id="18" name="Text 15"/>
          <p:cNvSpPr txBox="1"/>
          <p:nvPr/>
        </p:nvSpPr>
        <p:spPr>
          <a:xfrm>
            <a:off x="9528048" y="4471416"/>
            <a:ext cx="1828800" cy="603504"/>
          </a:xfrm>
          <a:prstGeom prst="rect">
            <a:avLst/>
          </a:prstGeom>
          <a:noFill/>
          <a:ln/>
        </p:spPr>
        <p:txBody>
          <a:bodyPr wrap="square" lIns="0" tIns="0" rIns="0" bIns="0" rtlCol="0" anchor="t"/>
          <a:lstStyle/>
          <a:p>
            <a:pPr marL="0" indent="0">
              <a:lnSpc>
                <a:spcPts val="1400"/>
              </a:lnSpc>
              <a:buNone/>
            </a:pPr>
            <a:r>
              <a:rPr lang="en-US" sz="1050" dirty="0">
                <a:solidFill>
                  <a:srgbClr val="828C9A"/>
                </a:solidFill>
                <a:latin typeface="Barlow" pitchFamily="34" charset="0"/>
                <a:ea typeface="Barlow" pitchFamily="34" charset="-122"/>
                <a:cs typeface="Barlow" pitchFamily="34" charset="-120"/>
              </a:rPr>
              <a:t>priced against three months of real subscription revenue, not a promise</a:t>
            </a:r>
            <a:endParaRPr lang="en-US" sz="1050" dirty="0"/>
          </a:p>
        </p:txBody>
      </p:sp>
      <p:sp>
        <p:nvSpPr>
          <p:cNvPr id="19" name="Text 16"/>
          <p:cNvSpPr txBox="1"/>
          <p:nvPr/>
        </p:nvSpPr>
        <p:spPr>
          <a:xfrm>
            <a:off x="713232" y="5102352"/>
            <a:ext cx="10765231" cy="54864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Staging it costs about two points of equity and buys the right to price the second tranche on evidence. A plan whose survival does not depend on the next round arriving on schedule is a stronger one to raise against.</a:t>
            </a:r>
            <a:endParaRPr lang="en-US" sz="13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713232" y="1234440"/>
            <a:ext cx="10765231" cy="274320"/>
          </a:xfrm>
          <a:prstGeom prst="rect">
            <a:avLst/>
          </a:prstGeom>
          <a:noFill/>
          <a:ln/>
        </p:spPr>
        <p:txBody>
          <a:bodyPr wrap="square" lIns="0" tIns="0" rIns="0" bIns="0" rtlCol="0" anchor="t"/>
          <a:lstStyle/>
          <a:p>
            <a:pPr marL="0" indent="0">
              <a:buNone/>
            </a:pPr>
            <a:r>
              <a:rPr lang="en-US" sz="1300" kern="0" spc="320" dirty="0">
                <a:solidFill>
                  <a:srgbClr val="FFB020"/>
                </a:solidFill>
                <a:latin typeface="Barlow Condensed" pitchFamily="34" charset="0"/>
                <a:ea typeface="Barlow Condensed" pitchFamily="34" charset="-122"/>
                <a:cs typeface="Barlow Condensed" pitchFamily="34" charset="-120"/>
              </a:rPr>
              <a:t>ONE ASSUMPTION CARRIES THIS PLAN</a:t>
            </a:r>
            <a:endParaRPr lang="en-US" sz="1300" dirty="0"/>
          </a:p>
        </p:txBody>
      </p:sp>
      <p:sp>
        <p:nvSpPr>
          <p:cNvPr id="3" name="Text 1"/>
          <p:cNvSpPr txBox="1"/>
          <p:nvPr/>
        </p:nvSpPr>
        <p:spPr>
          <a:xfrm>
            <a:off x="713232" y="1664208"/>
            <a:ext cx="8778240" cy="1645920"/>
          </a:xfrm>
          <a:prstGeom prst="rect">
            <a:avLst/>
          </a:prstGeom>
          <a:noFill/>
          <a:ln/>
        </p:spPr>
        <p:txBody>
          <a:bodyPr wrap="square" lIns="0" tIns="0" rIns="0" bIns="0" rtlCol="0" anchor="t"/>
          <a:lstStyle/>
          <a:p>
            <a:pPr marL="0" indent="0">
              <a:lnSpc>
                <a:spcPts val="4800"/>
              </a:lnSpc>
              <a:buNone/>
            </a:pPr>
            <a:r>
              <a:rPr lang="en-US" sz="4400" dirty="0">
                <a:solidFill>
                  <a:srgbClr val="F2F4F7"/>
                </a:solidFill>
                <a:latin typeface="Barlow Condensed" pitchFamily="34" charset="0"/>
                <a:ea typeface="Barlow Condensed" pitchFamily="34" charset="-122"/>
                <a:cs typeface="Barlow Condensed" pitchFamily="34" charset="-120"/>
              </a:rPr>
              <a:t>Will fans of a semi-professional</a:t>
            </a:r>
            <a:endParaRPr lang="en-US" sz="4400" dirty="0"/>
          </a:p>
          <a:p>
            <a:pPr marL="0" indent="0">
              <a:lnSpc>
                <a:spcPts val="4800"/>
              </a:lnSpc>
              <a:buNone/>
            </a:pPr>
            <a:r>
              <a:rPr lang="en-US" sz="4400" dirty="0">
                <a:solidFill>
                  <a:srgbClr val="F2F4F7"/>
                </a:solidFill>
                <a:latin typeface="Barlow Condensed" pitchFamily="34" charset="0"/>
                <a:ea typeface="Barlow Condensed" pitchFamily="34" charset="-122"/>
                <a:cs typeface="Barlow Condensed" pitchFamily="34" charset="-120"/>
              </a:rPr>
              <a:t>athlete actually pay?</a:t>
            </a:r>
            <a:endParaRPr lang="en-US" sz="4400" dirty="0"/>
          </a:p>
        </p:txBody>
      </p:sp>
      <p:sp>
        <p:nvSpPr>
          <p:cNvPr id="4" name="Text 2"/>
          <p:cNvSpPr txBox="1"/>
          <p:nvPr/>
        </p:nvSpPr>
        <p:spPr>
          <a:xfrm>
            <a:off x="713232" y="3401568"/>
            <a:ext cx="8412480" cy="731520"/>
          </a:xfrm>
          <a:prstGeom prst="rect">
            <a:avLst/>
          </a:prstGeom>
          <a:noFill/>
          <a:ln/>
        </p:spPr>
        <p:txBody>
          <a:bodyPr wrap="square" lIns="0" tIns="0" rIns="0" bIns="0" rtlCol="0" anchor="t"/>
          <a:lstStyle/>
          <a:p>
            <a:pPr marL="0" indent="0">
              <a:lnSpc>
                <a:spcPts val="2200"/>
              </a:lnSpc>
              <a:buNone/>
            </a:pPr>
            <a:r>
              <a:rPr lang="en-US" sz="1550" dirty="0">
                <a:solidFill>
                  <a:srgbClr val="AEB6C2"/>
                </a:solidFill>
                <a:latin typeface="Barlow" pitchFamily="34" charset="0"/>
                <a:ea typeface="Barlow" pitchFamily="34" charset="-122"/>
                <a:cs typeface="Barlow" pitchFamily="34" charset="-120"/>
              </a:rPr>
              <a:t>No interview answers it and no amount of further market sizing can. Only three months of real subscription revenue from one anchor athlete settles it, and that is exactly what the pre-seed buys.</a:t>
            </a:r>
            <a:endParaRPr lang="en-US" sz="1550" dirty="0"/>
          </a:p>
        </p:txBody>
      </p:sp>
      <p:sp>
        <p:nvSpPr>
          <p:cNvPr id="5" name="Shape 3"/>
          <p:cNvSpPr/>
          <p:nvPr/>
        </p:nvSpPr>
        <p:spPr>
          <a:xfrm>
            <a:off x="713232" y="4315968"/>
            <a:ext cx="3405530" cy="12802"/>
          </a:xfrm>
          <a:prstGeom prst="rect">
            <a:avLst/>
          </a:prstGeom>
          <a:solidFill>
            <a:srgbClr val="262C35"/>
          </a:solidFill>
          <a:ln w="12700">
            <a:solidFill>
              <a:srgbClr val="333333"/>
            </a:solidFill>
            <a:prstDash val="solid"/>
          </a:ln>
        </p:spPr>
      </p:sp>
      <p:sp>
        <p:nvSpPr>
          <p:cNvPr id="6" name="Text 4"/>
          <p:cNvSpPr txBox="1"/>
          <p:nvPr/>
        </p:nvSpPr>
        <p:spPr>
          <a:xfrm>
            <a:off x="713232" y="4443984"/>
            <a:ext cx="340553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TESTED FOR</a:t>
            </a:r>
            <a:endParaRPr lang="en-US" sz="1050" dirty="0"/>
          </a:p>
        </p:txBody>
      </p:sp>
      <p:sp>
        <p:nvSpPr>
          <p:cNvPr id="7" name="Text 5"/>
          <p:cNvSpPr txBox="1"/>
          <p:nvPr/>
        </p:nvSpPr>
        <p:spPr>
          <a:xfrm>
            <a:off x="713232" y="4645152"/>
            <a:ext cx="3405530" cy="347472"/>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€80k and one year</a:t>
            </a:r>
            <a:endParaRPr lang="en-US" sz="2100" dirty="0"/>
          </a:p>
        </p:txBody>
      </p:sp>
      <p:sp>
        <p:nvSpPr>
          <p:cNvPr id="8" name="Text 6"/>
          <p:cNvSpPr txBox="1"/>
          <p:nvPr/>
        </p:nvSpPr>
        <p:spPr>
          <a:xfrm>
            <a:off x="713232" y="5010912"/>
            <a:ext cx="3405530" cy="36576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rather than €2.6M and four</a:t>
            </a:r>
            <a:endParaRPr lang="en-US" sz="1150" dirty="0"/>
          </a:p>
        </p:txBody>
      </p:sp>
      <p:sp>
        <p:nvSpPr>
          <p:cNvPr id="9" name="Shape 7"/>
          <p:cNvSpPr/>
          <p:nvPr/>
        </p:nvSpPr>
        <p:spPr>
          <a:xfrm>
            <a:off x="4393082" y="4315968"/>
            <a:ext cx="3405530" cy="12802"/>
          </a:xfrm>
          <a:prstGeom prst="rect">
            <a:avLst/>
          </a:prstGeom>
          <a:solidFill>
            <a:srgbClr val="262C35"/>
          </a:solidFill>
          <a:ln w="12700">
            <a:solidFill>
              <a:srgbClr val="333333"/>
            </a:solidFill>
            <a:prstDash val="solid"/>
          </a:ln>
        </p:spPr>
      </p:sp>
      <p:sp>
        <p:nvSpPr>
          <p:cNvPr id="10" name="Text 8"/>
          <p:cNvSpPr txBox="1"/>
          <p:nvPr/>
        </p:nvSpPr>
        <p:spPr>
          <a:xfrm>
            <a:off x="4393082" y="4443984"/>
            <a:ext cx="340553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IF IT FAILS</a:t>
            </a:r>
            <a:endParaRPr lang="en-US" sz="1050" dirty="0"/>
          </a:p>
        </p:txBody>
      </p:sp>
      <p:sp>
        <p:nvSpPr>
          <p:cNvPr id="11" name="Text 9"/>
          <p:cNvSpPr txBox="1"/>
          <p:nvPr/>
        </p:nvSpPr>
        <p:spPr>
          <a:xfrm>
            <a:off x="4393082" y="4645152"/>
            <a:ext cx="3405530" cy="347472"/>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A smaller marketplace</a:t>
            </a:r>
            <a:endParaRPr lang="en-US" sz="2100" dirty="0"/>
          </a:p>
        </p:txBody>
      </p:sp>
      <p:sp>
        <p:nvSpPr>
          <p:cNvPr id="12" name="Text 10"/>
          <p:cNvSpPr txBox="1"/>
          <p:nvPr/>
        </p:nvSpPr>
        <p:spPr>
          <a:xfrm>
            <a:off x="4393082" y="5010912"/>
            <a:ext cx="3405530" cy="36576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viable, but a different company</a:t>
            </a:r>
            <a:endParaRPr lang="en-US" sz="1150" dirty="0"/>
          </a:p>
        </p:txBody>
      </p:sp>
      <p:sp>
        <p:nvSpPr>
          <p:cNvPr id="13" name="Shape 11"/>
          <p:cNvSpPr/>
          <p:nvPr/>
        </p:nvSpPr>
        <p:spPr>
          <a:xfrm>
            <a:off x="8072933" y="4315968"/>
            <a:ext cx="3405530" cy="12802"/>
          </a:xfrm>
          <a:prstGeom prst="rect">
            <a:avLst/>
          </a:prstGeom>
          <a:solidFill>
            <a:srgbClr val="262C35"/>
          </a:solidFill>
          <a:ln w="12700">
            <a:solidFill>
              <a:srgbClr val="333333"/>
            </a:solidFill>
            <a:prstDash val="solid"/>
          </a:ln>
        </p:spPr>
      </p:sp>
      <p:sp>
        <p:nvSpPr>
          <p:cNvPr id="14" name="Text 12"/>
          <p:cNvSpPr txBox="1"/>
          <p:nvPr/>
        </p:nvSpPr>
        <p:spPr>
          <a:xfrm>
            <a:off x="8072933" y="4443984"/>
            <a:ext cx="340553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EVERYTHING ELSE</a:t>
            </a:r>
            <a:endParaRPr lang="en-US" sz="1050" dirty="0"/>
          </a:p>
        </p:txBody>
      </p:sp>
      <p:sp>
        <p:nvSpPr>
          <p:cNvPr id="15" name="Text 13"/>
          <p:cNvSpPr txBox="1"/>
          <p:nvPr/>
        </p:nvSpPr>
        <p:spPr>
          <a:xfrm>
            <a:off x="8072933" y="4645152"/>
            <a:ext cx="3405530" cy="347472"/>
          </a:xfrm>
          <a:prstGeom prst="rect">
            <a:avLst/>
          </a:prstGeom>
          <a:noFill/>
          <a:ln/>
        </p:spPr>
        <p:txBody>
          <a:bodyPr wrap="square" lIns="0" tIns="0" rIns="0" bIns="0" rtlCol="0" anchor="t"/>
          <a:lstStyle/>
          <a:p>
            <a:pPr marL="0" indent="0">
              <a:buNone/>
            </a:pPr>
            <a:r>
              <a:rPr lang="en-US" sz="2100" dirty="0">
                <a:solidFill>
                  <a:srgbClr val="FFB020"/>
                </a:solidFill>
                <a:latin typeface="Barlow Condensed" pitchFamily="34" charset="0"/>
                <a:ea typeface="Barlow Condensed" pitchFamily="34" charset="-122"/>
                <a:cs typeface="Barlow Condensed" pitchFamily="34" charset="-120"/>
              </a:rPr>
              <a:t>Already done</a:t>
            </a:r>
            <a:endParaRPr lang="en-US" sz="2100" dirty="0"/>
          </a:p>
        </p:txBody>
      </p:sp>
      <p:sp>
        <p:nvSpPr>
          <p:cNvPr id="16" name="Text 14"/>
          <p:cNvSpPr txBox="1"/>
          <p:nvPr/>
        </p:nvSpPr>
        <p:spPr>
          <a:xfrm>
            <a:off x="8072933" y="5010912"/>
            <a:ext cx="3405530" cy="36576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built, deployed and demonstrable</a:t>
            </a:r>
            <a:endParaRPr lang="en-US" sz="1150" dirty="0"/>
          </a:p>
        </p:txBody>
      </p:sp>
      <p:sp>
        <p:nvSpPr>
          <p:cNvPr id="17" name="Shape 15"/>
          <p:cNvSpPr/>
          <p:nvPr/>
        </p:nvSpPr>
        <p:spPr>
          <a:xfrm>
            <a:off x="713232" y="5856585"/>
            <a:ext cx="156754" cy="25603"/>
          </a:xfrm>
          <a:prstGeom prst="rect">
            <a:avLst/>
          </a:prstGeom>
          <a:solidFill>
            <a:srgbClr val="FFB020"/>
          </a:solidFill>
          <a:ln w="12700">
            <a:solidFill>
              <a:srgbClr val="333333"/>
            </a:solidFill>
            <a:prstDash val="solid"/>
          </a:ln>
        </p:spPr>
      </p:sp>
      <p:sp>
        <p:nvSpPr>
          <p:cNvPr id="18" name="Text 16"/>
          <p:cNvSpPr txBox="1"/>
          <p:nvPr/>
        </p:nvSpPr>
        <p:spPr>
          <a:xfrm>
            <a:off x="954392" y="5715000"/>
            <a:ext cx="3135086" cy="422031"/>
          </a:xfrm>
          <a:prstGeom prst="rect">
            <a:avLst/>
          </a:prstGeom>
          <a:noFill/>
          <a:ln/>
        </p:spPr>
        <p:txBody>
          <a:bodyPr wrap="square" lIns="0" tIns="0" rIns="0" bIns="0" rtlCol="0" anchor="t"/>
          <a:lstStyle/>
          <a:p>
            <a:pPr marL="0" indent="0">
              <a:buNone/>
            </a:pPr>
            <a:r>
              <a:rPr lang="en-US" sz="2400" kern="0" spc="171" dirty="0">
                <a:solidFill>
                  <a:srgbClr val="F2F4F7"/>
                </a:solidFill>
                <a:latin typeface="Barlow Condensed" pitchFamily="34" charset="0"/>
                <a:ea typeface="Barlow Condensed" pitchFamily="34" charset="-122"/>
                <a:cs typeface="Barlow Condensed" pitchFamily="34" charset="-120"/>
              </a:rPr>
              <a:t>STRIDE</a:t>
            </a:r>
            <a:endParaRPr lang="en-US" sz="2400" dirty="0"/>
          </a:p>
        </p:txBody>
      </p:sp>
      <p:sp>
        <p:nvSpPr>
          <p:cNvPr id="19" name="Text 17"/>
          <p:cNvSpPr txBox="1"/>
          <p:nvPr/>
        </p:nvSpPr>
        <p:spPr>
          <a:xfrm>
            <a:off x="7820863" y="5760720"/>
            <a:ext cx="3657600" cy="310896"/>
          </a:xfrm>
          <a:prstGeom prst="rect">
            <a:avLst/>
          </a:prstGeom>
          <a:noFill/>
          <a:ln/>
        </p:spPr>
        <p:txBody>
          <a:bodyPr wrap="square" lIns="0" tIns="0" rIns="0" bIns="0" rtlCol="0" anchor="t"/>
          <a:lstStyle/>
          <a:p>
            <a:pPr marL="0" indent="0" algn="r">
              <a:buNone/>
            </a:pPr>
            <a:r>
              <a:rPr lang="en-US" sz="1600" dirty="0">
                <a:solidFill>
                  <a:srgbClr val="FFB020"/>
                </a:solidFill>
                <a:latin typeface="Barlow Condensed" pitchFamily="34" charset="0"/>
                <a:ea typeface="Barlow Condensed" pitchFamily="34" charset="-122"/>
                <a:cs typeface="Barlow Condensed" pitchFamily="34" charset="-120"/>
              </a:rPr>
              <a:t>stride-demo.onrender.com</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713232" y="2834640"/>
            <a:ext cx="10765231" cy="365760"/>
          </a:xfrm>
          <a:prstGeom prst="rect">
            <a:avLst/>
          </a:prstGeom>
          <a:noFill/>
          <a:ln/>
        </p:spPr>
        <p:txBody>
          <a:bodyPr wrap="square" lIns="0" tIns="0" rIns="0" bIns="0" rtlCol="0" anchor="t"/>
          <a:lstStyle/>
          <a:p>
            <a:pPr marL="0" indent="0">
              <a:buNone/>
            </a:pPr>
            <a:r>
              <a:rPr lang="en-US" sz="1500" kern="0" spc="340" dirty="0">
                <a:solidFill>
                  <a:srgbClr val="FFB020"/>
                </a:solidFill>
                <a:latin typeface="Barlow Condensed" pitchFamily="34" charset="0"/>
                <a:ea typeface="Barlow Condensed" pitchFamily="34" charset="-122"/>
                <a:cs typeface="Barlow Condensed" pitchFamily="34" charset="-120"/>
              </a:rPr>
              <a:t>BACKUP</a:t>
            </a:r>
            <a:endParaRPr lang="en-US" sz="1500" dirty="0"/>
          </a:p>
        </p:txBody>
      </p:sp>
      <p:sp>
        <p:nvSpPr>
          <p:cNvPr id="3" name="Text 1"/>
          <p:cNvSpPr txBox="1"/>
          <p:nvPr/>
        </p:nvSpPr>
        <p:spPr>
          <a:xfrm>
            <a:off x="713232" y="3218688"/>
            <a:ext cx="10765231" cy="731520"/>
          </a:xfrm>
          <a:prstGeom prst="rect">
            <a:avLst/>
          </a:prstGeom>
          <a:noFill/>
          <a:ln/>
        </p:spPr>
        <p:txBody>
          <a:bodyPr wrap="square" lIns="0" tIns="0" rIns="0" bIns="0" rtlCol="0" anchor="t"/>
          <a:lstStyle/>
          <a:p>
            <a:pPr marL="0" indent="0">
              <a:buNone/>
            </a:pPr>
            <a:r>
              <a:rPr lang="en-US" sz="4000" dirty="0">
                <a:solidFill>
                  <a:srgbClr val="F2F4F7"/>
                </a:solidFill>
                <a:latin typeface="Barlow Condensed" pitchFamily="34" charset="0"/>
                <a:ea typeface="Barlow Condensed" pitchFamily="34" charset="-122"/>
                <a:cs typeface="Barlow Condensed" pitchFamily="34" charset="-120"/>
              </a:rPr>
              <a:t>Held for questions</a:t>
            </a:r>
            <a:endParaRPr lang="en-US" sz="4000" dirty="0"/>
          </a:p>
        </p:txBody>
      </p:sp>
      <p:sp>
        <p:nvSpPr>
          <p:cNvPr id="4" name="Text 2"/>
          <p:cNvSpPr txBox="1"/>
          <p:nvPr/>
        </p:nvSpPr>
        <p:spPr>
          <a:xfrm>
            <a:off x="713232" y="3977640"/>
            <a:ext cx="7315200" cy="365760"/>
          </a:xfrm>
          <a:prstGeom prst="rect">
            <a:avLst/>
          </a:prstGeom>
          <a:noFill/>
          <a:ln/>
        </p:spPr>
        <p:txBody>
          <a:bodyPr wrap="square" lIns="0" tIns="0" rIns="0" bIns="0" rtlCol="0" anchor="t"/>
          <a:lstStyle/>
          <a:p>
            <a:pPr marL="0" indent="0">
              <a:lnSpc>
                <a:spcPts val="2200"/>
              </a:lnSpc>
              <a:buNone/>
            </a:pPr>
            <a:r>
              <a:rPr lang="en-US" sz="1400" dirty="0">
                <a:solidFill>
                  <a:srgbClr val="828C9A"/>
                </a:solidFill>
                <a:latin typeface="Barlow" pitchFamily="34" charset="0"/>
                <a:ea typeface="Barlow" pitchFamily="34" charset="-122"/>
                <a:cs typeface="Barlow" pitchFamily="34" charset="-120"/>
              </a:rPr>
              <a:t>Pricing, scenarios, risk, valuation, dilution and the admission arithmetic.</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PRICING</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15% sits between the only two published rates in the market</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Both ends of the corridor are real competitor economics, derived from filed accounts.</a:t>
            </a:r>
            <a:endParaRPr lang="en-US" sz="1400" dirty="0"/>
          </a:p>
        </p:txBody>
      </p:sp>
      <p:sp>
        <p:nvSpPr>
          <p:cNvPr id="5" name="Shape 3"/>
          <p:cNvSpPr/>
          <p:nvPr/>
        </p:nvSpPr>
        <p:spPr>
          <a:xfrm>
            <a:off x="713232" y="2194560"/>
            <a:ext cx="3405530" cy="1783080"/>
          </a:xfrm>
          <a:prstGeom prst="roundRect">
            <a:avLst>
              <a:gd name="adj" fmla="val 2051"/>
            </a:avLst>
          </a:prstGeom>
          <a:solidFill>
            <a:srgbClr val="171A20"/>
          </a:solidFill>
          <a:ln w="9525">
            <a:solidFill>
              <a:srgbClr val="262C35"/>
            </a:solidFill>
            <a:prstDash val="solid"/>
          </a:ln>
        </p:spPr>
      </p:sp>
      <p:sp>
        <p:nvSpPr>
          <p:cNvPr id="6" name="Text 4"/>
          <p:cNvSpPr txBox="1"/>
          <p:nvPr/>
        </p:nvSpPr>
        <p:spPr>
          <a:xfrm>
            <a:off x="987552" y="2395728"/>
            <a:ext cx="2856890" cy="237744"/>
          </a:xfrm>
          <a:prstGeom prst="rect">
            <a:avLst/>
          </a:prstGeom>
          <a:noFill/>
          <a:ln/>
        </p:spPr>
        <p:txBody>
          <a:bodyPr wrap="square" lIns="0" tIns="0" rIns="0" bIns="0" rtlCol="0" anchor="t"/>
          <a:lstStyle/>
          <a:p>
            <a:pPr marL="0" indent="0">
              <a:buNone/>
            </a:pPr>
            <a:r>
              <a:rPr lang="en-US" sz="1300" kern="0" spc="240" dirty="0">
                <a:solidFill>
                  <a:srgbClr val="828C9A"/>
                </a:solidFill>
                <a:latin typeface="Barlow Condensed" pitchFamily="34" charset="0"/>
                <a:ea typeface="Barlow Condensed" pitchFamily="34" charset="-122"/>
                <a:cs typeface="Barlow Condensed" pitchFamily="34" charset="-120"/>
              </a:rPr>
              <a:t>PATREON</a:t>
            </a:r>
            <a:endParaRPr lang="en-US" sz="1300" dirty="0"/>
          </a:p>
        </p:txBody>
      </p:sp>
      <p:sp>
        <p:nvSpPr>
          <p:cNvPr id="7" name="Text 5"/>
          <p:cNvSpPr txBox="1"/>
          <p:nvPr/>
        </p:nvSpPr>
        <p:spPr>
          <a:xfrm>
            <a:off x="987552" y="2670048"/>
            <a:ext cx="2856890" cy="731520"/>
          </a:xfrm>
          <a:prstGeom prst="rect">
            <a:avLst/>
          </a:prstGeom>
          <a:noFill/>
          <a:ln/>
        </p:spPr>
        <p:txBody>
          <a:bodyPr wrap="square" lIns="0" tIns="0" rIns="0" bIns="0" rtlCol="0" anchor="t"/>
          <a:lstStyle/>
          <a:p>
            <a:pPr marL="0" indent="0">
              <a:lnSpc>
                <a:spcPts val="5000"/>
              </a:lnSpc>
              <a:buNone/>
            </a:pPr>
            <a:r>
              <a:rPr lang="en-US" sz="5000" dirty="0">
                <a:solidFill>
                  <a:srgbClr val="AEB6C2"/>
                </a:solidFill>
                <a:latin typeface="Barlow Condensed" pitchFamily="34" charset="0"/>
                <a:ea typeface="Barlow Condensed" pitchFamily="34" charset="-122"/>
                <a:cs typeface="Barlow Condensed" pitchFamily="34" charset="-120"/>
              </a:rPr>
              <a:t>10%</a:t>
            </a:r>
            <a:endParaRPr lang="en-US" sz="5000" dirty="0"/>
          </a:p>
        </p:txBody>
      </p:sp>
      <p:sp>
        <p:nvSpPr>
          <p:cNvPr id="8" name="Text 6"/>
          <p:cNvSpPr txBox="1"/>
          <p:nvPr/>
        </p:nvSpPr>
        <p:spPr>
          <a:xfrm>
            <a:off x="987552" y="3438144"/>
            <a:ext cx="2856890" cy="457200"/>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all-in, on filed accounts</a:t>
            </a:r>
            <a:endParaRPr lang="en-US" sz="1200" dirty="0"/>
          </a:p>
        </p:txBody>
      </p:sp>
      <p:sp>
        <p:nvSpPr>
          <p:cNvPr id="9" name="Shape 7"/>
          <p:cNvSpPr/>
          <p:nvPr/>
        </p:nvSpPr>
        <p:spPr>
          <a:xfrm>
            <a:off x="4393082" y="2194560"/>
            <a:ext cx="3405530" cy="1783080"/>
          </a:xfrm>
          <a:prstGeom prst="roundRect">
            <a:avLst>
              <a:gd name="adj" fmla="val 2051"/>
            </a:avLst>
          </a:prstGeom>
          <a:solidFill>
            <a:srgbClr val="1F242C"/>
          </a:solidFill>
          <a:ln w="9525">
            <a:solidFill>
              <a:srgbClr val="262C35"/>
            </a:solidFill>
            <a:prstDash val="solid"/>
          </a:ln>
        </p:spPr>
      </p:sp>
      <p:sp>
        <p:nvSpPr>
          <p:cNvPr id="10" name="Text 8"/>
          <p:cNvSpPr txBox="1"/>
          <p:nvPr/>
        </p:nvSpPr>
        <p:spPr>
          <a:xfrm>
            <a:off x="4667402" y="2395728"/>
            <a:ext cx="2856890" cy="237744"/>
          </a:xfrm>
          <a:prstGeom prst="rect">
            <a:avLst/>
          </a:prstGeom>
          <a:noFill/>
          <a:ln/>
        </p:spPr>
        <p:txBody>
          <a:bodyPr wrap="square" lIns="0" tIns="0" rIns="0" bIns="0" rtlCol="0" anchor="t"/>
          <a:lstStyle/>
          <a:p>
            <a:pPr marL="0" indent="0">
              <a:buNone/>
            </a:pPr>
            <a:r>
              <a:rPr lang="en-US" sz="1300" kern="0" spc="240" dirty="0">
                <a:solidFill>
                  <a:srgbClr val="828C9A"/>
                </a:solidFill>
                <a:latin typeface="Barlow Condensed" pitchFamily="34" charset="0"/>
                <a:ea typeface="Barlow Condensed" pitchFamily="34" charset="-122"/>
                <a:cs typeface="Barlow Condensed" pitchFamily="34" charset="-120"/>
              </a:rPr>
              <a:t>STRIDE</a:t>
            </a:r>
            <a:endParaRPr lang="en-US" sz="1300" dirty="0"/>
          </a:p>
        </p:txBody>
      </p:sp>
      <p:sp>
        <p:nvSpPr>
          <p:cNvPr id="11" name="Text 9"/>
          <p:cNvSpPr txBox="1"/>
          <p:nvPr/>
        </p:nvSpPr>
        <p:spPr>
          <a:xfrm>
            <a:off x="4667402" y="2670048"/>
            <a:ext cx="2856890" cy="731520"/>
          </a:xfrm>
          <a:prstGeom prst="rect">
            <a:avLst/>
          </a:prstGeom>
          <a:noFill/>
          <a:ln/>
        </p:spPr>
        <p:txBody>
          <a:bodyPr wrap="square" lIns="0" tIns="0" rIns="0" bIns="0" rtlCol="0" anchor="t"/>
          <a:lstStyle/>
          <a:p>
            <a:pPr marL="0" indent="0">
              <a:lnSpc>
                <a:spcPts val="5000"/>
              </a:lnSpc>
              <a:buNone/>
            </a:pPr>
            <a:r>
              <a:rPr lang="en-US" sz="5000" dirty="0">
                <a:solidFill>
                  <a:srgbClr val="FFB020"/>
                </a:solidFill>
                <a:latin typeface="Barlow Condensed" pitchFamily="34" charset="0"/>
                <a:ea typeface="Barlow Condensed" pitchFamily="34" charset="-122"/>
                <a:cs typeface="Barlow Condensed" pitchFamily="34" charset="-120"/>
              </a:rPr>
              <a:t>15%</a:t>
            </a:r>
            <a:endParaRPr lang="en-US" sz="5000" dirty="0"/>
          </a:p>
        </p:txBody>
      </p:sp>
      <p:sp>
        <p:nvSpPr>
          <p:cNvPr id="12" name="Text 10"/>
          <p:cNvSpPr txBox="1"/>
          <p:nvPr/>
        </p:nvSpPr>
        <p:spPr>
          <a:xfrm>
            <a:off x="4667402" y="3438144"/>
            <a:ext cx="2856890" cy="457200"/>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flat, and no monthly athlete fee</a:t>
            </a:r>
            <a:endParaRPr lang="en-US" sz="1200" dirty="0"/>
          </a:p>
        </p:txBody>
      </p:sp>
      <p:sp>
        <p:nvSpPr>
          <p:cNvPr id="13" name="Shape 11"/>
          <p:cNvSpPr/>
          <p:nvPr/>
        </p:nvSpPr>
        <p:spPr>
          <a:xfrm>
            <a:off x="8072933" y="2194560"/>
            <a:ext cx="3405530" cy="1783080"/>
          </a:xfrm>
          <a:prstGeom prst="roundRect">
            <a:avLst>
              <a:gd name="adj" fmla="val 2051"/>
            </a:avLst>
          </a:prstGeom>
          <a:solidFill>
            <a:srgbClr val="171A20"/>
          </a:solidFill>
          <a:ln w="9525">
            <a:solidFill>
              <a:srgbClr val="262C35"/>
            </a:solidFill>
            <a:prstDash val="solid"/>
          </a:ln>
        </p:spPr>
      </p:sp>
      <p:sp>
        <p:nvSpPr>
          <p:cNvPr id="14" name="Text 12"/>
          <p:cNvSpPr txBox="1"/>
          <p:nvPr/>
        </p:nvSpPr>
        <p:spPr>
          <a:xfrm>
            <a:off x="8347253" y="2395728"/>
            <a:ext cx="2856890" cy="237744"/>
          </a:xfrm>
          <a:prstGeom prst="rect">
            <a:avLst/>
          </a:prstGeom>
          <a:noFill/>
          <a:ln/>
        </p:spPr>
        <p:txBody>
          <a:bodyPr wrap="square" lIns="0" tIns="0" rIns="0" bIns="0" rtlCol="0" anchor="t"/>
          <a:lstStyle/>
          <a:p>
            <a:pPr marL="0" indent="0">
              <a:buNone/>
            </a:pPr>
            <a:r>
              <a:rPr lang="en-US" sz="1300" kern="0" spc="240" dirty="0">
                <a:solidFill>
                  <a:srgbClr val="828C9A"/>
                </a:solidFill>
                <a:latin typeface="Barlow Condensed" pitchFamily="34" charset="0"/>
                <a:ea typeface="Barlow Condensed" pitchFamily="34" charset="-122"/>
                <a:cs typeface="Barlow Condensed" pitchFamily="34" charset="-120"/>
              </a:rPr>
              <a:t>ONLYFANS</a:t>
            </a:r>
            <a:endParaRPr lang="en-US" sz="1300" dirty="0"/>
          </a:p>
        </p:txBody>
      </p:sp>
      <p:sp>
        <p:nvSpPr>
          <p:cNvPr id="15" name="Text 13"/>
          <p:cNvSpPr txBox="1"/>
          <p:nvPr/>
        </p:nvSpPr>
        <p:spPr>
          <a:xfrm>
            <a:off x="8347253" y="2670048"/>
            <a:ext cx="2856890" cy="731520"/>
          </a:xfrm>
          <a:prstGeom prst="rect">
            <a:avLst/>
          </a:prstGeom>
          <a:noFill/>
          <a:ln/>
        </p:spPr>
        <p:txBody>
          <a:bodyPr wrap="square" lIns="0" tIns="0" rIns="0" bIns="0" rtlCol="0" anchor="t"/>
          <a:lstStyle/>
          <a:p>
            <a:pPr marL="0" indent="0">
              <a:lnSpc>
                <a:spcPts val="5000"/>
              </a:lnSpc>
              <a:buNone/>
            </a:pPr>
            <a:r>
              <a:rPr lang="en-US" sz="5000" dirty="0">
                <a:solidFill>
                  <a:srgbClr val="AEB6C2"/>
                </a:solidFill>
                <a:latin typeface="Barlow Condensed" pitchFamily="34" charset="0"/>
                <a:ea typeface="Barlow Condensed" pitchFamily="34" charset="-122"/>
                <a:cs typeface="Barlow Condensed" pitchFamily="34" charset="-120"/>
              </a:rPr>
              <a:t>20%</a:t>
            </a:r>
            <a:endParaRPr lang="en-US" sz="5000" dirty="0"/>
          </a:p>
        </p:txBody>
      </p:sp>
      <p:sp>
        <p:nvSpPr>
          <p:cNvPr id="16" name="Text 14"/>
          <p:cNvSpPr txBox="1"/>
          <p:nvPr/>
        </p:nvSpPr>
        <p:spPr>
          <a:xfrm>
            <a:off x="8347253" y="3438144"/>
            <a:ext cx="2856890" cy="457200"/>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and agencies take 20 to 50% on top</a:t>
            </a:r>
            <a:endParaRPr lang="en-US" sz="1200" dirty="0"/>
          </a:p>
        </p:txBody>
      </p:sp>
      <p:sp>
        <p:nvSpPr>
          <p:cNvPr id="17" name="Text 15"/>
          <p:cNvSpPr txBox="1"/>
          <p:nvPr/>
        </p:nvSpPr>
        <p:spPr>
          <a:xfrm>
            <a:off x="713232" y="4224528"/>
            <a:ext cx="10765231" cy="822960"/>
          </a:xfrm>
          <a:prstGeom prst="rect">
            <a:avLst/>
          </a:prstGeom>
          <a:noFill/>
          <a:ln/>
        </p:spPr>
        <p:txBody>
          <a:bodyPr wrap="square" lIns="0" tIns="0" rIns="0" bIns="0" rtlCol="0" anchor="t"/>
          <a:lstStyle/>
          <a:p>
            <a:pPr marL="0" indent="0">
              <a:lnSpc>
                <a:spcPts val="2000"/>
              </a:lnSpc>
              <a:buNone/>
            </a:pPr>
            <a:r>
              <a:rPr lang="en-US" sz="1400" dirty="0">
                <a:solidFill>
                  <a:srgbClr val="AEB6C2"/>
                </a:solidFill>
                <a:latin typeface="Barlow" pitchFamily="34" charset="0"/>
                <a:ea typeface="Barlow" pitchFamily="34" charset="-122"/>
                <a:cs typeface="Barlow" pitchFamily="34" charset="-120"/>
              </a:rPr>
              <a:t>At 15% we undercut the nearest comparable for any athlete earning under €1,380 a month, which is the entire long tail we are built for. The decision forfeits €0.5M of Y7 revenue against a 20% take, and buys a pricing argument that survives contact with the exact athlete we target.</a:t>
            </a:r>
            <a:endParaRPr lang="en-US" sz="1400" dirty="0"/>
          </a:p>
        </p:txBody>
      </p:sp>
      <p:sp>
        <p:nvSpPr>
          <p:cNvPr id="18" name="Text 1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Patreon and OnlyFans published terms and filed accounts; agency rates from published commission guides.</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SCENARIOS</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The plan survives its own pessimistic case</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Each case re-runs the whole model on changed drivers rather than adjusting the base result.</a:t>
            </a:r>
            <a:endParaRPr lang="en-US" sz="1400" dirty="0"/>
          </a:p>
        </p:txBody>
      </p:sp>
      <p:sp>
        <p:nvSpPr>
          <p:cNvPr id="5" name="Text 3"/>
          <p:cNvSpPr txBox="1"/>
          <p:nvPr/>
        </p:nvSpPr>
        <p:spPr>
          <a:xfrm>
            <a:off x="713232" y="2194560"/>
            <a:ext cx="164592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CASE</a:t>
            </a:r>
            <a:endParaRPr lang="en-US" sz="1100" dirty="0"/>
          </a:p>
        </p:txBody>
      </p:sp>
      <p:sp>
        <p:nvSpPr>
          <p:cNvPr id="6" name="Text 4"/>
          <p:cNvSpPr txBox="1"/>
          <p:nvPr/>
        </p:nvSpPr>
        <p:spPr>
          <a:xfrm>
            <a:off x="2450592" y="2194560"/>
            <a:ext cx="301752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WHAT CHANGES</a:t>
            </a:r>
            <a:endParaRPr lang="en-US" sz="1100" dirty="0"/>
          </a:p>
        </p:txBody>
      </p:sp>
      <p:sp>
        <p:nvSpPr>
          <p:cNvPr id="7" name="Text 5"/>
          <p:cNvSpPr txBox="1"/>
          <p:nvPr/>
        </p:nvSpPr>
        <p:spPr>
          <a:xfrm>
            <a:off x="5559552" y="2194560"/>
            <a:ext cx="14630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Y7 REVENUE</a:t>
            </a:r>
            <a:endParaRPr lang="en-US" sz="1100" dirty="0"/>
          </a:p>
        </p:txBody>
      </p:sp>
      <p:sp>
        <p:nvSpPr>
          <p:cNvPr id="8" name="Text 6"/>
          <p:cNvSpPr txBox="1"/>
          <p:nvPr/>
        </p:nvSpPr>
        <p:spPr>
          <a:xfrm>
            <a:off x="7114032" y="2194560"/>
            <a:ext cx="14630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Y7 EBITDA</a:t>
            </a:r>
            <a:endParaRPr lang="en-US" sz="1100" dirty="0"/>
          </a:p>
        </p:txBody>
      </p:sp>
      <p:sp>
        <p:nvSpPr>
          <p:cNvPr id="9" name="Text 7"/>
          <p:cNvSpPr txBox="1"/>
          <p:nvPr/>
        </p:nvSpPr>
        <p:spPr>
          <a:xfrm>
            <a:off x="8668512" y="2194560"/>
            <a:ext cx="14630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CAPITAL NEED</a:t>
            </a:r>
            <a:endParaRPr lang="en-US" sz="1100" dirty="0"/>
          </a:p>
        </p:txBody>
      </p:sp>
      <p:sp>
        <p:nvSpPr>
          <p:cNvPr id="10" name="Text 8"/>
          <p:cNvSpPr txBox="1"/>
          <p:nvPr/>
        </p:nvSpPr>
        <p:spPr>
          <a:xfrm>
            <a:off x="10222992" y="2194560"/>
            <a:ext cx="12344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PROFIT FROM</a:t>
            </a:r>
            <a:endParaRPr lang="en-US" sz="1100" dirty="0"/>
          </a:p>
        </p:txBody>
      </p:sp>
      <p:sp>
        <p:nvSpPr>
          <p:cNvPr id="11" name="Shape 9"/>
          <p:cNvSpPr/>
          <p:nvPr/>
        </p:nvSpPr>
        <p:spPr>
          <a:xfrm>
            <a:off x="713232" y="2468880"/>
            <a:ext cx="10765231" cy="12802"/>
          </a:xfrm>
          <a:prstGeom prst="rect">
            <a:avLst/>
          </a:prstGeom>
          <a:solidFill>
            <a:srgbClr val="262C35"/>
          </a:solidFill>
          <a:ln w="12700">
            <a:solidFill>
              <a:srgbClr val="333333"/>
            </a:solidFill>
            <a:prstDash val="solid"/>
          </a:ln>
        </p:spPr>
      </p:sp>
      <p:sp>
        <p:nvSpPr>
          <p:cNvPr id="12" name="Text 10"/>
          <p:cNvSpPr txBox="1"/>
          <p:nvPr/>
        </p:nvSpPr>
        <p:spPr>
          <a:xfrm>
            <a:off x="713232" y="2596896"/>
            <a:ext cx="164592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Pessimistic</a:t>
            </a:r>
            <a:endParaRPr lang="en-US" sz="1700" dirty="0"/>
          </a:p>
        </p:txBody>
      </p:sp>
      <p:sp>
        <p:nvSpPr>
          <p:cNvPr id="13" name="Text 11"/>
          <p:cNvSpPr txBox="1"/>
          <p:nvPr/>
        </p:nvSpPr>
        <p:spPr>
          <a:xfrm>
            <a:off x="2450592" y="2596896"/>
            <a:ext cx="3017520" cy="329184"/>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Fans/athlete −25%, monetise −20%</a:t>
            </a:r>
            <a:endParaRPr lang="en-US" sz="1250" dirty="0"/>
          </a:p>
        </p:txBody>
      </p:sp>
      <p:sp>
        <p:nvSpPr>
          <p:cNvPr id="14" name="Text 12"/>
          <p:cNvSpPr txBox="1"/>
          <p:nvPr/>
        </p:nvSpPr>
        <p:spPr>
          <a:xfrm>
            <a:off x="5559552" y="2596896"/>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€2.34M</a:t>
            </a:r>
            <a:endParaRPr lang="en-US" sz="1700" dirty="0"/>
          </a:p>
        </p:txBody>
      </p:sp>
      <p:sp>
        <p:nvSpPr>
          <p:cNvPr id="15" name="Text 13"/>
          <p:cNvSpPr txBox="1"/>
          <p:nvPr/>
        </p:nvSpPr>
        <p:spPr>
          <a:xfrm>
            <a:off x="7114032" y="2596896"/>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€399k</a:t>
            </a:r>
            <a:endParaRPr lang="en-US" sz="1700" dirty="0"/>
          </a:p>
        </p:txBody>
      </p:sp>
      <p:sp>
        <p:nvSpPr>
          <p:cNvPr id="16" name="Text 14"/>
          <p:cNvSpPr txBox="1"/>
          <p:nvPr/>
        </p:nvSpPr>
        <p:spPr>
          <a:xfrm>
            <a:off x="8668512" y="2596896"/>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€541k</a:t>
            </a:r>
            <a:endParaRPr lang="en-US" sz="1700" dirty="0"/>
          </a:p>
        </p:txBody>
      </p:sp>
      <p:sp>
        <p:nvSpPr>
          <p:cNvPr id="17" name="Text 15"/>
          <p:cNvSpPr txBox="1"/>
          <p:nvPr/>
        </p:nvSpPr>
        <p:spPr>
          <a:xfrm>
            <a:off x="10222992" y="2596896"/>
            <a:ext cx="12344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Y5</a:t>
            </a:r>
            <a:endParaRPr lang="en-US" sz="1700" dirty="0"/>
          </a:p>
        </p:txBody>
      </p:sp>
      <p:sp>
        <p:nvSpPr>
          <p:cNvPr id="18" name="Shape 16"/>
          <p:cNvSpPr/>
          <p:nvPr/>
        </p:nvSpPr>
        <p:spPr>
          <a:xfrm>
            <a:off x="603504" y="3090672"/>
            <a:ext cx="10984687" cy="512064"/>
          </a:xfrm>
          <a:prstGeom prst="rect">
            <a:avLst/>
          </a:prstGeom>
          <a:solidFill>
            <a:srgbClr val="1F242C"/>
          </a:solidFill>
          <a:ln w="12700">
            <a:solidFill>
              <a:srgbClr val="333333"/>
            </a:solidFill>
            <a:prstDash val="solid"/>
          </a:ln>
        </p:spPr>
      </p:sp>
      <p:sp>
        <p:nvSpPr>
          <p:cNvPr id="19" name="Text 17"/>
          <p:cNvSpPr txBox="1"/>
          <p:nvPr/>
        </p:nvSpPr>
        <p:spPr>
          <a:xfrm>
            <a:off x="713232" y="3163824"/>
            <a:ext cx="164592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Base</a:t>
            </a:r>
            <a:endParaRPr lang="en-US" sz="1700" dirty="0"/>
          </a:p>
        </p:txBody>
      </p:sp>
      <p:sp>
        <p:nvSpPr>
          <p:cNvPr id="20" name="Text 18"/>
          <p:cNvSpPr txBox="1"/>
          <p:nvPr/>
        </p:nvSpPr>
        <p:spPr>
          <a:xfrm>
            <a:off x="2450592" y="3163824"/>
            <a:ext cx="3017520" cy="329184"/>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As modelled</a:t>
            </a:r>
            <a:endParaRPr lang="en-US" sz="1250" dirty="0"/>
          </a:p>
        </p:txBody>
      </p:sp>
      <p:sp>
        <p:nvSpPr>
          <p:cNvPr id="21" name="Text 19"/>
          <p:cNvSpPr txBox="1"/>
          <p:nvPr/>
        </p:nvSpPr>
        <p:spPr>
          <a:xfrm>
            <a:off x="5559552" y="3163824"/>
            <a:ext cx="14630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€3.01M</a:t>
            </a:r>
            <a:endParaRPr lang="en-US" sz="1700" dirty="0"/>
          </a:p>
        </p:txBody>
      </p:sp>
      <p:sp>
        <p:nvSpPr>
          <p:cNvPr id="22" name="Text 20"/>
          <p:cNvSpPr txBox="1"/>
          <p:nvPr/>
        </p:nvSpPr>
        <p:spPr>
          <a:xfrm>
            <a:off x="7114032" y="3163824"/>
            <a:ext cx="14630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€743k</a:t>
            </a:r>
            <a:endParaRPr lang="en-US" sz="1700" dirty="0"/>
          </a:p>
        </p:txBody>
      </p:sp>
      <p:sp>
        <p:nvSpPr>
          <p:cNvPr id="23" name="Text 21"/>
          <p:cNvSpPr txBox="1"/>
          <p:nvPr/>
        </p:nvSpPr>
        <p:spPr>
          <a:xfrm>
            <a:off x="8668512" y="3163824"/>
            <a:ext cx="14630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€414k</a:t>
            </a:r>
            <a:endParaRPr lang="en-US" sz="1700" dirty="0"/>
          </a:p>
        </p:txBody>
      </p:sp>
      <p:sp>
        <p:nvSpPr>
          <p:cNvPr id="24" name="Text 22"/>
          <p:cNvSpPr txBox="1"/>
          <p:nvPr/>
        </p:nvSpPr>
        <p:spPr>
          <a:xfrm>
            <a:off x="10222992" y="3163824"/>
            <a:ext cx="12344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Y4</a:t>
            </a:r>
            <a:endParaRPr lang="en-US" sz="1700" dirty="0"/>
          </a:p>
        </p:txBody>
      </p:sp>
      <p:sp>
        <p:nvSpPr>
          <p:cNvPr id="25" name="Text 23"/>
          <p:cNvSpPr txBox="1"/>
          <p:nvPr/>
        </p:nvSpPr>
        <p:spPr>
          <a:xfrm>
            <a:off x="713232" y="3730752"/>
            <a:ext cx="164592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Optimistic</a:t>
            </a:r>
            <a:endParaRPr lang="en-US" sz="1700" dirty="0"/>
          </a:p>
        </p:txBody>
      </p:sp>
      <p:sp>
        <p:nvSpPr>
          <p:cNvPr id="26" name="Text 24"/>
          <p:cNvSpPr txBox="1"/>
          <p:nvPr/>
        </p:nvSpPr>
        <p:spPr>
          <a:xfrm>
            <a:off x="2450592" y="3730752"/>
            <a:ext cx="3017520" cy="329184"/>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Fans/athlete +25%, monetise +20%</a:t>
            </a:r>
            <a:endParaRPr lang="en-US" sz="1250" dirty="0"/>
          </a:p>
        </p:txBody>
      </p:sp>
      <p:sp>
        <p:nvSpPr>
          <p:cNvPr id="27" name="Text 25"/>
          <p:cNvSpPr txBox="1"/>
          <p:nvPr/>
        </p:nvSpPr>
        <p:spPr>
          <a:xfrm>
            <a:off x="5559552" y="3730752"/>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€3.59M</a:t>
            </a:r>
            <a:endParaRPr lang="en-US" sz="1700" dirty="0"/>
          </a:p>
        </p:txBody>
      </p:sp>
      <p:sp>
        <p:nvSpPr>
          <p:cNvPr id="28" name="Text 26"/>
          <p:cNvSpPr txBox="1"/>
          <p:nvPr/>
        </p:nvSpPr>
        <p:spPr>
          <a:xfrm>
            <a:off x="7114032" y="3730752"/>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€1.04M</a:t>
            </a:r>
            <a:endParaRPr lang="en-US" sz="1700" dirty="0"/>
          </a:p>
        </p:txBody>
      </p:sp>
      <p:sp>
        <p:nvSpPr>
          <p:cNvPr id="29" name="Text 27"/>
          <p:cNvSpPr txBox="1"/>
          <p:nvPr/>
        </p:nvSpPr>
        <p:spPr>
          <a:xfrm>
            <a:off x="8668512" y="3730752"/>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€347k</a:t>
            </a:r>
            <a:endParaRPr lang="en-US" sz="1700" dirty="0"/>
          </a:p>
        </p:txBody>
      </p:sp>
      <p:sp>
        <p:nvSpPr>
          <p:cNvPr id="30" name="Text 28"/>
          <p:cNvSpPr txBox="1"/>
          <p:nvPr/>
        </p:nvSpPr>
        <p:spPr>
          <a:xfrm>
            <a:off x="10222992" y="3730752"/>
            <a:ext cx="12344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Y4</a:t>
            </a:r>
            <a:endParaRPr lang="en-US" sz="1700" dirty="0"/>
          </a:p>
        </p:txBody>
      </p:sp>
      <p:sp>
        <p:nvSpPr>
          <p:cNvPr id="31" name="Text 29"/>
          <p:cNvSpPr txBox="1"/>
          <p:nvPr/>
        </p:nvSpPr>
        <p:spPr>
          <a:xfrm>
            <a:off x="713232" y="4572000"/>
            <a:ext cx="10765231" cy="731520"/>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Even the pessimistic case breaks even, one year later and on €541k instead of €414k. The downside here is a slower, smaller company rather than a failed one, and that is the property the staged raise is designed to protect.</a:t>
            </a:r>
            <a:endParaRPr lang="en-US" sz="1400" dirty="0"/>
          </a:p>
        </p:txBody>
      </p:sp>
      <p:sp>
        <p:nvSpPr>
          <p:cNvPr id="32" name="Text 30"/>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scenario table.</a:t>
            </a:r>
            <a:endParaRPr lang="en-US" sz="950" dirty="0"/>
          </a:p>
        </p:txBody>
      </p:sp>
      <p:sp>
        <p:nvSpPr>
          <p:cNvPr id="33"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RISK</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Eleven risks scored, and one of them is the thesis</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Probability × impact, both on a 1 to 5 scale. Nothing is rated more likely than 3.</a:t>
            </a:r>
            <a:endParaRPr lang="en-US" sz="1400" dirty="0"/>
          </a:p>
        </p:txBody>
      </p:sp>
      <p:sp>
        <p:nvSpPr>
          <p:cNvPr id="5" name="Shape 3"/>
          <p:cNvSpPr/>
          <p:nvPr/>
        </p:nvSpPr>
        <p:spPr>
          <a:xfrm>
            <a:off x="713232" y="2194560"/>
            <a:ext cx="10765231" cy="896112"/>
          </a:xfrm>
          <a:prstGeom prst="roundRect">
            <a:avLst>
              <a:gd name="adj" fmla="val 4082"/>
            </a:avLst>
          </a:prstGeom>
          <a:solidFill>
            <a:srgbClr val="171A20"/>
          </a:solidFill>
          <a:ln w="9525">
            <a:solidFill>
              <a:srgbClr val="262C35"/>
            </a:solidFill>
            <a:prstDash val="solid"/>
          </a:ln>
        </p:spPr>
      </p:sp>
      <p:sp>
        <p:nvSpPr>
          <p:cNvPr id="6" name="Text 4"/>
          <p:cNvSpPr txBox="1"/>
          <p:nvPr/>
        </p:nvSpPr>
        <p:spPr>
          <a:xfrm>
            <a:off x="969264" y="2432304"/>
            <a:ext cx="548640" cy="365760"/>
          </a:xfrm>
          <a:prstGeom prst="rect">
            <a:avLst/>
          </a:prstGeom>
          <a:noFill/>
          <a:ln/>
        </p:spPr>
        <p:txBody>
          <a:bodyPr wrap="square" lIns="0" tIns="0" rIns="0" bIns="0" rtlCol="0" anchor="t"/>
          <a:lstStyle/>
          <a:p>
            <a:pPr marL="0" indent="0">
              <a:buNone/>
            </a:pPr>
            <a:r>
              <a:rPr lang="en-US" sz="2400" dirty="0">
                <a:solidFill>
                  <a:srgbClr val="F2555A"/>
                </a:solidFill>
                <a:latin typeface="Barlow Condensed" pitchFamily="34" charset="0"/>
                <a:ea typeface="Barlow Condensed" pitchFamily="34" charset="-122"/>
                <a:cs typeface="Barlow Condensed" pitchFamily="34" charset="-120"/>
              </a:rPr>
              <a:t>R1</a:t>
            </a:r>
            <a:endParaRPr lang="en-US" sz="2400" dirty="0"/>
          </a:p>
        </p:txBody>
      </p:sp>
      <p:sp>
        <p:nvSpPr>
          <p:cNvPr id="7" name="Text 5"/>
          <p:cNvSpPr txBox="1"/>
          <p:nvPr/>
        </p:nvSpPr>
        <p:spPr>
          <a:xfrm>
            <a:off x="1627632" y="2350008"/>
            <a:ext cx="3749040" cy="548640"/>
          </a:xfrm>
          <a:prstGeom prst="rect">
            <a:avLst/>
          </a:prstGeom>
          <a:noFill/>
          <a:ln/>
        </p:spPr>
        <p:txBody>
          <a:bodyPr wrap="square" lIns="0" tIns="0" rIns="0" bIns="0" rtlCol="0" anchor="t"/>
          <a:lstStyle/>
          <a:p>
            <a:pPr marL="0" indent="0">
              <a:lnSpc>
                <a:spcPts val="1800"/>
              </a:lnSpc>
              <a:buNone/>
            </a:pPr>
            <a:r>
              <a:rPr lang="en-US" sz="1400" dirty="0">
                <a:solidFill>
                  <a:srgbClr val="F2F4F7"/>
                </a:solidFill>
                <a:latin typeface="Barlow" pitchFamily="34" charset="0"/>
                <a:ea typeface="Barlow" pitchFamily="34" charset="-122"/>
                <a:cs typeface="Barlow" pitchFamily="34" charset="-120"/>
              </a:rPr>
              <a:t>Fans do not pay for niche-athlete content</a:t>
            </a:r>
            <a:endParaRPr lang="en-US" sz="1400" dirty="0"/>
          </a:p>
        </p:txBody>
      </p:sp>
      <p:sp>
        <p:nvSpPr>
          <p:cNvPr id="8" name="Text 6"/>
          <p:cNvSpPr txBox="1"/>
          <p:nvPr/>
        </p:nvSpPr>
        <p:spPr>
          <a:xfrm>
            <a:off x="5468112" y="2468880"/>
            <a:ext cx="1371600" cy="274320"/>
          </a:xfrm>
          <a:prstGeom prst="rect">
            <a:avLst/>
          </a:prstGeom>
          <a:noFill/>
          <a:ln/>
        </p:spPr>
        <p:txBody>
          <a:bodyPr wrap="square" lIns="0" tIns="0" rIns="0" bIns="0" rtlCol="0" anchor="t"/>
          <a:lstStyle/>
          <a:p>
            <a:pPr marL="0" indent="0">
              <a:buNone/>
            </a:pPr>
            <a:r>
              <a:rPr lang="en-US" sz="1600" dirty="0">
                <a:solidFill>
                  <a:srgbClr val="F2555A"/>
                </a:solidFill>
                <a:latin typeface="Barlow Condensed" pitchFamily="34" charset="0"/>
                <a:ea typeface="Barlow Condensed" pitchFamily="34" charset="-122"/>
                <a:cs typeface="Barlow Condensed" pitchFamily="34" charset="-120"/>
              </a:rPr>
              <a:t>3 × 5 = 15</a:t>
            </a:r>
            <a:endParaRPr lang="en-US" sz="1600" dirty="0"/>
          </a:p>
        </p:txBody>
      </p:sp>
      <p:sp>
        <p:nvSpPr>
          <p:cNvPr id="9" name="Text 7"/>
          <p:cNvSpPr txBox="1"/>
          <p:nvPr/>
        </p:nvSpPr>
        <p:spPr>
          <a:xfrm>
            <a:off x="7022592" y="2377440"/>
            <a:ext cx="4181551" cy="566928"/>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Three months of real revenue from one anchor athlete, before the second tranche</a:t>
            </a:r>
            <a:endParaRPr lang="en-US" sz="1200" dirty="0"/>
          </a:p>
        </p:txBody>
      </p:sp>
      <p:sp>
        <p:nvSpPr>
          <p:cNvPr id="10" name="Shape 8"/>
          <p:cNvSpPr/>
          <p:nvPr/>
        </p:nvSpPr>
        <p:spPr>
          <a:xfrm>
            <a:off x="713232" y="3218688"/>
            <a:ext cx="10765231" cy="896112"/>
          </a:xfrm>
          <a:prstGeom prst="roundRect">
            <a:avLst>
              <a:gd name="adj" fmla="val 4082"/>
            </a:avLst>
          </a:prstGeom>
          <a:solidFill>
            <a:srgbClr val="171A20"/>
          </a:solidFill>
          <a:ln w="9525">
            <a:solidFill>
              <a:srgbClr val="262C35"/>
            </a:solidFill>
            <a:prstDash val="solid"/>
          </a:ln>
        </p:spPr>
      </p:sp>
      <p:sp>
        <p:nvSpPr>
          <p:cNvPr id="11" name="Text 9"/>
          <p:cNvSpPr txBox="1"/>
          <p:nvPr/>
        </p:nvSpPr>
        <p:spPr>
          <a:xfrm>
            <a:off x="969264" y="3456432"/>
            <a:ext cx="548640" cy="365760"/>
          </a:xfrm>
          <a:prstGeom prst="rect">
            <a:avLst/>
          </a:prstGeom>
          <a:noFill/>
          <a:ln/>
        </p:spPr>
        <p:txBody>
          <a:bodyPr wrap="square" lIns="0" tIns="0" rIns="0" bIns="0" rtlCol="0" anchor="t"/>
          <a:lstStyle/>
          <a:p>
            <a:pPr marL="0" indent="0">
              <a:buNone/>
            </a:pPr>
            <a:r>
              <a:rPr lang="en-US" sz="2400" dirty="0">
                <a:solidFill>
                  <a:srgbClr val="FF8A3D"/>
                </a:solidFill>
                <a:latin typeface="Barlow Condensed" pitchFamily="34" charset="0"/>
                <a:ea typeface="Barlow Condensed" pitchFamily="34" charset="-122"/>
                <a:cs typeface="Barlow Condensed" pitchFamily="34" charset="-120"/>
              </a:rPr>
              <a:t>R4</a:t>
            </a:r>
            <a:endParaRPr lang="en-US" sz="2400" dirty="0"/>
          </a:p>
        </p:txBody>
      </p:sp>
      <p:sp>
        <p:nvSpPr>
          <p:cNvPr id="12" name="Text 10"/>
          <p:cNvSpPr txBox="1"/>
          <p:nvPr/>
        </p:nvSpPr>
        <p:spPr>
          <a:xfrm>
            <a:off x="1627632" y="3374136"/>
            <a:ext cx="3749040" cy="548640"/>
          </a:xfrm>
          <a:prstGeom prst="rect">
            <a:avLst/>
          </a:prstGeom>
          <a:noFill/>
          <a:ln/>
        </p:spPr>
        <p:txBody>
          <a:bodyPr wrap="square" lIns="0" tIns="0" rIns="0" bIns="0" rtlCol="0" anchor="t"/>
          <a:lstStyle/>
          <a:p>
            <a:pPr marL="0" indent="0">
              <a:lnSpc>
                <a:spcPts val="1800"/>
              </a:lnSpc>
              <a:buNone/>
            </a:pPr>
            <a:r>
              <a:rPr lang="en-US" sz="1400" dirty="0">
                <a:solidFill>
                  <a:srgbClr val="F2F4F7"/>
                </a:solidFill>
                <a:latin typeface="Barlow" pitchFamily="34" charset="0"/>
                <a:ea typeface="Barlow" pitchFamily="34" charset="-122"/>
                <a:cs typeface="Barlow" pitchFamily="34" charset="-120"/>
              </a:rPr>
              <a:t>A funded entrant copies the model</a:t>
            </a:r>
            <a:endParaRPr lang="en-US" sz="1400" dirty="0"/>
          </a:p>
        </p:txBody>
      </p:sp>
      <p:sp>
        <p:nvSpPr>
          <p:cNvPr id="13" name="Text 11"/>
          <p:cNvSpPr txBox="1"/>
          <p:nvPr/>
        </p:nvSpPr>
        <p:spPr>
          <a:xfrm>
            <a:off x="5468112" y="3493008"/>
            <a:ext cx="1371600" cy="274320"/>
          </a:xfrm>
          <a:prstGeom prst="rect">
            <a:avLst/>
          </a:prstGeom>
          <a:noFill/>
          <a:ln/>
        </p:spPr>
        <p:txBody>
          <a:bodyPr wrap="square" lIns="0" tIns="0" rIns="0" bIns="0" rtlCol="0" anchor="t"/>
          <a:lstStyle/>
          <a:p>
            <a:pPr marL="0" indent="0">
              <a:buNone/>
            </a:pPr>
            <a:r>
              <a:rPr lang="en-US" sz="1600" dirty="0">
                <a:solidFill>
                  <a:srgbClr val="FF8A3D"/>
                </a:solidFill>
                <a:latin typeface="Barlow Condensed" pitchFamily="34" charset="0"/>
                <a:ea typeface="Barlow Condensed" pitchFamily="34" charset="-122"/>
                <a:cs typeface="Barlow Condensed" pitchFamily="34" charset="-120"/>
              </a:rPr>
              <a:t>3 × 4 = 12</a:t>
            </a:r>
            <a:endParaRPr lang="en-US" sz="1600" dirty="0"/>
          </a:p>
        </p:txBody>
      </p:sp>
      <p:sp>
        <p:nvSpPr>
          <p:cNvPr id="14" name="Text 12"/>
          <p:cNvSpPr txBox="1"/>
          <p:nvPr/>
        </p:nvSpPr>
        <p:spPr>
          <a:xfrm>
            <a:off x="7022592" y="3401568"/>
            <a:ext cx="4181551" cy="566928"/>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The defence is scoring history and athlete relationships, which take time nobody can buy</a:t>
            </a:r>
            <a:endParaRPr lang="en-US" sz="1200" dirty="0"/>
          </a:p>
        </p:txBody>
      </p:sp>
      <p:sp>
        <p:nvSpPr>
          <p:cNvPr id="15" name="Shape 13"/>
          <p:cNvSpPr/>
          <p:nvPr/>
        </p:nvSpPr>
        <p:spPr>
          <a:xfrm>
            <a:off x="713232" y="4242816"/>
            <a:ext cx="10765231" cy="896112"/>
          </a:xfrm>
          <a:prstGeom prst="roundRect">
            <a:avLst>
              <a:gd name="adj" fmla="val 4082"/>
            </a:avLst>
          </a:prstGeom>
          <a:solidFill>
            <a:srgbClr val="171A20"/>
          </a:solidFill>
          <a:ln w="9525">
            <a:solidFill>
              <a:srgbClr val="262C35"/>
            </a:solidFill>
            <a:prstDash val="solid"/>
          </a:ln>
        </p:spPr>
      </p:sp>
      <p:sp>
        <p:nvSpPr>
          <p:cNvPr id="16" name="Text 14"/>
          <p:cNvSpPr txBox="1"/>
          <p:nvPr/>
        </p:nvSpPr>
        <p:spPr>
          <a:xfrm>
            <a:off x="969264" y="4480560"/>
            <a:ext cx="548640" cy="365760"/>
          </a:xfrm>
          <a:prstGeom prst="rect">
            <a:avLst/>
          </a:prstGeom>
          <a:noFill/>
          <a:ln/>
        </p:spPr>
        <p:txBody>
          <a:bodyPr wrap="square" lIns="0" tIns="0" rIns="0" bIns="0" rtlCol="0" anchor="t"/>
          <a:lstStyle/>
          <a:p>
            <a:pPr marL="0" indent="0">
              <a:buNone/>
            </a:pPr>
            <a:r>
              <a:rPr lang="en-US" sz="2400" dirty="0">
                <a:solidFill>
                  <a:srgbClr val="FF8A3D"/>
                </a:solidFill>
                <a:latin typeface="Barlow Condensed" pitchFamily="34" charset="0"/>
                <a:ea typeface="Barlow Condensed" pitchFamily="34" charset="-122"/>
                <a:cs typeface="Barlow Condensed" pitchFamily="34" charset="-120"/>
              </a:rPr>
              <a:t>R5</a:t>
            </a:r>
            <a:endParaRPr lang="en-US" sz="2400" dirty="0"/>
          </a:p>
        </p:txBody>
      </p:sp>
      <p:sp>
        <p:nvSpPr>
          <p:cNvPr id="17" name="Text 15"/>
          <p:cNvSpPr txBox="1"/>
          <p:nvPr/>
        </p:nvSpPr>
        <p:spPr>
          <a:xfrm>
            <a:off x="1627632" y="4398264"/>
            <a:ext cx="3749040" cy="548640"/>
          </a:xfrm>
          <a:prstGeom prst="rect">
            <a:avLst/>
          </a:prstGeom>
          <a:noFill/>
          <a:ln/>
        </p:spPr>
        <p:txBody>
          <a:bodyPr wrap="square" lIns="0" tIns="0" rIns="0" bIns="0" rtlCol="0" anchor="t"/>
          <a:lstStyle/>
          <a:p>
            <a:pPr marL="0" indent="0">
              <a:lnSpc>
                <a:spcPts val="1800"/>
              </a:lnSpc>
              <a:buNone/>
            </a:pPr>
            <a:r>
              <a:rPr lang="en-US" sz="1400" dirty="0">
                <a:solidFill>
                  <a:srgbClr val="F2F4F7"/>
                </a:solidFill>
                <a:latin typeface="Barlow" pitchFamily="34" charset="0"/>
                <a:ea typeface="Barlow" pitchFamily="34" charset="-122"/>
                <a:cs typeface="Barlow" pitchFamily="34" charset="-120"/>
              </a:rPr>
              <a:t>Regulatory: DAC7, age assurance, startup law</a:t>
            </a:r>
            <a:endParaRPr lang="en-US" sz="1400" dirty="0"/>
          </a:p>
        </p:txBody>
      </p:sp>
      <p:sp>
        <p:nvSpPr>
          <p:cNvPr id="18" name="Text 16"/>
          <p:cNvSpPr txBox="1"/>
          <p:nvPr/>
        </p:nvSpPr>
        <p:spPr>
          <a:xfrm>
            <a:off x="5468112" y="4517136"/>
            <a:ext cx="1371600" cy="274320"/>
          </a:xfrm>
          <a:prstGeom prst="rect">
            <a:avLst/>
          </a:prstGeom>
          <a:noFill/>
          <a:ln/>
        </p:spPr>
        <p:txBody>
          <a:bodyPr wrap="square" lIns="0" tIns="0" rIns="0" bIns="0" rtlCol="0" anchor="t"/>
          <a:lstStyle/>
          <a:p>
            <a:pPr marL="0" indent="0">
              <a:buNone/>
            </a:pPr>
            <a:r>
              <a:rPr lang="en-US" sz="1600" dirty="0">
                <a:solidFill>
                  <a:srgbClr val="FF8A3D"/>
                </a:solidFill>
                <a:latin typeface="Barlow Condensed" pitchFamily="34" charset="0"/>
                <a:ea typeface="Barlow Condensed" pitchFamily="34" charset="-122"/>
                <a:cs typeface="Barlow Condensed" pitchFamily="34" charset="-120"/>
              </a:rPr>
              <a:t>3 × 4 = 12</a:t>
            </a:r>
            <a:endParaRPr lang="en-US" sz="1600" dirty="0"/>
          </a:p>
        </p:txBody>
      </p:sp>
      <p:sp>
        <p:nvSpPr>
          <p:cNvPr id="19" name="Text 17"/>
          <p:cNvSpPr txBox="1"/>
          <p:nvPr/>
        </p:nvSpPr>
        <p:spPr>
          <a:xfrm>
            <a:off x="7022592" y="4425696"/>
            <a:ext cx="4181551" cy="566928"/>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Compliance built in rather than retrofitted; reporting is a product feature</a:t>
            </a:r>
            <a:endParaRPr lang="en-US" sz="1200" dirty="0"/>
          </a:p>
        </p:txBody>
      </p:sp>
      <p:sp>
        <p:nvSpPr>
          <p:cNvPr id="20" name="Text 18"/>
          <p:cNvSpPr txBox="1"/>
          <p:nvPr/>
        </p:nvSpPr>
        <p:spPr>
          <a:xfrm>
            <a:off x="713232" y="5394960"/>
            <a:ext cx="10765231" cy="457200"/>
          </a:xfrm>
          <a:prstGeom prst="rect">
            <a:avLst/>
          </a:prstGeom>
          <a:noFill/>
          <a:ln/>
        </p:spPr>
        <p:txBody>
          <a:bodyPr wrap="square" lIns="0" tIns="0" rIns="0" bIns="0" rtlCol="0" anchor="t"/>
          <a:lstStyle/>
          <a:p>
            <a:pPr marL="0" indent="0">
              <a:lnSpc>
                <a:spcPts val="2200"/>
              </a:lnSpc>
              <a:buNone/>
            </a:pPr>
            <a:r>
              <a:rPr lang="en-US" sz="1350" dirty="0">
                <a:solidFill>
                  <a:srgbClr val="AEB6C2"/>
                </a:solidFill>
                <a:latin typeface="Barlow" pitchFamily="34" charset="0"/>
                <a:ea typeface="Barlow" pitchFamily="34" charset="-122"/>
                <a:cs typeface="Barlow" pitchFamily="34" charset="-120"/>
              </a:rPr>
              <a:t>A risk map that is evenly scattered has not identified which risk is the real one. R1 is the thesis, and the entire financing structure exists to buy it down cheaply.</a:t>
            </a:r>
            <a:endParaRPr lang="en-US" sz="13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VALUATION</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Where the €1.8M pre-money comes from</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Two methods that disagree, and the disagreement is the honest part.</a:t>
            </a:r>
            <a:endParaRPr lang="en-US" sz="1400" dirty="0"/>
          </a:p>
        </p:txBody>
      </p:sp>
      <p:sp>
        <p:nvSpPr>
          <p:cNvPr id="5" name="Text 3"/>
          <p:cNvSpPr txBox="1"/>
          <p:nvPr/>
        </p:nvSpPr>
        <p:spPr>
          <a:xfrm>
            <a:off x="713232" y="2194560"/>
            <a:ext cx="2926080" cy="219456"/>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DCF ENTERPRISE VALUE</a:t>
            </a:r>
            <a:endParaRPr lang="en-US" sz="1150" dirty="0"/>
          </a:p>
        </p:txBody>
      </p:sp>
      <p:sp>
        <p:nvSpPr>
          <p:cNvPr id="6" name="Text 4"/>
          <p:cNvSpPr txBox="1"/>
          <p:nvPr/>
        </p:nvSpPr>
        <p:spPr>
          <a:xfrm>
            <a:off x="713232" y="2414016"/>
            <a:ext cx="2926080" cy="725214"/>
          </a:xfrm>
          <a:prstGeom prst="rect">
            <a:avLst/>
          </a:prstGeom>
          <a:noFill/>
          <a:ln/>
        </p:spPr>
        <p:txBody>
          <a:bodyPr wrap="square" lIns="0" tIns="0" rIns="0" bIns="0" rtlCol="0" anchor="t"/>
          <a:lstStyle/>
          <a:p>
            <a:pPr marL="0" indent="0">
              <a:lnSpc>
                <a:spcPts val="4508"/>
              </a:lnSpc>
              <a:buNone/>
            </a:pPr>
            <a:r>
              <a:rPr lang="en-US" sz="4600" dirty="0">
                <a:solidFill>
                  <a:srgbClr val="F2F4F7"/>
                </a:solidFill>
                <a:latin typeface="Barlow Condensed" pitchFamily="34" charset="0"/>
                <a:ea typeface="Barlow Condensed" pitchFamily="34" charset="-122"/>
                <a:cs typeface="Barlow Condensed" pitchFamily="34" charset="-120"/>
              </a:rPr>
              <a:t>€1.23M</a:t>
            </a:r>
            <a:endParaRPr lang="en-US" sz="4600" dirty="0"/>
          </a:p>
        </p:txBody>
      </p:sp>
      <p:sp>
        <p:nvSpPr>
          <p:cNvPr id="7" name="Text 5"/>
          <p:cNvSpPr txBox="1"/>
          <p:nvPr/>
        </p:nvSpPr>
        <p:spPr>
          <a:xfrm>
            <a:off x="713232" y="3166662"/>
            <a:ext cx="292608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25% WACC, 3% terminal growth. Below the pre-money, which is normal for a pre-revenue venture.</a:t>
            </a:r>
            <a:endParaRPr lang="en-US" sz="1200" dirty="0"/>
          </a:p>
        </p:txBody>
      </p:sp>
      <p:sp>
        <p:nvSpPr>
          <p:cNvPr id="8" name="Text 6"/>
          <p:cNvSpPr txBox="1"/>
          <p:nvPr/>
        </p:nvSpPr>
        <p:spPr>
          <a:xfrm>
            <a:off x="4645152" y="2194560"/>
            <a:ext cx="2926080" cy="219456"/>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COMPARABLE SET</a:t>
            </a:r>
            <a:endParaRPr lang="en-US" sz="1150" dirty="0"/>
          </a:p>
        </p:txBody>
      </p:sp>
      <p:sp>
        <p:nvSpPr>
          <p:cNvPr id="9" name="Text 7"/>
          <p:cNvSpPr txBox="1"/>
          <p:nvPr/>
        </p:nvSpPr>
        <p:spPr>
          <a:xfrm>
            <a:off x="4645152" y="2414016"/>
            <a:ext cx="2926080" cy="725214"/>
          </a:xfrm>
          <a:prstGeom prst="rect">
            <a:avLst/>
          </a:prstGeom>
          <a:noFill/>
          <a:ln/>
        </p:spPr>
        <p:txBody>
          <a:bodyPr wrap="square" lIns="0" tIns="0" rIns="0" bIns="0" rtlCol="0" anchor="t"/>
          <a:lstStyle/>
          <a:p>
            <a:pPr marL="0" indent="0">
              <a:lnSpc>
                <a:spcPts val="4508"/>
              </a:lnSpc>
              <a:buNone/>
            </a:pPr>
            <a:r>
              <a:rPr lang="en-US" sz="4600" dirty="0">
                <a:solidFill>
                  <a:srgbClr val="FFB020"/>
                </a:solidFill>
                <a:latin typeface="Barlow Condensed" pitchFamily="34" charset="0"/>
                <a:ea typeface="Barlow Condensed" pitchFamily="34" charset="-122"/>
                <a:cs typeface="Barlow Condensed" pitchFamily="34" charset="-120"/>
              </a:rPr>
              <a:t>€1.8M</a:t>
            </a:r>
            <a:endParaRPr lang="en-US" sz="4600" dirty="0"/>
          </a:p>
        </p:txBody>
      </p:sp>
      <p:sp>
        <p:nvSpPr>
          <p:cNvPr id="10" name="Text 8"/>
          <p:cNvSpPr txBox="1"/>
          <p:nvPr/>
        </p:nvSpPr>
        <p:spPr>
          <a:xfrm>
            <a:off x="4645152" y="3166662"/>
            <a:ext cx="292608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Benchmarked against Sponsoo and OpenSponsorship, the two companies running the same model.</a:t>
            </a:r>
            <a:endParaRPr lang="en-US" sz="1200" dirty="0"/>
          </a:p>
        </p:txBody>
      </p:sp>
      <p:sp>
        <p:nvSpPr>
          <p:cNvPr id="11" name="Text 9"/>
          <p:cNvSpPr txBox="1"/>
          <p:nvPr/>
        </p:nvSpPr>
        <p:spPr>
          <a:xfrm>
            <a:off x="8577072" y="2194560"/>
            <a:ext cx="2926080" cy="219456"/>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FOUNDER AND TEAM HOLD</a:t>
            </a:r>
            <a:endParaRPr lang="en-US" sz="1150" dirty="0"/>
          </a:p>
        </p:txBody>
      </p:sp>
      <p:sp>
        <p:nvSpPr>
          <p:cNvPr id="12" name="Text 10"/>
          <p:cNvSpPr txBox="1"/>
          <p:nvPr/>
        </p:nvSpPr>
        <p:spPr>
          <a:xfrm>
            <a:off x="8577072" y="2414016"/>
            <a:ext cx="2926080" cy="725214"/>
          </a:xfrm>
          <a:prstGeom prst="rect">
            <a:avLst/>
          </a:prstGeom>
          <a:noFill/>
          <a:ln/>
        </p:spPr>
        <p:txBody>
          <a:bodyPr wrap="square" lIns="0" tIns="0" rIns="0" bIns="0" rtlCol="0" anchor="t"/>
          <a:lstStyle/>
          <a:p>
            <a:pPr marL="0" indent="0">
              <a:lnSpc>
                <a:spcPts val="4508"/>
              </a:lnSpc>
              <a:buNone/>
            </a:pPr>
            <a:r>
              <a:rPr lang="en-US" sz="4600" dirty="0">
                <a:solidFill>
                  <a:srgbClr val="F2F4F7"/>
                </a:solidFill>
                <a:latin typeface="Barlow Condensed" pitchFamily="34" charset="0"/>
                <a:ea typeface="Barlow Condensed" pitchFamily="34" charset="-122"/>
                <a:cs typeface="Barlow Condensed" pitchFamily="34" charset="-120"/>
              </a:rPr>
              <a:t>65.2%</a:t>
            </a:r>
            <a:endParaRPr lang="en-US" sz="4600" dirty="0"/>
          </a:p>
        </p:txBody>
      </p:sp>
      <p:sp>
        <p:nvSpPr>
          <p:cNvPr id="13" name="Text 11"/>
          <p:cNvSpPr txBox="1"/>
          <p:nvPr/>
        </p:nvSpPr>
        <p:spPr>
          <a:xfrm>
            <a:off x="8577072" y="3166662"/>
            <a:ext cx="292608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After both tranches, the optional growth round and a fully topped 10% ESOP.</a:t>
            </a:r>
            <a:endParaRPr lang="en-US" sz="1200" dirty="0"/>
          </a:p>
        </p:txBody>
      </p:sp>
      <p:sp>
        <p:nvSpPr>
          <p:cNvPr id="14" name="Shape 12"/>
          <p:cNvSpPr/>
          <p:nvPr/>
        </p:nvSpPr>
        <p:spPr>
          <a:xfrm>
            <a:off x="713232" y="4160520"/>
            <a:ext cx="10765231" cy="12802"/>
          </a:xfrm>
          <a:prstGeom prst="rect">
            <a:avLst/>
          </a:prstGeom>
          <a:solidFill>
            <a:srgbClr val="262C35"/>
          </a:solidFill>
          <a:ln w="12700">
            <a:solidFill>
              <a:srgbClr val="333333"/>
            </a:solidFill>
            <a:prstDash val="solid"/>
          </a:ln>
        </p:spPr>
      </p:sp>
      <p:sp>
        <p:nvSpPr>
          <p:cNvPr id="15" name="Text 13"/>
          <p:cNvSpPr txBox="1"/>
          <p:nvPr/>
        </p:nvSpPr>
        <p:spPr>
          <a:xfrm>
            <a:off x="713232"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PRE-SEED</a:t>
            </a:r>
            <a:endParaRPr lang="en-US" sz="1100" dirty="0"/>
          </a:p>
        </p:txBody>
      </p:sp>
      <p:sp>
        <p:nvSpPr>
          <p:cNvPr id="16" name="Text 14"/>
          <p:cNvSpPr txBox="1"/>
          <p:nvPr/>
        </p:nvSpPr>
        <p:spPr>
          <a:xfrm>
            <a:off x="713232"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€150k at €1.8M</a:t>
            </a:r>
            <a:endParaRPr lang="en-US" sz="1250" dirty="0"/>
          </a:p>
        </p:txBody>
      </p:sp>
      <p:sp>
        <p:nvSpPr>
          <p:cNvPr id="17" name="Text 15"/>
          <p:cNvSpPr txBox="1"/>
          <p:nvPr/>
        </p:nvSpPr>
        <p:spPr>
          <a:xfrm>
            <a:off x="713232" y="4846320"/>
            <a:ext cx="2554148" cy="384048"/>
          </a:xfrm>
          <a:prstGeom prst="rect">
            <a:avLst/>
          </a:prstGeom>
          <a:noFill/>
          <a:ln/>
        </p:spPr>
        <p:txBody>
          <a:bodyPr wrap="square" lIns="0" tIns="0" rIns="0" bIns="0" rtlCol="0" anchor="t"/>
          <a:lstStyle/>
          <a:p>
            <a:pPr marL="0" indent="0">
              <a:buNone/>
            </a:pPr>
            <a:r>
              <a:rPr lang="en-US" sz="2400" dirty="0">
                <a:solidFill>
                  <a:srgbClr val="F2F4F7"/>
                </a:solidFill>
                <a:latin typeface="Barlow Condensed" pitchFamily="34" charset="0"/>
                <a:ea typeface="Barlow Condensed" pitchFamily="34" charset="-122"/>
                <a:cs typeface="Barlow Condensed" pitchFamily="34" charset="-120"/>
              </a:rPr>
              <a:t>87.3%</a:t>
            </a:r>
            <a:endParaRPr lang="en-US" sz="2400" dirty="0"/>
          </a:p>
        </p:txBody>
      </p:sp>
      <p:sp>
        <p:nvSpPr>
          <p:cNvPr id="18" name="Text 16"/>
          <p:cNvSpPr txBox="1"/>
          <p:nvPr/>
        </p:nvSpPr>
        <p:spPr>
          <a:xfrm>
            <a:off x="3450260"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EXTENSION</a:t>
            </a:r>
            <a:endParaRPr lang="en-US" sz="1100" dirty="0"/>
          </a:p>
        </p:txBody>
      </p:sp>
      <p:sp>
        <p:nvSpPr>
          <p:cNvPr id="19" name="Text 17"/>
          <p:cNvSpPr txBox="1"/>
          <p:nvPr/>
        </p:nvSpPr>
        <p:spPr>
          <a:xfrm>
            <a:off x="3450260"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€250k at €3.5M</a:t>
            </a:r>
            <a:endParaRPr lang="en-US" sz="1250" dirty="0"/>
          </a:p>
        </p:txBody>
      </p:sp>
      <p:sp>
        <p:nvSpPr>
          <p:cNvPr id="20" name="Text 18"/>
          <p:cNvSpPr txBox="1"/>
          <p:nvPr/>
        </p:nvSpPr>
        <p:spPr>
          <a:xfrm>
            <a:off x="3450260" y="4846320"/>
            <a:ext cx="2554148" cy="384048"/>
          </a:xfrm>
          <a:prstGeom prst="rect">
            <a:avLst/>
          </a:prstGeom>
          <a:noFill/>
          <a:ln/>
        </p:spPr>
        <p:txBody>
          <a:bodyPr wrap="square" lIns="0" tIns="0" rIns="0" bIns="0" rtlCol="0" anchor="t"/>
          <a:lstStyle/>
          <a:p>
            <a:pPr marL="0" indent="0">
              <a:buNone/>
            </a:pPr>
            <a:r>
              <a:rPr lang="en-US" sz="2400" dirty="0">
                <a:solidFill>
                  <a:srgbClr val="F2F4F7"/>
                </a:solidFill>
                <a:latin typeface="Barlow Condensed" pitchFamily="34" charset="0"/>
                <a:ea typeface="Barlow Condensed" pitchFamily="34" charset="-122"/>
                <a:cs typeface="Barlow Condensed" pitchFamily="34" charset="-120"/>
              </a:rPr>
              <a:t>81.5%</a:t>
            </a:r>
            <a:endParaRPr lang="en-US" sz="2400" dirty="0"/>
          </a:p>
        </p:txBody>
      </p:sp>
      <p:sp>
        <p:nvSpPr>
          <p:cNvPr id="21" name="Text 19"/>
          <p:cNvSpPr txBox="1"/>
          <p:nvPr/>
        </p:nvSpPr>
        <p:spPr>
          <a:xfrm>
            <a:off x="6187288"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GROWTH, OPTIONAL</a:t>
            </a:r>
            <a:endParaRPr lang="en-US" sz="1100" dirty="0"/>
          </a:p>
        </p:txBody>
      </p:sp>
      <p:sp>
        <p:nvSpPr>
          <p:cNvPr id="22" name="Text 20"/>
          <p:cNvSpPr txBox="1"/>
          <p:nvPr/>
        </p:nvSpPr>
        <p:spPr>
          <a:xfrm>
            <a:off x="6187288"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€1.5M at €12M</a:t>
            </a:r>
            <a:endParaRPr lang="en-US" sz="1250" dirty="0"/>
          </a:p>
        </p:txBody>
      </p:sp>
      <p:sp>
        <p:nvSpPr>
          <p:cNvPr id="23" name="Text 21"/>
          <p:cNvSpPr txBox="1"/>
          <p:nvPr/>
        </p:nvSpPr>
        <p:spPr>
          <a:xfrm>
            <a:off x="6187288" y="4846320"/>
            <a:ext cx="2554148" cy="384048"/>
          </a:xfrm>
          <a:prstGeom prst="rect">
            <a:avLst/>
          </a:prstGeom>
          <a:noFill/>
          <a:ln/>
        </p:spPr>
        <p:txBody>
          <a:bodyPr wrap="square" lIns="0" tIns="0" rIns="0" bIns="0" rtlCol="0" anchor="t"/>
          <a:lstStyle/>
          <a:p>
            <a:pPr marL="0" indent="0">
              <a:buNone/>
            </a:pPr>
            <a:r>
              <a:rPr lang="en-US" sz="2400" dirty="0">
                <a:solidFill>
                  <a:srgbClr val="F2F4F7"/>
                </a:solidFill>
                <a:latin typeface="Barlow Condensed" pitchFamily="34" charset="0"/>
                <a:ea typeface="Barlow Condensed" pitchFamily="34" charset="-122"/>
                <a:cs typeface="Barlow Condensed" pitchFamily="34" charset="-120"/>
              </a:rPr>
              <a:t>72.4%</a:t>
            </a:r>
            <a:endParaRPr lang="en-US" sz="2400" dirty="0"/>
          </a:p>
        </p:txBody>
      </p:sp>
      <p:sp>
        <p:nvSpPr>
          <p:cNvPr id="24" name="Text 22"/>
          <p:cNvSpPr txBox="1"/>
          <p:nvPr/>
        </p:nvSpPr>
        <p:spPr>
          <a:xfrm>
            <a:off x="8924315"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AFTER ESOP</a:t>
            </a:r>
            <a:endParaRPr lang="en-US" sz="1100" dirty="0"/>
          </a:p>
        </p:txBody>
      </p:sp>
      <p:sp>
        <p:nvSpPr>
          <p:cNvPr id="25" name="Text 23"/>
          <p:cNvSpPr txBox="1"/>
          <p:nvPr/>
        </p:nvSpPr>
        <p:spPr>
          <a:xfrm>
            <a:off x="8924315"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10% pool</a:t>
            </a:r>
            <a:endParaRPr lang="en-US" sz="1250" dirty="0"/>
          </a:p>
        </p:txBody>
      </p:sp>
      <p:sp>
        <p:nvSpPr>
          <p:cNvPr id="26" name="Text 24"/>
          <p:cNvSpPr txBox="1"/>
          <p:nvPr/>
        </p:nvSpPr>
        <p:spPr>
          <a:xfrm>
            <a:off x="8924315" y="4846320"/>
            <a:ext cx="2554148" cy="384048"/>
          </a:xfrm>
          <a:prstGeom prst="rect">
            <a:avLst/>
          </a:prstGeom>
          <a:noFill/>
          <a:ln/>
        </p:spPr>
        <p:txBody>
          <a:bodyPr wrap="square" lIns="0" tIns="0" rIns="0" bIns="0" rtlCol="0" anchor="t"/>
          <a:lstStyle/>
          <a:p>
            <a:pPr marL="0" indent="0">
              <a:buNone/>
            </a:pPr>
            <a:r>
              <a:rPr lang="en-US" sz="2400" dirty="0">
                <a:solidFill>
                  <a:srgbClr val="FFB020"/>
                </a:solidFill>
                <a:latin typeface="Barlow Condensed" pitchFamily="34" charset="0"/>
                <a:ea typeface="Barlow Condensed" pitchFamily="34" charset="-122"/>
                <a:cs typeface="Barlow Condensed" pitchFamily="34" charset="-120"/>
              </a:rPr>
              <a:t>65.2%</a:t>
            </a:r>
            <a:endParaRPr lang="en-US" sz="2400" dirty="0"/>
          </a:p>
        </p:txBody>
      </p:sp>
      <p:sp>
        <p:nvSpPr>
          <p:cNvPr id="27" name="Text 25"/>
          <p:cNvSpPr txBox="1"/>
          <p:nvPr/>
        </p:nvSpPr>
        <p:spPr>
          <a:xfrm>
            <a:off x="713232" y="5285232"/>
            <a:ext cx="5486400" cy="27432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Founder stake retained through each round</a:t>
            </a:r>
            <a:endParaRPr lang="en-US" sz="1150" dirty="0"/>
          </a:p>
        </p:txBody>
      </p:sp>
      <p:sp>
        <p:nvSpPr>
          <p:cNvPr id="28" name="Text 2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DCF, comparable transactions from PitchBook, and the dilution waterfall.</a:t>
            </a:r>
            <a:endParaRPr lang="en-US" sz="950" dirty="0"/>
          </a:p>
        </p:txBody>
      </p:sp>
      <p:sp>
        <p:nvSpPr>
          <p:cNvPr id="29"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THE GATE</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What the admission gate actually costs to run</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The one human step in the chain, priced from the policy itself rather than assumed.</a:t>
            </a:r>
            <a:endParaRPr lang="en-US" sz="1400" dirty="0"/>
          </a:p>
        </p:txBody>
      </p:sp>
      <p:sp>
        <p:nvSpPr>
          <p:cNvPr id="5" name="Shape 3"/>
          <p:cNvSpPr/>
          <p:nvPr/>
        </p:nvSpPr>
        <p:spPr>
          <a:xfrm>
            <a:off x="713232" y="2194560"/>
            <a:ext cx="2519858" cy="2286000"/>
          </a:xfrm>
          <a:prstGeom prst="roundRect">
            <a:avLst>
              <a:gd name="adj" fmla="val 1600"/>
            </a:avLst>
          </a:prstGeom>
          <a:solidFill>
            <a:srgbClr val="171A20"/>
          </a:solidFill>
          <a:ln w="9525">
            <a:solidFill>
              <a:srgbClr val="262C35"/>
            </a:solidFill>
            <a:prstDash val="solid"/>
          </a:ln>
        </p:spPr>
      </p:sp>
      <p:sp>
        <p:nvSpPr>
          <p:cNvPr id="6" name="Text 4"/>
          <p:cNvSpPr txBox="1"/>
          <p:nvPr/>
        </p:nvSpPr>
        <p:spPr>
          <a:xfrm>
            <a:off x="950976"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30.5%</a:t>
            </a:r>
            <a:endParaRPr lang="en-US" sz="3400" dirty="0"/>
          </a:p>
        </p:txBody>
      </p:sp>
      <p:sp>
        <p:nvSpPr>
          <p:cNvPr id="7" name="Text 5"/>
          <p:cNvSpPr txBox="1"/>
          <p:nvPr/>
        </p:nvSpPr>
        <p:spPr>
          <a:xfrm>
            <a:off x="950976"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ADMISSION RATE BY Y7</a:t>
            </a:r>
            <a:endParaRPr lang="en-US" sz="1200" dirty="0"/>
          </a:p>
        </p:txBody>
      </p:sp>
      <p:sp>
        <p:nvSpPr>
          <p:cNvPr id="8" name="Text 6"/>
          <p:cNvSpPr txBox="1"/>
          <p:nvPr/>
        </p:nvSpPr>
        <p:spPr>
          <a:xfrm>
            <a:off x="950976"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rising from 20% in Y1 as the funnel improves, which makes it a filter rather than a formality</a:t>
            </a:r>
            <a:endParaRPr lang="en-US" sz="1150" dirty="0"/>
          </a:p>
        </p:txBody>
      </p:sp>
      <p:sp>
        <p:nvSpPr>
          <p:cNvPr id="9" name="Shape 7"/>
          <p:cNvSpPr/>
          <p:nvPr/>
        </p:nvSpPr>
        <p:spPr>
          <a:xfrm>
            <a:off x="3461690" y="2194560"/>
            <a:ext cx="2519858" cy="2286000"/>
          </a:xfrm>
          <a:prstGeom prst="roundRect">
            <a:avLst>
              <a:gd name="adj" fmla="val 1600"/>
            </a:avLst>
          </a:prstGeom>
          <a:solidFill>
            <a:srgbClr val="171A20"/>
          </a:solidFill>
          <a:ln w="9525">
            <a:solidFill>
              <a:srgbClr val="262C35"/>
            </a:solidFill>
            <a:prstDash val="solid"/>
          </a:ln>
        </p:spPr>
      </p:sp>
      <p:sp>
        <p:nvSpPr>
          <p:cNvPr id="10" name="Text 8"/>
          <p:cNvSpPr txBox="1"/>
          <p:nvPr/>
        </p:nvSpPr>
        <p:spPr>
          <a:xfrm>
            <a:off x="3699434"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4 min</a:t>
            </a:r>
            <a:endParaRPr lang="en-US" sz="3400" dirty="0"/>
          </a:p>
        </p:txBody>
      </p:sp>
      <p:sp>
        <p:nvSpPr>
          <p:cNvPr id="11" name="Text 9"/>
          <p:cNvSpPr txBox="1"/>
          <p:nvPr/>
        </p:nvSpPr>
        <p:spPr>
          <a:xfrm>
            <a:off x="3699434"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MEDIAN MANUAL REVIEW</a:t>
            </a:r>
            <a:endParaRPr lang="en-US" sz="1200" dirty="0"/>
          </a:p>
        </p:txBody>
      </p:sp>
      <p:sp>
        <p:nvSpPr>
          <p:cNvPr id="12" name="Text 10"/>
          <p:cNvSpPr txBox="1"/>
          <p:nvPr/>
        </p:nvSpPr>
        <p:spPr>
          <a:xfrm>
            <a:off x="3699434"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priced at the same loaded salary the people line uses</a:t>
            </a:r>
            <a:endParaRPr lang="en-US" sz="1150" dirty="0"/>
          </a:p>
        </p:txBody>
      </p:sp>
      <p:sp>
        <p:nvSpPr>
          <p:cNvPr id="13" name="Shape 11"/>
          <p:cNvSpPr/>
          <p:nvPr/>
        </p:nvSpPr>
        <p:spPr>
          <a:xfrm>
            <a:off x="6210148" y="2194560"/>
            <a:ext cx="2519858" cy="2286000"/>
          </a:xfrm>
          <a:prstGeom prst="roundRect">
            <a:avLst>
              <a:gd name="adj" fmla="val 1600"/>
            </a:avLst>
          </a:prstGeom>
          <a:solidFill>
            <a:srgbClr val="171A20"/>
          </a:solidFill>
          <a:ln w="9525">
            <a:solidFill>
              <a:srgbClr val="262C35"/>
            </a:solidFill>
            <a:prstDash val="solid"/>
          </a:ln>
        </p:spPr>
      </p:sp>
      <p:sp>
        <p:nvSpPr>
          <p:cNvPr id="14" name="Text 12"/>
          <p:cNvSpPr txBox="1"/>
          <p:nvPr/>
        </p:nvSpPr>
        <p:spPr>
          <a:xfrm>
            <a:off x="6447892"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0.64 FTE</a:t>
            </a:r>
            <a:endParaRPr lang="en-US" sz="3400" dirty="0"/>
          </a:p>
        </p:txBody>
      </p:sp>
      <p:sp>
        <p:nvSpPr>
          <p:cNvPr id="15" name="Text 13"/>
          <p:cNvSpPr txBox="1"/>
          <p:nvPr/>
        </p:nvSpPr>
        <p:spPr>
          <a:xfrm>
            <a:off x="6447892"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REVIEWER LOAD AT Y10</a:t>
            </a:r>
            <a:endParaRPr lang="en-US" sz="1200" dirty="0"/>
          </a:p>
        </p:txBody>
      </p:sp>
      <p:sp>
        <p:nvSpPr>
          <p:cNvPr id="16" name="Text 14"/>
          <p:cNvSpPr txBox="1"/>
          <p:nvPr/>
        </p:nvSpPr>
        <p:spPr>
          <a:xfrm>
            <a:off x="6447892"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at 8,500 athletes. Verification is not a money problem at this scale</a:t>
            </a:r>
            <a:endParaRPr lang="en-US" sz="1150" dirty="0"/>
          </a:p>
        </p:txBody>
      </p:sp>
      <p:sp>
        <p:nvSpPr>
          <p:cNvPr id="17" name="Shape 15"/>
          <p:cNvSpPr/>
          <p:nvPr/>
        </p:nvSpPr>
        <p:spPr>
          <a:xfrm>
            <a:off x="8958605" y="2194560"/>
            <a:ext cx="2519858" cy="2286000"/>
          </a:xfrm>
          <a:prstGeom prst="roundRect">
            <a:avLst>
              <a:gd name="adj" fmla="val 1600"/>
            </a:avLst>
          </a:prstGeom>
          <a:solidFill>
            <a:srgbClr val="171A20"/>
          </a:solidFill>
          <a:ln w="9525">
            <a:solidFill>
              <a:srgbClr val="262C35"/>
            </a:solidFill>
            <a:prstDash val="solid"/>
          </a:ln>
        </p:spPr>
      </p:sp>
      <p:sp>
        <p:nvSpPr>
          <p:cNvPr id="18" name="Text 16"/>
          <p:cNvSpPr txBox="1"/>
          <p:nvPr/>
        </p:nvSpPr>
        <p:spPr>
          <a:xfrm>
            <a:off x="9196349"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&lt; 48 h</a:t>
            </a:r>
            <a:endParaRPr lang="en-US" sz="3400" dirty="0"/>
          </a:p>
        </p:txBody>
      </p:sp>
      <p:sp>
        <p:nvSpPr>
          <p:cNvPr id="19" name="Text 17"/>
          <p:cNvSpPr txBox="1"/>
          <p:nvPr/>
        </p:nvSpPr>
        <p:spPr>
          <a:xfrm>
            <a:off x="9196349"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SERVICE LEVEL</a:t>
            </a:r>
            <a:endParaRPr lang="en-US" sz="1200" dirty="0"/>
          </a:p>
        </p:txBody>
      </p:sp>
      <p:sp>
        <p:nvSpPr>
          <p:cNvPr id="20" name="Text 18"/>
          <p:cNvSpPr txBox="1"/>
          <p:nvPr/>
        </p:nvSpPr>
        <p:spPr>
          <a:xfrm>
            <a:off x="9196349"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the reason to automate is latency, not cost: a queued athlete is not earning</a:t>
            </a:r>
            <a:endParaRPr lang="en-US" sz="1150" dirty="0"/>
          </a:p>
        </p:txBody>
      </p:sp>
      <p:sp>
        <p:nvSpPr>
          <p:cNvPr id="21" name="Text 19"/>
          <p:cNvSpPr txBox="1"/>
          <p:nvPr/>
        </p:nvSpPr>
        <p:spPr>
          <a:xfrm>
            <a:off x="713232" y="4663440"/>
            <a:ext cx="10765231" cy="731520"/>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A club nomination brings a roster of 20 to 40 athletes with the verification problem already solved, and club-nominated applicants are admitted at 45% against 20% direct. That is the channel the growth plan opens at Y3.</a:t>
            </a:r>
            <a:endParaRPr lang="en-US" sz="14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Barlow Condense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arlow"/>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4556</Words>
  <Application>Microsoft Office PowerPoint</Application>
  <PresentationFormat>Widescreen</PresentationFormat>
  <Paragraphs>418</Paragraphs>
  <Slides>23</Slides>
  <Notes>23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Barlow</vt:lpstr>
      <vt:lpstr>Arial</vt:lpstr>
      <vt:lpstr>Barlow Condensed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Stride — athlete monetisation built on analytics</dc:title>
  <dc:subject>ESADE MSc Business Plan, final presentation</dc:subject>
  <dc:creator>Jad Zoghaib</dc:creator>
  <cp:lastModifiedBy>Zoghaib, Jad</cp:lastModifiedBy>
  <cp:revision>2</cp:revision>
  <dcterms:created xsi:type="dcterms:W3CDTF">2026-10-09T18:47:36Z</dcterms:created>
  <dcterms:modified xsi:type="dcterms:W3CDTF">2026-10-09T18:49:06Z</dcterms:modified>
</cp:coreProperties>
</file>